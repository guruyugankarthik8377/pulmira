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423A6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A648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50"/>
              <a:t>Pulmira</a:t>
            </a:r>
            <a:r>
              <a:rPr dirty="0" spc="-55"/>
              <a:t> </a:t>
            </a:r>
            <a:r>
              <a:rPr dirty="0" spc="-85"/>
              <a:t>·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423A6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A648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50"/>
              <a:t>Pulmira</a:t>
            </a:r>
            <a:r>
              <a:rPr dirty="0" spc="-55"/>
              <a:t> </a:t>
            </a:r>
            <a:r>
              <a:rPr dirty="0" spc="-85"/>
              <a:t>·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355" y="-355"/>
            <a:ext cx="4754880" cy="6858000"/>
          </a:xfrm>
          <a:custGeom>
            <a:avLst/>
            <a:gdLst/>
            <a:ahLst/>
            <a:cxnLst/>
            <a:rect l="l" t="t" r="r" b="b"/>
            <a:pathLst>
              <a:path w="4754880" h="6858000">
                <a:moveTo>
                  <a:pt x="4754511" y="0"/>
                </a:moveTo>
                <a:lnTo>
                  <a:pt x="0" y="0"/>
                </a:lnTo>
                <a:lnTo>
                  <a:pt x="0" y="6857631"/>
                </a:lnTo>
                <a:lnTo>
                  <a:pt x="2377440" y="6857631"/>
                </a:lnTo>
                <a:lnTo>
                  <a:pt x="4754511" y="6857631"/>
                </a:lnTo>
                <a:lnTo>
                  <a:pt x="4754511" y="0"/>
                </a:lnTo>
                <a:close/>
              </a:path>
            </a:pathLst>
          </a:custGeom>
          <a:solidFill>
            <a:srgbClr val="423A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-355" y="-355"/>
            <a:ext cx="4754880" cy="6858000"/>
          </a:xfrm>
          <a:custGeom>
            <a:avLst/>
            <a:gdLst/>
            <a:ahLst/>
            <a:cxnLst/>
            <a:rect l="l" t="t" r="r" b="b"/>
            <a:pathLst>
              <a:path w="4754880" h="6858000">
                <a:moveTo>
                  <a:pt x="2377440" y="6857631"/>
                </a:moveTo>
                <a:lnTo>
                  <a:pt x="0" y="6857631"/>
                </a:lnTo>
                <a:lnTo>
                  <a:pt x="0" y="0"/>
                </a:lnTo>
                <a:lnTo>
                  <a:pt x="4754511" y="0"/>
                </a:lnTo>
                <a:lnTo>
                  <a:pt x="4754511" y="6857631"/>
                </a:lnTo>
                <a:lnTo>
                  <a:pt x="2377440" y="6857631"/>
                </a:lnTo>
                <a:close/>
              </a:path>
            </a:pathLst>
          </a:custGeom>
          <a:ln w="12599">
            <a:solidFill>
              <a:srgbClr val="423A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31519" y="1325524"/>
            <a:ext cx="73660" cy="457200"/>
          </a:xfrm>
          <a:custGeom>
            <a:avLst/>
            <a:gdLst/>
            <a:ahLst/>
            <a:cxnLst/>
            <a:rect l="l" t="t" r="r" b="b"/>
            <a:pathLst>
              <a:path w="73659" h="457200">
                <a:moveTo>
                  <a:pt x="42837" y="0"/>
                </a:moveTo>
                <a:lnTo>
                  <a:pt x="36360" y="0"/>
                </a:lnTo>
                <a:lnTo>
                  <a:pt x="36715" y="0"/>
                </a:lnTo>
                <a:lnTo>
                  <a:pt x="30238" y="0"/>
                </a:lnTo>
                <a:lnTo>
                  <a:pt x="23761" y="1435"/>
                </a:lnTo>
                <a:lnTo>
                  <a:pt x="12598" y="7912"/>
                </a:lnTo>
                <a:lnTo>
                  <a:pt x="8280" y="12598"/>
                </a:lnTo>
                <a:lnTo>
                  <a:pt x="1803" y="23761"/>
                </a:lnTo>
                <a:lnTo>
                  <a:pt x="0" y="29870"/>
                </a:lnTo>
                <a:lnTo>
                  <a:pt x="0" y="36360"/>
                </a:lnTo>
                <a:lnTo>
                  <a:pt x="0" y="426961"/>
                </a:lnTo>
                <a:lnTo>
                  <a:pt x="29883" y="457200"/>
                </a:lnTo>
                <a:lnTo>
                  <a:pt x="42837" y="457200"/>
                </a:lnTo>
                <a:lnTo>
                  <a:pt x="73075" y="426961"/>
                </a:lnTo>
                <a:lnTo>
                  <a:pt x="73075" y="30238"/>
                </a:lnTo>
                <a:lnTo>
                  <a:pt x="71285" y="23761"/>
                </a:lnTo>
                <a:lnTo>
                  <a:pt x="64795" y="12598"/>
                </a:lnTo>
                <a:lnTo>
                  <a:pt x="60121" y="8280"/>
                </a:lnTo>
                <a:lnTo>
                  <a:pt x="48958" y="1790"/>
                </a:lnTo>
                <a:lnTo>
                  <a:pt x="42837" y="0"/>
                </a:lnTo>
                <a:close/>
              </a:path>
            </a:pathLst>
          </a:custGeom>
          <a:solidFill>
            <a:srgbClr val="B8A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31519" y="1325524"/>
            <a:ext cx="73660" cy="457200"/>
          </a:xfrm>
          <a:custGeom>
            <a:avLst/>
            <a:gdLst/>
            <a:ahLst/>
            <a:cxnLst/>
            <a:rect l="l" t="t" r="r" b="b"/>
            <a:pathLst>
              <a:path w="73659" h="457200">
                <a:moveTo>
                  <a:pt x="0" y="36360"/>
                </a:moveTo>
                <a:lnTo>
                  <a:pt x="0" y="29870"/>
                </a:lnTo>
                <a:lnTo>
                  <a:pt x="1803" y="23761"/>
                </a:lnTo>
                <a:lnTo>
                  <a:pt x="5041" y="17995"/>
                </a:lnTo>
                <a:lnTo>
                  <a:pt x="8280" y="12598"/>
                </a:lnTo>
                <a:lnTo>
                  <a:pt x="12598" y="7912"/>
                </a:lnTo>
                <a:lnTo>
                  <a:pt x="18364" y="4673"/>
                </a:lnTo>
                <a:lnTo>
                  <a:pt x="23761" y="1435"/>
                </a:lnTo>
                <a:lnTo>
                  <a:pt x="30238" y="0"/>
                </a:lnTo>
                <a:lnTo>
                  <a:pt x="36715" y="0"/>
                </a:lnTo>
                <a:lnTo>
                  <a:pt x="36360" y="0"/>
                </a:lnTo>
                <a:lnTo>
                  <a:pt x="42837" y="0"/>
                </a:lnTo>
                <a:lnTo>
                  <a:pt x="48958" y="1790"/>
                </a:lnTo>
                <a:lnTo>
                  <a:pt x="54724" y="5041"/>
                </a:lnTo>
                <a:lnTo>
                  <a:pt x="60121" y="8280"/>
                </a:lnTo>
                <a:lnTo>
                  <a:pt x="64795" y="12598"/>
                </a:lnTo>
                <a:lnTo>
                  <a:pt x="68033" y="18351"/>
                </a:lnTo>
                <a:lnTo>
                  <a:pt x="71285" y="23761"/>
                </a:lnTo>
                <a:lnTo>
                  <a:pt x="73075" y="30238"/>
                </a:lnTo>
                <a:lnTo>
                  <a:pt x="73075" y="36715"/>
                </a:lnTo>
                <a:lnTo>
                  <a:pt x="73075" y="420471"/>
                </a:lnTo>
                <a:lnTo>
                  <a:pt x="73075" y="426961"/>
                </a:lnTo>
                <a:lnTo>
                  <a:pt x="71285" y="433069"/>
                </a:lnTo>
                <a:lnTo>
                  <a:pt x="68033" y="438835"/>
                </a:lnTo>
                <a:lnTo>
                  <a:pt x="64795" y="444233"/>
                </a:lnTo>
                <a:lnTo>
                  <a:pt x="60477" y="448919"/>
                </a:lnTo>
                <a:lnTo>
                  <a:pt x="54724" y="452158"/>
                </a:lnTo>
                <a:lnTo>
                  <a:pt x="49314" y="455396"/>
                </a:lnTo>
                <a:lnTo>
                  <a:pt x="42837" y="457200"/>
                </a:lnTo>
                <a:lnTo>
                  <a:pt x="36715" y="457200"/>
                </a:lnTo>
                <a:lnTo>
                  <a:pt x="36360" y="457200"/>
                </a:lnTo>
                <a:lnTo>
                  <a:pt x="29883" y="457200"/>
                </a:lnTo>
                <a:lnTo>
                  <a:pt x="23761" y="455396"/>
                </a:lnTo>
                <a:lnTo>
                  <a:pt x="17995" y="452158"/>
                </a:lnTo>
                <a:lnTo>
                  <a:pt x="12598" y="448919"/>
                </a:lnTo>
                <a:lnTo>
                  <a:pt x="7924" y="444601"/>
                </a:lnTo>
                <a:lnTo>
                  <a:pt x="4686" y="438835"/>
                </a:lnTo>
                <a:lnTo>
                  <a:pt x="1435" y="433438"/>
                </a:lnTo>
                <a:lnTo>
                  <a:pt x="0" y="426961"/>
                </a:lnTo>
                <a:lnTo>
                  <a:pt x="0" y="420839"/>
                </a:lnTo>
                <a:lnTo>
                  <a:pt x="0" y="36360"/>
                </a:lnTo>
                <a:close/>
              </a:path>
            </a:pathLst>
          </a:custGeom>
          <a:ln w="12599">
            <a:solidFill>
              <a:srgbClr val="B8A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77684" y="1096924"/>
            <a:ext cx="73660" cy="914400"/>
          </a:xfrm>
          <a:custGeom>
            <a:avLst/>
            <a:gdLst/>
            <a:ahLst/>
            <a:cxnLst/>
            <a:rect l="l" t="t" r="r" b="b"/>
            <a:pathLst>
              <a:path w="73659" h="914400">
                <a:moveTo>
                  <a:pt x="42837" y="0"/>
                </a:moveTo>
                <a:lnTo>
                  <a:pt x="36360" y="0"/>
                </a:lnTo>
                <a:lnTo>
                  <a:pt x="36715" y="0"/>
                </a:lnTo>
                <a:lnTo>
                  <a:pt x="30238" y="0"/>
                </a:lnTo>
                <a:lnTo>
                  <a:pt x="23761" y="1435"/>
                </a:lnTo>
                <a:lnTo>
                  <a:pt x="12598" y="7912"/>
                </a:lnTo>
                <a:lnTo>
                  <a:pt x="8280" y="12598"/>
                </a:lnTo>
                <a:lnTo>
                  <a:pt x="1790" y="23761"/>
                </a:lnTo>
                <a:lnTo>
                  <a:pt x="0" y="29870"/>
                </a:lnTo>
                <a:lnTo>
                  <a:pt x="0" y="36360"/>
                </a:lnTo>
                <a:lnTo>
                  <a:pt x="0" y="884161"/>
                </a:lnTo>
                <a:lnTo>
                  <a:pt x="29870" y="914400"/>
                </a:lnTo>
                <a:lnTo>
                  <a:pt x="42837" y="914400"/>
                </a:lnTo>
                <a:lnTo>
                  <a:pt x="73075" y="884161"/>
                </a:lnTo>
                <a:lnTo>
                  <a:pt x="73075" y="30238"/>
                </a:lnTo>
                <a:lnTo>
                  <a:pt x="71272" y="23761"/>
                </a:lnTo>
                <a:lnTo>
                  <a:pt x="64795" y="12598"/>
                </a:lnTo>
                <a:lnTo>
                  <a:pt x="60121" y="8280"/>
                </a:lnTo>
                <a:lnTo>
                  <a:pt x="48958" y="1790"/>
                </a:lnTo>
                <a:lnTo>
                  <a:pt x="42837" y="0"/>
                </a:lnTo>
                <a:close/>
              </a:path>
            </a:pathLst>
          </a:custGeom>
          <a:solidFill>
            <a:srgbClr val="B8A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77684" y="1096924"/>
            <a:ext cx="73660" cy="914400"/>
          </a:xfrm>
          <a:custGeom>
            <a:avLst/>
            <a:gdLst/>
            <a:ahLst/>
            <a:cxnLst/>
            <a:rect l="l" t="t" r="r" b="b"/>
            <a:pathLst>
              <a:path w="73659" h="914400">
                <a:moveTo>
                  <a:pt x="0" y="36360"/>
                </a:moveTo>
                <a:lnTo>
                  <a:pt x="0" y="29870"/>
                </a:lnTo>
                <a:lnTo>
                  <a:pt x="1790" y="23761"/>
                </a:lnTo>
                <a:lnTo>
                  <a:pt x="5041" y="17995"/>
                </a:lnTo>
                <a:lnTo>
                  <a:pt x="8280" y="12598"/>
                </a:lnTo>
                <a:lnTo>
                  <a:pt x="12598" y="7912"/>
                </a:lnTo>
                <a:lnTo>
                  <a:pt x="18351" y="4673"/>
                </a:lnTo>
                <a:lnTo>
                  <a:pt x="23761" y="1435"/>
                </a:lnTo>
                <a:lnTo>
                  <a:pt x="30238" y="0"/>
                </a:lnTo>
                <a:lnTo>
                  <a:pt x="36715" y="0"/>
                </a:lnTo>
                <a:lnTo>
                  <a:pt x="36360" y="0"/>
                </a:lnTo>
                <a:lnTo>
                  <a:pt x="42837" y="0"/>
                </a:lnTo>
                <a:lnTo>
                  <a:pt x="48958" y="1790"/>
                </a:lnTo>
                <a:lnTo>
                  <a:pt x="54711" y="5041"/>
                </a:lnTo>
                <a:lnTo>
                  <a:pt x="60121" y="8280"/>
                </a:lnTo>
                <a:lnTo>
                  <a:pt x="64795" y="12598"/>
                </a:lnTo>
                <a:lnTo>
                  <a:pt x="68033" y="18351"/>
                </a:lnTo>
                <a:lnTo>
                  <a:pt x="71272" y="23761"/>
                </a:lnTo>
                <a:lnTo>
                  <a:pt x="73075" y="30238"/>
                </a:lnTo>
                <a:lnTo>
                  <a:pt x="73075" y="36715"/>
                </a:lnTo>
                <a:lnTo>
                  <a:pt x="73075" y="877671"/>
                </a:lnTo>
                <a:lnTo>
                  <a:pt x="73075" y="884161"/>
                </a:lnTo>
                <a:lnTo>
                  <a:pt x="71272" y="890269"/>
                </a:lnTo>
                <a:lnTo>
                  <a:pt x="68033" y="896035"/>
                </a:lnTo>
                <a:lnTo>
                  <a:pt x="64795" y="901433"/>
                </a:lnTo>
                <a:lnTo>
                  <a:pt x="60477" y="906119"/>
                </a:lnTo>
                <a:lnTo>
                  <a:pt x="54711" y="909358"/>
                </a:lnTo>
                <a:lnTo>
                  <a:pt x="49314" y="912596"/>
                </a:lnTo>
                <a:lnTo>
                  <a:pt x="42837" y="914400"/>
                </a:lnTo>
                <a:lnTo>
                  <a:pt x="36715" y="914400"/>
                </a:lnTo>
                <a:lnTo>
                  <a:pt x="36360" y="914400"/>
                </a:lnTo>
                <a:lnTo>
                  <a:pt x="29870" y="914400"/>
                </a:lnTo>
                <a:lnTo>
                  <a:pt x="23761" y="912596"/>
                </a:lnTo>
                <a:lnTo>
                  <a:pt x="17995" y="909358"/>
                </a:lnTo>
                <a:lnTo>
                  <a:pt x="12598" y="906119"/>
                </a:lnTo>
                <a:lnTo>
                  <a:pt x="7912" y="901801"/>
                </a:lnTo>
                <a:lnTo>
                  <a:pt x="4673" y="896035"/>
                </a:lnTo>
                <a:lnTo>
                  <a:pt x="1435" y="890638"/>
                </a:lnTo>
                <a:lnTo>
                  <a:pt x="0" y="884161"/>
                </a:lnTo>
                <a:lnTo>
                  <a:pt x="0" y="878039"/>
                </a:lnTo>
                <a:lnTo>
                  <a:pt x="0" y="36360"/>
                </a:lnTo>
                <a:close/>
              </a:path>
            </a:pathLst>
          </a:custGeom>
          <a:ln w="12599">
            <a:solidFill>
              <a:srgbClr val="B8A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24204" y="914044"/>
            <a:ext cx="73660" cy="1280160"/>
          </a:xfrm>
          <a:custGeom>
            <a:avLst/>
            <a:gdLst/>
            <a:ahLst/>
            <a:cxnLst/>
            <a:rect l="l" t="t" r="r" b="b"/>
            <a:pathLst>
              <a:path w="73659" h="1280160">
                <a:moveTo>
                  <a:pt x="42837" y="0"/>
                </a:moveTo>
                <a:lnTo>
                  <a:pt x="30238" y="0"/>
                </a:lnTo>
                <a:lnTo>
                  <a:pt x="23761" y="1435"/>
                </a:lnTo>
                <a:lnTo>
                  <a:pt x="12598" y="7912"/>
                </a:lnTo>
                <a:lnTo>
                  <a:pt x="8280" y="12598"/>
                </a:lnTo>
                <a:lnTo>
                  <a:pt x="1790" y="23761"/>
                </a:lnTo>
                <a:lnTo>
                  <a:pt x="0" y="29870"/>
                </a:lnTo>
                <a:lnTo>
                  <a:pt x="0" y="36360"/>
                </a:lnTo>
                <a:lnTo>
                  <a:pt x="0" y="1249921"/>
                </a:lnTo>
                <a:lnTo>
                  <a:pt x="29870" y="1280160"/>
                </a:lnTo>
                <a:lnTo>
                  <a:pt x="42837" y="1280160"/>
                </a:lnTo>
                <a:lnTo>
                  <a:pt x="73075" y="1249921"/>
                </a:lnTo>
                <a:lnTo>
                  <a:pt x="73075" y="30238"/>
                </a:lnTo>
                <a:lnTo>
                  <a:pt x="71272" y="23761"/>
                </a:lnTo>
                <a:lnTo>
                  <a:pt x="64795" y="12598"/>
                </a:lnTo>
                <a:lnTo>
                  <a:pt x="60121" y="8280"/>
                </a:lnTo>
                <a:lnTo>
                  <a:pt x="48958" y="1790"/>
                </a:lnTo>
                <a:lnTo>
                  <a:pt x="42837" y="0"/>
                </a:lnTo>
                <a:close/>
              </a:path>
            </a:pathLst>
          </a:custGeom>
          <a:solidFill>
            <a:srgbClr val="B8A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24204" y="914044"/>
            <a:ext cx="73660" cy="1280160"/>
          </a:xfrm>
          <a:custGeom>
            <a:avLst/>
            <a:gdLst/>
            <a:ahLst/>
            <a:cxnLst/>
            <a:rect l="l" t="t" r="r" b="b"/>
            <a:pathLst>
              <a:path w="73659" h="1280160">
                <a:moveTo>
                  <a:pt x="0" y="36360"/>
                </a:moveTo>
                <a:lnTo>
                  <a:pt x="0" y="29870"/>
                </a:lnTo>
                <a:lnTo>
                  <a:pt x="1790" y="23761"/>
                </a:lnTo>
                <a:lnTo>
                  <a:pt x="5041" y="17995"/>
                </a:lnTo>
                <a:lnTo>
                  <a:pt x="8280" y="12598"/>
                </a:lnTo>
                <a:lnTo>
                  <a:pt x="12598" y="7912"/>
                </a:lnTo>
                <a:lnTo>
                  <a:pt x="18351" y="4673"/>
                </a:lnTo>
                <a:lnTo>
                  <a:pt x="23761" y="1435"/>
                </a:lnTo>
                <a:lnTo>
                  <a:pt x="30238" y="0"/>
                </a:lnTo>
                <a:lnTo>
                  <a:pt x="36360" y="0"/>
                </a:lnTo>
                <a:lnTo>
                  <a:pt x="42837" y="0"/>
                </a:lnTo>
                <a:lnTo>
                  <a:pt x="48958" y="1790"/>
                </a:lnTo>
                <a:lnTo>
                  <a:pt x="54711" y="5041"/>
                </a:lnTo>
                <a:lnTo>
                  <a:pt x="60121" y="8280"/>
                </a:lnTo>
                <a:lnTo>
                  <a:pt x="64795" y="12598"/>
                </a:lnTo>
                <a:lnTo>
                  <a:pt x="68033" y="18351"/>
                </a:lnTo>
                <a:lnTo>
                  <a:pt x="71272" y="23761"/>
                </a:lnTo>
                <a:lnTo>
                  <a:pt x="73075" y="30238"/>
                </a:lnTo>
                <a:lnTo>
                  <a:pt x="73075" y="36715"/>
                </a:lnTo>
                <a:lnTo>
                  <a:pt x="73075" y="1243431"/>
                </a:lnTo>
                <a:lnTo>
                  <a:pt x="73075" y="1249921"/>
                </a:lnTo>
                <a:lnTo>
                  <a:pt x="71272" y="1256030"/>
                </a:lnTo>
                <a:lnTo>
                  <a:pt x="68033" y="1261795"/>
                </a:lnTo>
                <a:lnTo>
                  <a:pt x="64795" y="1267193"/>
                </a:lnTo>
                <a:lnTo>
                  <a:pt x="60477" y="1271879"/>
                </a:lnTo>
                <a:lnTo>
                  <a:pt x="54711" y="1275118"/>
                </a:lnTo>
                <a:lnTo>
                  <a:pt x="49314" y="1278356"/>
                </a:lnTo>
                <a:lnTo>
                  <a:pt x="42837" y="1280160"/>
                </a:lnTo>
                <a:lnTo>
                  <a:pt x="36360" y="1280160"/>
                </a:lnTo>
                <a:lnTo>
                  <a:pt x="29870" y="1280160"/>
                </a:lnTo>
                <a:lnTo>
                  <a:pt x="23761" y="1278356"/>
                </a:lnTo>
                <a:lnTo>
                  <a:pt x="17995" y="1275118"/>
                </a:lnTo>
                <a:lnTo>
                  <a:pt x="12598" y="1271879"/>
                </a:lnTo>
                <a:lnTo>
                  <a:pt x="7912" y="1267561"/>
                </a:lnTo>
                <a:lnTo>
                  <a:pt x="4673" y="1261795"/>
                </a:lnTo>
                <a:lnTo>
                  <a:pt x="1435" y="1256398"/>
                </a:lnTo>
                <a:lnTo>
                  <a:pt x="0" y="1249921"/>
                </a:lnTo>
                <a:lnTo>
                  <a:pt x="0" y="1243799"/>
                </a:lnTo>
                <a:lnTo>
                  <a:pt x="0" y="36360"/>
                </a:lnTo>
                <a:close/>
              </a:path>
            </a:pathLst>
          </a:custGeom>
          <a:ln w="12599">
            <a:solidFill>
              <a:srgbClr val="B8A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170355" y="1096924"/>
            <a:ext cx="73660" cy="914400"/>
          </a:xfrm>
          <a:custGeom>
            <a:avLst/>
            <a:gdLst/>
            <a:ahLst/>
            <a:cxnLst/>
            <a:rect l="l" t="t" r="r" b="b"/>
            <a:pathLst>
              <a:path w="73659" h="914400">
                <a:moveTo>
                  <a:pt x="42849" y="0"/>
                </a:moveTo>
                <a:lnTo>
                  <a:pt x="36360" y="0"/>
                </a:lnTo>
                <a:lnTo>
                  <a:pt x="36728" y="0"/>
                </a:lnTo>
                <a:lnTo>
                  <a:pt x="30238" y="0"/>
                </a:lnTo>
                <a:lnTo>
                  <a:pt x="23761" y="1435"/>
                </a:lnTo>
                <a:lnTo>
                  <a:pt x="12598" y="7912"/>
                </a:lnTo>
                <a:lnTo>
                  <a:pt x="8280" y="12598"/>
                </a:lnTo>
                <a:lnTo>
                  <a:pt x="1803" y="23761"/>
                </a:lnTo>
                <a:lnTo>
                  <a:pt x="0" y="29870"/>
                </a:lnTo>
                <a:lnTo>
                  <a:pt x="0" y="36360"/>
                </a:lnTo>
                <a:lnTo>
                  <a:pt x="0" y="884161"/>
                </a:lnTo>
                <a:lnTo>
                  <a:pt x="29883" y="914400"/>
                </a:lnTo>
                <a:lnTo>
                  <a:pt x="42849" y="914400"/>
                </a:lnTo>
                <a:lnTo>
                  <a:pt x="73088" y="884161"/>
                </a:lnTo>
                <a:lnTo>
                  <a:pt x="73088" y="30238"/>
                </a:lnTo>
                <a:lnTo>
                  <a:pt x="71285" y="23761"/>
                </a:lnTo>
                <a:lnTo>
                  <a:pt x="64808" y="12598"/>
                </a:lnTo>
                <a:lnTo>
                  <a:pt x="60121" y="8280"/>
                </a:lnTo>
                <a:lnTo>
                  <a:pt x="48958" y="1790"/>
                </a:lnTo>
                <a:lnTo>
                  <a:pt x="42849" y="0"/>
                </a:lnTo>
                <a:close/>
              </a:path>
            </a:pathLst>
          </a:custGeom>
          <a:solidFill>
            <a:srgbClr val="B8A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170355" y="1096924"/>
            <a:ext cx="73660" cy="914400"/>
          </a:xfrm>
          <a:custGeom>
            <a:avLst/>
            <a:gdLst/>
            <a:ahLst/>
            <a:cxnLst/>
            <a:rect l="l" t="t" r="r" b="b"/>
            <a:pathLst>
              <a:path w="73659" h="914400">
                <a:moveTo>
                  <a:pt x="0" y="36360"/>
                </a:moveTo>
                <a:lnTo>
                  <a:pt x="0" y="29870"/>
                </a:lnTo>
                <a:lnTo>
                  <a:pt x="1803" y="23761"/>
                </a:lnTo>
                <a:lnTo>
                  <a:pt x="5041" y="17995"/>
                </a:lnTo>
                <a:lnTo>
                  <a:pt x="8280" y="12598"/>
                </a:lnTo>
                <a:lnTo>
                  <a:pt x="12598" y="7912"/>
                </a:lnTo>
                <a:lnTo>
                  <a:pt x="18364" y="4673"/>
                </a:lnTo>
                <a:lnTo>
                  <a:pt x="23761" y="1435"/>
                </a:lnTo>
                <a:lnTo>
                  <a:pt x="30238" y="0"/>
                </a:lnTo>
                <a:lnTo>
                  <a:pt x="36728" y="0"/>
                </a:lnTo>
                <a:lnTo>
                  <a:pt x="36360" y="0"/>
                </a:lnTo>
                <a:lnTo>
                  <a:pt x="42849" y="0"/>
                </a:lnTo>
                <a:lnTo>
                  <a:pt x="48958" y="1790"/>
                </a:lnTo>
                <a:lnTo>
                  <a:pt x="54724" y="5041"/>
                </a:lnTo>
                <a:lnTo>
                  <a:pt x="60121" y="8280"/>
                </a:lnTo>
                <a:lnTo>
                  <a:pt x="64808" y="12598"/>
                </a:lnTo>
                <a:lnTo>
                  <a:pt x="68046" y="18351"/>
                </a:lnTo>
                <a:lnTo>
                  <a:pt x="71285" y="23761"/>
                </a:lnTo>
                <a:lnTo>
                  <a:pt x="73088" y="30238"/>
                </a:lnTo>
                <a:lnTo>
                  <a:pt x="73088" y="36715"/>
                </a:lnTo>
                <a:lnTo>
                  <a:pt x="73088" y="877671"/>
                </a:lnTo>
                <a:lnTo>
                  <a:pt x="73088" y="884161"/>
                </a:lnTo>
                <a:lnTo>
                  <a:pt x="71285" y="890269"/>
                </a:lnTo>
                <a:lnTo>
                  <a:pt x="68046" y="896035"/>
                </a:lnTo>
                <a:lnTo>
                  <a:pt x="64808" y="901433"/>
                </a:lnTo>
                <a:lnTo>
                  <a:pt x="60490" y="906119"/>
                </a:lnTo>
                <a:lnTo>
                  <a:pt x="54724" y="909358"/>
                </a:lnTo>
                <a:lnTo>
                  <a:pt x="49326" y="912596"/>
                </a:lnTo>
                <a:lnTo>
                  <a:pt x="42849" y="914400"/>
                </a:lnTo>
                <a:lnTo>
                  <a:pt x="36728" y="914400"/>
                </a:lnTo>
                <a:lnTo>
                  <a:pt x="36360" y="914400"/>
                </a:lnTo>
                <a:lnTo>
                  <a:pt x="29883" y="914400"/>
                </a:lnTo>
                <a:lnTo>
                  <a:pt x="23761" y="912596"/>
                </a:lnTo>
                <a:lnTo>
                  <a:pt x="18008" y="909358"/>
                </a:lnTo>
                <a:lnTo>
                  <a:pt x="12598" y="906119"/>
                </a:lnTo>
                <a:lnTo>
                  <a:pt x="7924" y="901801"/>
                </a:lnTo>
                <a:lnTo>
                  <a:pt x="4686" y="896035"/>
                </a:lnTo>
                <a:lnTo>
                  <a:pt x="1447" y="890638"/>
                </a:lnTo>
                <a:lnTo>
                  <a:pt x="0" y="884161"/>
                </a:lnTo>
                <a:lnTo>
                  <a:pt x="0" y="878039"/>
                </a:lnTo>
                <a:lnTo>
                  <a:pt x="0" y="36360"/>
                </a:lnTo>
                <a:close/>
              </a:path>
            </a:pathLst>
          </a:custGeom>
          <a:ln w="12599">
            <a:solidFill>
              <a:srgbClr val="B8A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316875" y="1325524"/>
            <a:ext cx="73660" cy="457200"/>
          </a:xfrm>
          <a:custGeom>
            <a:avLst/>
            <a:gdLst/>
            <a:ahLst/>
            <a:cxnLst/>
            <a:rect l="l" t="t" r="r" b="b"/>
            <a:pathLst>
              <a:path w="73659" h="457200">
                <a:moveTo>
                  <a:pt x="42849" y="0"/>
                </a:moveTo>
                <a:lnTo>
                  <a:pt x="36360" y="0"/>
                </a:lnTo>
                <a:lnTo>
                  <a:pt x="36728" y="0"/>
                </a:lnTo>
                <a:lnTo>
                  <a:pt x="30238" y="0"/>
                </a:lnTo>
                <a:lnTo>
                  <a:pt x="23761" y="1435"/>
                </a:lnTo>
                <a:lnTo>
                  <a:pt x="12598" y="7912"/>
                </a:lnTo>
                <a:lnTo>
                  <a:pt x="8280" y="12598"/>
                </a:lnTo>
                <a:lnTo>
                  <a:pt x="1803" y="23761"/>
                </a:lnTo>
                <a:lnTo>
                  <a:pt x="0" y="29870"/>
                </a:lnTo>
                <a:lnTo>
                  <a:pt x="0" y="36360"/>
                </a:lnTo>
                <a:lnTo>
                  <a:pt x="0" y="426961"/>
                </a:lnTo>
                <a:lnTo>
                  <a:pt x="29883" y="457200"/>
                </a:lnTo>
                <a:lnTo>
                  <a:pt x="42849" y="457200"/>
                </a:lnTo>
                <a:lnTo>
                  <a:pt x="73088" y="426961"/>
                </a:lnTo>
                <a:lnTo>
                  <a:pt x="73088" y="30238"/>
                </a:lnTo>
                <a:lnTo>
                  <a:pt x="71285" y="23761"/>
                </a:lnTo>
                <a:lnTo>
                  <a:pt x="64808" y="12598"/>
                </a:lnTo>
                <a:lnTo>
                  <a:pt x="60121" y="8280"/>
                </a:lnTo>
                <a:lnTo>
                  <a:pt x="48958" y="1790"/>
                </a:lnTo>
                <a:lnTo>
                  <a:pt x="42849" y="0"/>
                </a:lnTo>
                <a:close/>
              </a:path>
            </a:pathLst>
          </a:custGeom>
          <a:solidFill>
            <a:srgbClr val="B8A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316875" y="1325524"/>
            <a:ext cx="73660" cy="457200"/>
          </a:xfrm>
          <a:custGeom>
            <a:avLst/>
            <a:gdLst/>
            <a:ahLst/>
            <a:cxnLst/>
            <a:rect l="l" t="t" r="r" b="b"/>
            <a:pathLst>
              <a:path w="73659" h="457200">
                <a:moveTo>
                  <a:pt x="0" y="36360"/>
                </a:moveTo>
                <a:lnTo>
                  <a:pt x="0" y="29870"/>
                </a:lnTo>
                <a:lnTo>
                  <a:pt x="1803" y="23761"/>
                </a:lnTo>
                <a:lnTo>
                  <a:pt x="5041" y="17995"/>
                </a:lnTo>
                <a:lnTo>
                  <a:pt x="8280" y="12598"/>
                </a:lnTo>
                <a:lnTo>
                  <a:pt x="12598" y="7912"/>
                </a:lnTo>
                <a:lnTo>
                  <a:pt x="18364" y="4673"/>
                </a:lnTo>
                <a:lnTo>
                  <a:pt x="23761" y="1435"/>
                </a:lnTo>
                <a:lnTo>
                  <a:pt x="30238" y="0"/>
                </a:lnTo>
                <a:lnTo>
                  <a:pt x="36728" y="0"/>
                </a:lnTo>
                <a:lnTo>
                  <a:pt x="36360" y="0"/>
                </a:lnTo>
                <a:lnTo>
                  <a:pt x="42849" y="0"/>
                </a:lnTo>
                <a:lnTo>
                  <a:pt x="48958" y="1790"/>
                </a:lnTo>
                <a:lnTo>
                  <a:pt x="54724" y="5041"/>
                </a:lnTo>
                <a:lnTo>
                  <a:pt x="60121" y="8280"/>
                </a:lnTo>
                <a:lnTo>
                  <a:pt x="64808" y="12598"/>
                </a:lnTo>
                <a:lnTo>
                  <a:pt x="68046" y="18351"/>
                </a:lnTo>
                <a:lnTo>
                  <a:pt x="71285" y="23761"/>
                </a:lnTo>
                <a:lnTo>
                  <a:pt x="73088" y="30238"/>
                </a:lnTo>
                <a:lnTo>
                  <a:pt x="73088" y="36715"/>
                </a:lnTo>
                <a:lnTo>
                  <a:pt x="73088" y="420471"/>
                </a:lnTo>
                <a:lnTo>
                  <a:pt x="73088" y="426961"/>
                </a:lnTo>
                <a:lnTo>
                  <a:pt x="71285" y="433069"/>
                </a:lnTo>
                <a:lnTo>
                  <a:pt x="68046" y="438835"/>
                </a:lnTo>
                <a:lnTo>
                  <a:pt x="64808" y="444233"/>
                </a:lnTo>
                <a:lnTo>
                  <a:pt x="60490" y="448919"/>
                </a:lnTo>
                <a:lnTo>
                  <a:pt x="54724" y="452158"/>
                </a:lnTo>
                <a:lnTo>
                  <a:pt x="49326" y="455396"/>
                </a:lnTo>
                <a:lnTo>
                  <a:pt x="42849" y="457200"/>
                </a:lnTo>
                <a:lnTo>
                  <a:pt x="36728" y="457200"/>
                </a:lnTo>
                <a:lnTo>
                  <a:pt x="36360" y="457200"/>
                </a:lnTo>
                <a:lnTo>
                  <a:pt x="29883" y="457200"/>
                </a:lnTo>
                <a:lnTo>
                  <a:pt x="23761" y="455396"/>
                </a:lnTo>
                <a:lnTo>
                  <a:pt x="18008" y="452158"/>
                </a:lnTo>
                <a:lnTo>
                  <a:pt x="12598" y="448919"/>
                </a:lnTo>
                <a:lnTo>
                  <a:pt x="7924" y="444601"/>
                </a:lnTo>
                <a:lnTo>
                  <a:pt x="4686" y="438835"/>
                </a:lnTo>
                <a:lnTo>
                  <a:pt x="1447" y="433438"/>
                </a:lnTo>
                <a:lnTo>
                  <a:pt x="0" y="426961"/>
                </a:lnTo>
                <a:lnTo>
                  <a:pt x="0" y="420839"/>
                </a:lnTo>
                <a:lnTo>
                  <a:pt x="0" y="36360"/>
                </a:lnTo>
                <a:close/>
              </a:path>
            </a:pathLst>
          </a:custGeom>
          <a:ln w="12599">
            <a:solidFill>
              <a:srgbClr val="B8A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423A6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A648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50"/>
              <a:t>Pulmira</a:t>
            </a:r>
            <a:r>
              <a:rPr dirty="0" spc="-55"/>
              <a:t> </a:t>
            </a:r>
            <a:r>
              <a:rPr dirty="0" spc="-85"/>
              <a:t>·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423A6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A648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50"/>
              <a:t>Pulmira</a:t>
            </a:r>
            <a:r>
              <a:rPr dirty="0" spc="-55"/>
              <a:t> </a:t>
            </a:r>
            <a:r>
              <a:rPr dirty="0" spc="-85"/>
              <a:t>·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949084" y="-355"/>
            <a:ext cx="5242560" cy="6858000"/>
          </a:xfrm>
          <a:custGeom>
            <a:avLst/>
            <a:gdLst/>
            <a:ahLst/>
            <a:cxnLst/>
            <a:rect l="l" t="t" r="r" b="b"/>
            <a:pathLst>
              <a:path w="5242559" h="6858000">
                <a:moveTo>
                  <a:pt x="5241950" y="0"/>
                </a:moveTo>
                <a:lnTo>
                  <a:pt x="0" y="0"/>
                </a:lnTo>
                <a:lnTo>
                  <a:pt x="0" y="6857631"/>
                </a:lnTo>
                <a:lnTo>
                  <a:pt x="2621153" y="6857631"/>
                </a:lnTo>
                <a:lnTo>
                  <a:pt x="5241950" y="6857631"/>
                </a:lnTo>
                <a:lnTo>
                  <a:pt x="5241950" y="0"/>
                </a:lnTo>
                <a:close/>
              </a:path>
            </a:pathLst>
          </a:custGeom>
          <a:solidFill>
            <a:srgbClr val="E9E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949084" y="-355"/>
            <a:ext cx="5242560" cy="6858000"/>
          </a:xfrm>
          <a:custGeom>
            <a:avLst/>
            <a:gdLst/>
            <a:ahLst/>
            <a:cxnLst/>
            <a:rect l="l" t="t" r="r" b="b"/>
            <a:pathLst>
              <a:path w="5242559" h="6858000">
                <a:moveTo>
                  <a:pt x="2621153" y="6857631"/>
                </a:moveTo>
                <a:lnTo>
                  <a:pt x="0" y="6857631"/>
                </a:lnTo>
                <a:lnTo>
                  <a:pt x="0" y="0"/>
                </a:lnTo>
                <a:lnTo>
                  <a:pt x="5241950" y="0"/>
                </a:lnTo>
                <a:lnTo>
                  <a:pt x="5241950" y="6857631"/>
                </a:lnTo>
                <a:lnTo>
                  <a:pt x="2621153" y="6857631"/>
                </a:lnTo>
                <a:close/>
              </a:path>
            </a:pathLst>
          </a:custGeom>
          <a:ln w="12599">
            <a:solidFill>
              <a:srgbClr val="E9E5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31520" y="1599844"/>
            <a:ext cx="73660" cy="457200"/>
          </a:xfrm>
          <a:custGeom>
            <a:avLst/>
            <a:gdLst/>
            <a:ahLst/>
            <a:cxnLst/>
            <a:rect l="l" t="t" r="r" b="b"/>
            <a:pathLst>
              <a:path w="73659" h="457200">
                <a:moveTo>
                  <a:pt x="42837" y="0"/>
                </a:moveTo>
                <a:lnTo>
                  <a:pt x="30238" y="0"/>
                </a:lnTo>
                <a:lnTo>
                  <a:pt x="23761" y="1435"/>
                </a:lnTo>
                <a:lnTo>
                  <a:pt x="18364" y="4673"/>
                </a:lnTo>
                <a:lnTo>
                  <a:pt x="12598" y="7912"/>
                </a:lnTo>
                <a:lnTo>
                  <a:pt x="8280" y="12598"/>
                </a:lnTo>
                <a:lnTo>
                  <a:pt x="5041" y="17995"/>
                </a:lnTo>
                <a:lnTo>
                  <a:pt x="1803" y="23761"/>
                </a:lnTo>
                <a:lnTo>
                  <a:pt x="0" y="29870"/>
                </a:lnTo>
                <a:lnTo>
                  <a:pt x="0" y="426961"/>
                </a:lnTo>
                <a:lnTo>
                  <a:pt x="1353" y="433070"/>
                </a:lnTo>
                <a:lnTo>
                  <a:pt x="1435" y="433438"/>
                </a:lnTo>
                <a:lnTo>
                  <a:pt x="4686" y="438835"/>
                </a:lnTo>
                <a:lnTo>
                  <a:pt x="7924" y="444601"/>
                </a:lnTo>
                <a:lnTo>
                  <a:pt x="12598" y="448919"/>
                </a:lnTo>
                <a:lnTo>
                  <a:pt x="17995" y="452158"/>
                </a:lnTo>
                <a:lnTo>
                  <a:pt x="23761" y="455396"/>
                </a:lnTo>
                <a:lnTo>
                  <a:pt x="29883" y="457200"/>
                </a:lnTo>
                <a:lnTo>
                  <a:pt x="36360" y="457200"/>
                </a:lnTo>
                <a:lnTo>
                  <a:pt x="36715" y="456831"/>
                </a:lnTo>
                <a:lnTo>
                  <a:pt x="42837" y="456831"/>
                </a:lnTo>
                <a:lnTo>
                  <a:pt x="49314" y="455396"/>
                </a:lnTo>
                <a:lnTo>
                  <a:pt x="54724" y="452158"/>
                </a:lnTo>
                <a:lnTo>
                  <a:pt x="60477" y="448919"/>
                </a:lnTo>
                <a:lnTo>
                  <a:pt x="64795" y="444233"/>
                </a:lnTo>
                <a:lnTo>
                  <a:pt x="68033" y="438835"/>
                </a:lnTo>
                <a:lnTo>
                  <a:pt x="71285" y="433070"/>
                </a:lnTo>
                <a:lnTo>
                  <a:pt x="73075" y="426961"/>
                </a:lnTo>
                <a:lnTo>
                  <a:pt x="72973" y="29870"/>
                </a:lnTo>
                <a:lnTo>
                  <a:pt x="71285" y="23761"/>
                </a:lnTo>
                <a:lnTo>
                  <a:pt x="68033" y="18351"/>
                </a:lnTo>
                <a:lnTo>
                  <a:pt x="64795" y="12598"/>
                </a:lnTo>
                <a:lnTo>
                  <a:pt x="60121" y="8280"/>
                </a:lnTo>
                <a:lnTo>
                  <a:pt x="54724" y="5041"/>
                </a:lnTo>
                <a:lnTo>
                  <a:pt x="48958" y="1790"/>
                </a:lnTo>
                <a:lnTo>
                  <a:pt x="42837" y="0"/>
                </a:lnTo>
                <a:close/>
              </a:path>
            </a:pathLst>
          </a:custGeom>
          <a:solidFill>
            <a:srgbClr val="7B5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31520" y="1599844"/>
            <a:ext cx="73660" cy="457200"/>
          </a:xfrm>
          <a:custGeom>
            <a:avLst/>
            <a:gdLst/>
            <a:ahLst/>
            <a:cxnLst/>
            <a:rect l="l" t="t" r="r" b="b"/>
            <a:pathLst>
              <a:path w="73659" h="457200">
                <a:moveTo>
                  <a:pt x="0" y="36360"/>
                </a:moveTo>
                <a:lnTo>
                  <a:pt x="0" y="29870"/>
                </a:lnTo>
                <a:lnTo>
                  <a:pt x="1803" y="23761"/>
                </a:lnTo>
                <a:lnTo>
                  <a:pt x="5041" y="17995"/>
                </a:lnTo>
                <a:lnTo>
                  <a:pt x="8280" y="12598"/>
                </a:lnTo>
                <a:lnTo>
                  <a:pt x="12598" y="7912"/>
                </a:lnTo>
                <a:lnTo>
                  <a:pt x="18364" y="4673"/>
                </a:lnTo>
                <a:lnTo>
                  <a:pt x="23761" y="1435"/>
                </a:lnTo>
                <a:lnTo>
                  <a:pt x="30238" y="0"/>
                </a:lnTo>
                <a:lnTo>
                  <a:pt x="36715" y="0"/>
                </a:lnTo>
                <a:lnTo>
                  <a:pt x="36360" y="0"/>
                </a:lnTo>
                <a:lnTo>
                  <a:pt x="42837" y="0"/>
                </a:lnTo>
                <a:lnTo>
                  <a:pt x="48958" y="1790"/>
                </a:lnTo>
                <a:lnTo>
                  <a:pt x="54724" y="5041"/>
                </a:lnTo>
                <a:lnTo>
                  <a:pt x="60121" y="8280"/>
                </a:lnTo>
                <a:lnTo>
                  <a:pt x="64795" y="12598"/>
                </a:lnTo>
                <a:lnTo>
                  <a:pt x="68033" y="18351"/>
                </a:lnTo>
                <a:lnTo>
                  <a:pt x="71285" y="23761"/>
                </a:lnTo>
                <a:lnTo>
                  <a:pt x="73075" y="30238"/>
                </a:lnTo>
                <a:lnTo>
                  <a:pt x="73075" y="36715"/>
                </a:lnTo>
                <a:lnTo>
                  <a:pt x="73075" y="420471"/>
                </a:lnTo>
                <a:lnTo>
                  <a:pt x="73075" y="426961"/>
                </a:lnTo>
                <a:lnTo>
                  <a:pt x="71285" y="433070"/>
                </a:lnTo>
                <a:lnTo>
                  <a:pt x="68033" y="438835"/>
                </a:lnTo>
                <a:lnTo>
                  <a:pt x="64795" y="444233"/>
                </a:lnTo>
                <a:lnTo>
                  <a:pt x="60477" y="448919"/>
                </a:lnTo>
                <a:lnTo>
                  <a:pt x="54724" y="452158"/>
                </a:lnTo>
                <a:lnTo>
                  <a:pt x="49314" y="455396"/>
                </a:lnTo>
                <a:lnTo>
                  <a:pt x="42837" y="456831"/>
                </a:lnTo>
                <a:lnTo>
                  <a:pt x="36715" y="456831"/>
                </a:lnTo>
                <a:lnTo>
                  <a:pt x="36360" y="457200"/>
                </a:lnTo>
                <a:lnTo>
                  <a:pt x="29883" y="457200"/>
                </a:lnTo>
                <a:lnTo>
                  <a:pt x="23761" y="455396"/>
                </a:lnTo>
                <a:lnTo>
                  <a:pt x="17995" y="452158"/>
                </a:lnTo>
                <a:lnTo>
                  <a:pt x="12598" y="448919"/>
                </a:lnTo>
                <a:lnTo>
                  <a:pt x="7924" y="444601"/>
                </a:lnTo>
                <a:lnTo>
                  <a:pt x="4686" y="438835"/>
                </a:lnTo>
                <a:lnTo>
                  <a:pt x="1435" y="433438"/>
                </a:lnTo>
                <a:lnTo>
                  <a:pt x="0" y="426961"/>
                </a:lnTo>
                <a:lnTo>
                  <a:pt x="0" y="420839"/>
                </a:lnTo>
                <a:lnTo>
                  <a:pt x="0" y="36360"/>
                </a:lnTo>
                <a:close/>
              </a:path>
            </a:pathLst>
          </a:custGeom>
          <a:ln w="12599">
            <a:solidFill>
              <a:srgbClr val="7B5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77684" y="1371244"/>
            <a:ext cx="73660" cy="914400"/>
          </a:xfrm>
          <a:custGeom>
            <a:avLst/>
            <a:gdLst/>
            <a:ahLst/>
            <a:cxnLst/>
            <a:rect l="l" t="t" r="r" b="b"/>
            <a:pathLst>
              <a:path w="73659" h="914400">
                <a:moveTo>
                  <a:pt x="42837" y="0"/>
                </a:moveTo>
                <a:lnTo>
                  <a:pt x="30238" y="0"/>
                </a:lnTo>
                <a:lnTo>
                  <a:pt x="23761" y="1435"/>
                </a:lnTo>
                <a:lnTo>
                  <a:pt x="18351" y="4673"/>
                </a:lnTo>
                <a:lnTo>
                  <a:pt x="12598" y="7912"/>
                </a:lnTo>
                <a:lnTo>
                  <a:pt x="8280" y="12598"/>
                </a:lnTo>
                <a:lnTo>
                  <a:pt x="5041" y="17995"/>
                </a:lnTo>
                <a:lnTo>
                  <a:pt x="1790" y="23761"/>
                </a:lnTo>
                <a:lnTo>
                  <a:pt x="0" y="29870"/>
                </a:lnTo>
                <a:lnTo>
                  <a:pt x="0" y="884161"/>
                </a:lnTo>
                <a:lnTo>
                  <a:pt x="1353" y="890270"/>
                </a:lnTo>
                <a:lnTo>
                  <a:pt x="1435" y="890638"/>
                </a:lnTo>
                <a:lnTo>
                  <a:pt x="4673" y="896035"/>
                </a:lnTo>
                <a:lnTo>
                  <a:pt x="7912" y="901801"/>
                </a:lnTo>
                <a:lnTo>
                  <a:pt x="12598" y="906119"/>
                </a:lnTo>
                <a:lnTo>
                  <a:pt x="17995" y="909358"/>
                </a:lnTo>
                <a:lnTo>
                  <a:pt x="23761" y="912596"/>
                </a:lnTo>
                <a:lnTo>
                  <a:pt x="29870" y="914400"/>
                </a:lnTo>
                <a:lnTo>
                  <a:pt x="36360" y="914400"/>
                </a:lnTo>
                <a:lnTo>
                  <a:pt x="36715" y="914031"/>
                </a:lnTo>
                <a:lnTo>
                  <a:pt x="42837" y="914031"/>
                </a:lnTo>
                <a:lnTo>
                  <a:pt x="49314" y="912596"/>
                </a:lnTo>
                <a:lnTo>
                  <a:pt x="54711" y="909358"/>
                </a:lnTo>
                <a:lnTo>
                  <a:pt x="60477" y="906119"/>
                </a:lnTo>
                <a:lnTo>
                  <a:pt x="64795" y="901433"/>
                </a:lnTo>
                <a:lnTo>
                  <a:pt x="68033" y="896035"/>
                </a:lnTo>
                <a:lnTo>
                  <a:pt x="71272" y="890270"/>
                </a:lnTo>
                <a:lnTo>
                  <a:pt x="73075" y="884161"/>
                </a:lnTo>
                <a:lnTo>
                  <a:pt x="72973" y="29870"/>
                </a:lnTo>
                <a:lnTo>
                  <a:pt x="71272" y="23761"/>
                </a:lnTo>
                <a:lnTo>
                  <a:pt x="68033" y="18351"/>
                </a:lnTo>
                <a:lnTo>
                  <a:pt x="64795" y="12598"/>
                </a:lnTo>
                <a:lnTo>
                  <a:pt x="60121" y="8280"/>
                </a:lnTo>
                <a:lnTo>
                  <a:pt x="54711" y="5041"/>
                </a:lnTo>
                <a:lnTo>
                  <a:pt x="48958" y="1790"/>
                </a:lnTo>
                <a:lnTo>
                  <a:pt x="42837" y="0"/>
                </a:lnTo>
                <a:close/>
              </a:path>
            </a:pathLst>
          </a:custGeom>
          <a:solidFill>
            <a:srgbClr val="7B5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77684" y="1371244"/>
            <a:ext cx="73660" cy="914400"/>
          </a:xfrm>
          <a:custGeom>
            <a:avLst/>
            <a:gdLst/>
            <a:ahLst/>
            <a:cxnLst/>
            <a:rect l="l" t="t" r="r" b="b"/>
            <a:pathLst>
              <a:path w="73659" h="914400">
                <a:moveTo>
                  <a:pt x="0" y="36360"/>
                </a:moveTo>
                <a:lnTo>
                  <a:pt x="0" y="29870"/>
                </a:lnTo>
                <a:lnTo>
                  <a:pt x="1790" y="23761"/>
                </a:lnTo>
                <a:lnTo>
                  <a:pt x="5041" y="17995"/>
                </a:lnTo>
                <a:lnTo>
                  <a:pt x="8280" y="12598"/>
                </a:lnTo>
                <a:lnTo>
                  <a:pt x="12598" y="7912"/>
                </a:lnTo>
                <a:lnTo>
                  <a:pt x="18351" y="4673"/>
                </a:lnTo>
                <a:lnTo>
                  <a:pt x="23761" y="1435"/>
                </a:lnTo>
                <a:lnTo>
                  <a:pt x="30238" y="0"/>
                </a:lnTo>
                <a:lnTo>
                  <a:pt x="36715" y="0"/>
                </a:lnTo>
                <a:lnTo>
                  <a:pt x="36360" y="0"/>
                </a:lnTo>
                <a:lnTo>
                  <a:pt x="42837" y="0"/>
                </a:lnTo>
                <a:lnTo>
                  <a:pt x="48958" y="1790"/>
                </a:lnTo>
                <a:lnTo>
                  <a:pt x="54711" y="5041"/>
                </a:lnTo>
                <a:lnTo>
                  <a:pt x="60121" y="8280"/>
                </a:lnTo>
                <a:lnTo>
                  <a:pt x="64795" y="12598"/>
                </a:lnTo>
                <a:lnTo>
                  <a:pt x="68033" y="18351"/>
                </a:lnTo>
                <a:lnTo>
                  <a:pt x="71272" y="23761"/>
                </a:lnTo>
                <a:lnTo>
                  <a:pt x="73075" y="30238"/>
                </a:lnTo>
                <a:lnTo>
                  <a:pt x="73075" y="36715"/>
                </a:lnTo>
                <a:lnTo>
                  <a:pt x="73075" y="877671"/>
                </a:lnTo>
                <a:lnTo>
                  <a:pt x="73075" y="884161"/>
                </a:lnTo>
                <a:lnTo>
                  <a:pt x="71272" y="890270"/>
                </a:lnTo>
                <a:lnTo>
                  <a:pt x="68033" y="896035"/>
                </a:lnTo>
                <a:lnTo>
                  <a:pt x="64795" y="901433"/>
                </a:lnTo>
                <a:lnTo>
                  <a:pt x="60477" y="906119"/>
                </a:lnTo>
                <a:lnTo>
                  <a:pt x="54711" y="909358"/>
                </a:lnTo>
                <a:lnTo>
                  <a:pt x="49314" y="912596"/>
                </a:lnTo>
                <a:lnTo>
                  <a:pt x="42837" y="914031"/>
                </a:lnTo>
                <a:lnTo>
                  <a:pt x="36715" y="914031"/>
                </a:lnTo>
                <a:lnTo>
                  <a:pt x="36360" y="914400"/>
                </a:lnTo>
                <a:lnTo>
                  <a:pt x="29870" y="914400"/>
                </a:lnTo>
                <a:lnTo>
                  <a:pt x="23761" y="912596"/>
                </a:lnTo>
                <a:lnTo>
                  <a:pt x="17995" y="909358"/>
                </a:lnTo>
                <a:lnTo>
                  <a:pt x="12598" y="906119"/>
                </a:lnTo>
                <a:lnTo>
                  <a:pt x="7912" y="901801"/>
                </a:lnTo>
                <a:lnTo>
                  <a:pt x="4673" y="896035"/>
                </a:lnTo>
                <a:lnTo>
                  <a:pt x="1435" y="890638"/>
                </a:lnTo>
                <a:lnTo>
                  <a:pt x="0" y="884161"/>
                </a:lnTo>
                <a:lnTo>
                  <a:pt x="0" y="877671"/>
                </a:lnTo>
                <a:lnTo>
                  <a:pt x="0" y="36360"/>
                </a:lnTo>
                <a:close/>
              </a:path>
            </a:pathLst>
          </a:custGeom>
          <a:ln w="12599">
            <a:solidFill>
              <a:srgbClr val="7B5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24204" y="1188364"/>
            <a:ext cx="73660" cy="1280160"/>
          </a:xfrm>
          <a:custGeom>
            <a:avLst/>
            <a:gdLst/>
            <a:ahLst/>
            <a:cxnLst/>
            <a:rect l="l" t="t" r="r" b="b"/>
            <a:pathLst>
              <a:path w="73659" h="1280160">
                <a:moveTo>
                  <a:pt x="42837" y="0"/>
                </a:moveTo>
                <a:lnTo>
                  <a:pt x="30238" y="0"/>
                </a:lnTo>
                <a:lnTo>
                  <a:pt x="23761" y="1435"/>
                </a:lnTo>
                <a:lnTo>
                  <a:pt x="12598" y="7912"/>
                </a:lnTo>
                <a:lnTo>
                  <a:pt x="8280" y="12598"/>
                </a:lnTo>
                <a:lnTo>
                  <a:pt x="1790" y="23761"/>
                </a:lnTo>
                <a:lnTo>
                  <a:pt x="0" y="29870"/>
                </a:lnTo>
                <a:lnTo>
                  <a:pt x="0" y="36360"/>
                </a:lnTo>
                <a:lnTo>
                  <a:pt x="0" y="1249921"/>
                </a:lnTo>
                <a:lnTo>
                  <a:pt x="29870" y="1280160"/>
                </a:lnTo>
                <a:lnTo>
                  <a:pt x="42837" y="1280160"/>
                </a:lnTo>
                <a:lnTo>
                  <a:pt x="73075" y="1249921"/>
                </a:lnTo>
                <a:lnTo>
                  <a:pt x="73075" y="30238"/>
                </a:lnTo>
                <a:lnTo>
                  <a:pt x="71272" y="23761"/>
                </a:lnTo>
                <a:lnTo>
                  <a:pt x="64795" y="12598"/>
                </a:lnTo>
                <a:lnTo>
                  <a:pt x="60121" y="8280"/>
                </a:lnTo>
                <a:lnTo>
                  <a:pt x="48958" y="1790"/>
                </a:lnTo>
                <a:lnTo>
                  <a:pt x="42837" y="0"/>
                </a:lnTo>
                <a:close/>
              </a:path>
            </a:pathLst>
          </a:custGeom>
          <a:solidFill>
            <a:srgbClr val="7B5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24204" y="1188364"/>
            <a:ext cx="73660" cy="1280160"/>
          </a:xfrm>
          <a:custGeom>
            <a:avLst/>
            <a:gdLst/>
            <a:ahLst/>
            <a:cxnLst/>
            <a:rect l="l" t="t" r="r" b="b"/>
            <a:pathLst>
              <a:path w="73659" h="1280160">
                <a:moveTo>
                  <a:pt x="0" y="36360"/>
                </a:moveTo>
                <a:lnTo>
                  <a:pt x="0" y="29870"/>
                </a:lnTo>
                <a:lnTo>
                  <a:pt x="1790" y="23761"/>
                </a:lnTo>
                <a:lnTo>
                  <a:pt x="5041" y="17995"/>
                </a:lnTo>
                <a:lnTo>
                  <a:pt x="8280" y="12598"/>
                </a:lnTo>
                <a:lnTo>
                  <a:pt x="12598" y="7912"/>
                </a:lnTo>
                <a:lnTo>
                  <a:pt x="18351" y="4673"/>
                </a:lnTo>
                <a:lnTo>
                  <a:pt x="23761" y="1435"/>
                </a:lnTo>
                <a:lnTo>
                  <a:pt x="30238" y="0"/>
                </a:lnTo>
                <a:lnTo>
                  <a:pt x="36360" y="0"/>
                </a:lnTo>
                <a:lnTo>
                  <a:pt x="42837" y="0"/>
                </a:lnTo>
                <a:lnTo>
                  <a:pt x="48958" y="1790"/>
                </a:lnTo>
                <a:lnTo>
                  <a:pt x="54711" y="5041"/>
                </a:lnTo>
                <a:lnTo>
                  <a:pt x="60121" y="8280"/>
                </a:lnTo>
                <a:lnTo>
                  <a:pt x="64795" y="12598"/>
                </a:lnTo>
                <a:lnTo>
                  <a:pt x="68033" y="18351"/>
                </a:lnTo>
                <a:lnTo>
                  <a:pt x="71272" y="23761"/>
                </a:lnTo>
                <a:lnTo>
                  <a:pt x="73075" y="30238"/>
                </a:lnTo>
                <a:lnTo>
                  <a:pt x="73075" y="36715"/>
                </a:lnTo>
                <a:lnTo>
                  <a:pt x="73075" y="1243431"/>
                </a:lnTo>
                <a:lnTo>
                  <a:pt x="73075" y="1249921"/>
                </a:lnTo>
                <a:lnTo>
                  <a:pt x="71272" y="1256029"/>
                </a:lnTo>
                <a:lnTo>
                  <a:pt x="68033" y="1261795"/>
                </a:lnTo>
                <a:lnTo>
                  <a:pt x="64795" y="1267193"/>
                </a:lnTo>
                <a:lnTo>
                  <a:pt x="60477" y="1271879"/>
                </a:lnTo>
                <a:lnTo>
                  <a:pt x="54711" y="1275118"/>
                </a:lnTo>
                <a:lnTo>
                  <a:pt x="49314" y="1278356"/>
                </a:lnTo>
                <a:lnTo>
                  <a:pt x="42837" y="1280160"/>
                </a:lnTo>
                <a:lnTo>
                  <a:pt x="36360" y="1280160"/>
                </a:lnTo>
                <a:lnTo>
                  <a:pt x="29870" y="1280160"/>
                </a:lnTo>
                <a:lnTo>
                  <a:pt x="23761" y="1278356"/>
                </a:lnTo>
                <a:lnTo>
                  <a:pt x="17995" y="1275118"/>
                </a:lnTo>
                <a:lnTo>
                  <a:pt x="12598" y="1271879"/>
                </a:lnTo>
                <a:lnTo>
                  <a:pt x="7912" y="1267561"/>
                </a:lnTo>
                <a:lnTo>
                  <a:pt x="4673" y="1261795"/>
                </a:lnTo>
                <a:lnTo>
                  <a:pt x="1435" y="1256398"/>
                </a:lnTo>
                <a:lnTo>
                  <a:pt x="0" y="1249921"/>
                </a:lnTo>
                <a:lnTo>
                  <a:pt x="0" y="1243799"/>
                </a:lnTo>
                <a:lnTo>
                  <a:pt x="0" y="36360"/>
                </a:lnTo>
                <a:close/>
              </a:path>
            </a:pathLst>
          </a:custGeom>
          <a:ln w="12599">
            <a:solidFill>
              <a:srgbClr val="7B5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170355" y="1371244"/>
            <a:ext cx="73660" cy="914400"/>
          </a:xfrm>
          <a:custGeom>
            <a:avLst/>
            <a:gdLst/>
            <a:ahLst/>
            <a:cxnLst/>
            <a:rect l="l" t="t" r="r" b="b"/>
            <a:pathLst>
              <a:path w="73659" h="914400">
                <a:moveTo>
                  <a:pt x="42849" y="0"/>
                </a:moveTo>
                <a:lnTo>
                  <a:pt x="30238" y="0"/>
                </a:lnTo>
                <a:lnTo>
                  <a:pt x="23761" y="1435"/>
                </a:lnTo>
                <a:lnTo>
                  <a:pt x="18364" y="4673"/>
                </a:lnTo>
                <a:lnTo>
                  <a:pt x="12598" y="7912"/>
                </a:lnTo>
                <a:lnTo>
                  <a:pt x="8280" y="12598"/>
                </a:lnTo>
                <a:lnTo>
                  <a:pt x="5041" y="17995"/>
                </a:lnTo>
                <a:lnTo>
                  <a:pt x="1803" y="23761"/>
                </a:lnTo>
                <a:lnTo>
                  <a:pt x="0" y="29870"/>
                </a:lnTo>
                <a:lnTo>
                  <a:pt x="0" y="884161"/>
                </a:lnTo>
                <a:lnTo>
                  <a:pt x="1365" y="890270"/>
                </a:lnTo>
                <a:lnTo>
                  <a:pt x="1447" y="890638"/>
                </a:lnTo>
                <a:lnTo>
                  <a:pt x="4686" y="896035"/>
                </a:lnTo>
                <a:lnTo>
                  <a:pt x="7924" y="901801"/>
                </a:lnTo>
                <a:lnTo>
                  <a:pt x="12598" y="906119"/>
                </a:lnTo>
                <a:lnTo>
                  <a:pt x="18008" y="909358"/>
                </a:lnTo>
                <a:lnTo>
                  <a:pt x="23761" y="912596"/>
                </a:lnTo>
                <a:lnTo>
                  <a:pt x="29883" y="914400"/>
                </a:lnTo>
                <a:lnTo>
                  <a:pt x="36360" y="914400"/>
                </a:lnTo>
                <a:lnTo>
                  <a:pt x="36728" y="914031"/>
                </a:lnTo>
                <a:lnTo>
                  <a:pt x="42849" y="914031"/>
                </a:lnTo>
                <a:lnTo>
                  <a:pt x="49326" y="912596"/>
                </a:lnTo>
                <a:lnTo>
                  <a:pt x="54724" y="909358"/>
                </a:lnTo>
                <a:lnTo>
                  <a:pt x="60490" y="906119"/>
                </a:lnTo>
                <a:lnTo>
                  <a:pt x="64808" y="901433"/>
                </a:lnTo>
                <a:lnTo>
                  <a:pt x="68046" y="896035"/>
                </a:lnTo>
                <a:lnTo>
                  <a:pt x="71285" y="890270"/>
                </a:lnTo>
                <a:lnTo>
                  <a:pt x="73088" y="884161"/>
                </a:lnTo>
                <a:lnTo>
                  <a:pt x="72985" y="29870"/>
                </a:lnTo>
                <a:lnTo>
                  <a:pt x="71285" y="23761"/>
                </a:lnTo>
                <a:lnTo>
                  <a:pt x="68046" y="18351"/>
                </a:lnTo>
                <a:lnTo>
                  <a:pt x="64808" y="12598"/>
                </a:lnTo>
                <a:lnTo>
                  <a:pt x="60121" y="8280"/>
                </a:lnTo>
                <a:lnTo>
                  <a:pt x="54724" y="5041"/>
                </a:lnTo>
                <a:lnTo>
                  <a:pt x="48958" y="1790"/>
                </a:lnTo>
                <a:lnTo>
                  <a:pt x="42849" y="0"/>
                </a:lnTo>
                <a:close/>
              </a:path>
            </a:pathLst>
          </a:custGeom>
          <a:solidFill>
            <a:srgbClr val="7B5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170355" y="1371244"/>
            <a:ext cx="73660" cy="914400"/>
          </a:xfrm>
          <a:custGeom>
            <a:avLst/>
            <a:gdLst/>
            <a:ahLst/>
            <a:cxnLst/>
            <a:rect l="l" t="t" r="r" b="b"/>
            <a:pathLst>
              <a:path w="73659" h="914400">
                <a:moveTo>
                  <a:pt x="0" y="36360"/>
                </a:moveTo>
                <a:lnTo>
                  <a:pt x="0" y="29870"/>
                </a:lnTo>
                <a:lnTo>
                  <a:pt x="1803" y="23761"/>
                </a:lnTo>
                <a:lnTo>
                  <a:pt x="5041" y="17995"/>
                </a:lnTo>
                <a:lnTo>
                  <a:pt x="8280" y="12598"/>
                </a:lnTo>
                <a:lnTo>
                  <a:pt x="12598" y="7912"/>
                </a:lnTo>
                <a:lnTo>
                  <a:pt x="18364" y="4673"/>
                </a:lnTo>
                <a:lnTo>
                  <a:pt x="23761" y="1435"/>
                </a:lnTo>
                <a:lnTo>
                  <a:pt x="30238" y="0"/>
                </a:lnTo>
                <a:lnTo>
                  <a:pt x="36728" y="0"/>
                </a:lnTo>
                <a:lnTo>
                  <a:pt x="36360" y="0"/>
                </a:lnTo>
                <a:lnTo>
                  <a:pt x="42849" y="0"/>
                </a:lnTo>
                <a:lnTo>
                  <a:pt x="48958" y="1790"/>
                </a:lnTo>
                <a:lnTo>
                  <a:pt x="54724" y="5041"/>
                </a:lnTo>
                <a:lnTo>
                  <a:pt x="60121" y="8280"/>
                </a:lnTo>
                <a:lnTo>
                  <a:pt x="64808" y="12598"/>
                </a:lnTo>
                <a:lnTo>
                  <a:pt x="68046" y="18351"/>
                </a:lnTo>
                <a:lnTo>
                  <a:pt x="71285" y="23761"/>
                </a:lnTo>
                <a:lnTo>
                  <a:pt x="73088" y="30238"/>
                </a:lnTo>
                <a:lnTo>
                  <a:pt x="73088" y="36715"/>
                </a:lnTo>
                <a:lnTo>
                  <a:pt x="73088" y="877671"/>
                </a:lnTo>
                <a:lnTo>
                  <a:pt x="73088" y="884161"/>
                </a:lnTo>
                <a:lnTo>
                  <a:pt x="71285" y="890270"/>
                </a:lnTo>
                <a:lnTo>
                  <a:pt x="68046" y="896035"/>
                </a:lnTo>
                <a:lnTo>
                  <a:pt x="64808" y="901433"/>
                </a:lnTo>
                <a:lnTo>
                  <a:pt x="60490" y="906119"/>
                </a:lnTo>
                <a:lnTo>
                  <a:pt x="54724" y="909358"/>
                </a:lnTo>
                <a:lnTo>
                  <a:pt x="49326" y="912596"/>
                </a:lnTo>
                <a:lnTo>
                  <a:pt x="42849" y="914031"/>
                </a:lnTo>
                <a:lnTo>
                  <a:pt x="36728" y="914031"/>
                </a:lnTo>
                <a:lnTo>
                  <a:pt x="36360" y="914400"/>
                </a:lnTo>
                <a:lnTo>
                  <a:pt x="29883" y="914400"/>
                </a:lnTo>
                <a:lnTo>
                  <a:pt x="23761" y="912596"/>
                </a:lnTo>
                <a:lnTo>
                  <a:pt x="18008" y="909358"/>
                </a:lnTo>
                <a:lnTo>
                  <a:pt x="12598" y="906119"/>
                </a:lnTo>
                <a:lnTo>
                  <a:pt x="7924" y="901801"/>
                </a:lnTo>
                <a:lnTo>
                  <a:pt x="4686" y="896035"/>
                </a:lnTo>
                <a:lnTo>
                  <a:pt x="1447" y="890638"/>
                </a:lnTo>
                <a:lnTo>
                  <a:pt x="0" y="884161"/>
                </a:lnTo>
                <a:lnTo>
                  <a:pt x="0" y="877671"/>
                </a:lnTo>
                <a:lnTo>
                  <a:pt x="0" y="36360"/>
                </a:lnTo>
                <a:close/>
              </a:path>
            </a:pathLst>
          </a:custGeom>
          <a:ln w="12599">
            <a:solidFill>
              <a:srgbClr val="7B5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316875" y="1599844"/>
            <a:ext cx="73660" cy="457200"/>
          </a:xfrm>
          <a:custGeom>
            <a:avLst/>
            <a:gdLst/>
            <a:ahLst/>
            <a:cxnLst/>
            <a:rect l="l" t="t" r="r" b="b"/>
            <a:pathLst>
              <a:path w="73659" h="457200">
                <a:moveTo>
                  <a:pt x="42849" y="0"/>
                </a:moveTo>
                <a:lnTo>
                  <a:pt x="30238" y="0"/>
                </a:lnTo>
                <a:lnTo>
                  <a:pt x="23761" y="1435"/>
                </a:lnTo>
                <a:lnTo>
                  <a:pt x="18364" y="4673"/>
                </a:lnTo>
                <a:lnTo>
                  <a:pt x="12598" y="7912"/>
                </a:lnTo>
                <a:lnTo>
                  <a:pt x="8280" y="12598"/>
                </a:lnTo>
                <a:lnTo>
                  <a:pt x="5041" y="17995"/>
                </a:lnTo>
                <a:lnTo>
                  <a:pt x="1803" y="23761"/>
                </a:lnTo>
                <a:lnTo>
                  <a:pt x="0" y="29870"/>
                </a:lnTo>
                <a:lnTo>
                  <a:pt x="0" y="426961"/>
                </a:lnTo>
                <a:lnTo>
                  <a:pt x="1365" y="433070"/>
                </a:lnTo>
                <a:lnTo>
                  <a:pt x="1447" y="433438"/>
                </a:lnTo>
                <a:lnTo>
                  <a:pt x="4686" y="438835"/>
                </a:lnTo>
                <a:lnTo>
                  <a:pt x="7924" y="444601"/>
                </a:lnTo>
                <a:lnTo>
                  <a:pt x="12598" y="448919"/>
                </a:lnTo>
                <a:lnTo>
                  <a:pt x="18008" y="452158"/>
                </a:lnTo>
                <a:lnTo>
                  <a:pt x="23761" y="455396"/>
                </a:lnTo>
                <a:lnTo>
                  <a:pt x="29883" y="457200"/>
                </a:lnTo>
                <a:lnTo>
                  <a:pt x="36360" y="457200"/>
                </a:lnTo>
                <a:lnTo>
                  <a:pt x="36728" y="456831"/>
                </a:lnTo>
                <a:lnTo>
                  <a:pt x="42849" y="456831"/>
                </a:lnTo>
                <a:lnTo>
                  <a:pt x="49326" y="455396"/>
                </a:lnTo>
                <a:lnTo>
                  <a:pt x="54724" y="452158"/>
                </a:lnTo>
                <a:lnTo>
                  <a:pt x="60490" y="448919"/>
                </a:lnTo>
                <a:lnTo>
                  <a:pt x="64808" y="444233"/>
                </a:lnTo>
                <a:lnTo>
                  <a:pt x="68046" y="438835"/>
                </a:lnTo>
                <a:lnTo>
                  <a:pt x="71285" y="433070"/>
                </a:lnTo>
                <a:lnTo>
                  <a:pt x="73088" y="426961"/>
                </a:lnTo>
                <a:lnTo>
                  <a:pt x="72985" y="29870"/>
                </a:lnTo>
                <a:lnTo>
                  <a:pt x="71285" y="23761"/>
                </a:lnTo>
                <a:lnTo>
                  <a:pt x="68046" y="18351"/>
                </a:lnTo>
                <a:lnTo>
                  <a:pt x="64808" y="12598"/>
                </a:lnTo>
                <a:lnTo>
                  <a:pt x="60121" y="8280"/>
                </a:lnTo>
                <a:lnTo>
                  <a:pt x="54724" y="5041"/>
                </a:lnTo>
                <a:lnTo>
                  <a:pt x="48958" y="1790"/>
                </a:lnTo>
                <a:lnTo>
                  <a:pt x="42849" y="0"/>
                </a:lnTo>
                <a:close/>
              </a:path>
            </a:pathLst>
          </a:custGeom>
          <a:solidFill>
            <a:srgbClr val="7B5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316875" y="1599844"/>
            <a:ext cx="73660" cy="457200"/>
          </a:xfrm>
          <a:custGeom>
            <a:avLst/>
            <a:gdLst/>
            <a:ahLst/>
            <a:cxnLst/>
            <a:rect l="l" t="t" r="r" b="b"/>
            <a:pathLst>
              <a:path w="73659" h="457200">
                <a:moveTo>
                  <a:pt x="0" y="36360"/>
                </a:moveTo>
                <a:lnTo>
                  <a:pt x="0" y="29870"/>
                </a:lnTo>
                <a:lnTo>
                  <a:pt x="1803" y="23761"/>
                </a:lnTo>
                <a:lnTo>
                  <a:pt x="5041" y="17995"/>
                </a:lnTo>
                <a:lnTo>
                  <a:pt x="8280" y="12598"/>
                </a:lnTo>
                <a:lnTo>
                  <a:pt x="12598" y="7912"/>
                </a:lnTo>
                <a:lnTo>
                  <a:pt x="18364" y="4673"/>
                </a:lnTo>
                <a:lnTo>
                  <a:pt x="23761" y="1435"/>
                </a:lnTo>
                <a:lnTo>
                  <a:pt x="30238" y="0"/>
                </a:lnTo>
                <a:lnTo>
                  <a:pt x="36728" y="0"/>
                </a:lnTo>
                <a:lnTo>
                  <a:pt x="36360" y="0"/>
                </a:lnTo>
                <a:lnTo>
                  <a:pt x="42849" y="0"/>
                </a:lnTo>
                <a:lnTo>
                  <a:pt x="48958" y="1790"/>
                </a:lnTo>
                <a:lnTo>
                  <a:pt x="54724" y="5041"/>
                </a:lnTo>
                <a:lnTo>
                  <a:pt x="60121" y="8280"/>
                </a:lnTo>
                <a:lnTo>
                  <a:pt x="64808" y="12598"/>
                </a:lnTo>
                <a:lnTo>
                  <a:pt x="68046" y="18351"/>
                </a:lnTo>
                <a:lnTo>
                  <a:pt x="71285" y="23761"/>
                </a:lnTo>
                <a:lnTo>
                  <a:pt x="73088" y="30238"/>
                </a:lnTo>
                <a:lnTo>
                  <a:pt x="73088" y="36715"/>
                </a:lnTo>
                <a:lnTo>
                  <a:pt x="73088" y="420471"/>
                </a:lnTo>
                <a:lnTo>
                  <a:pt x="73088" y="426961"/>
                </a:lnTo>
                <a:lnTo>
                  <a:pt x="71285" y="433070"/>
                </a:lnTo>
                <a:lnTo>
                  <a:pt x="68046" y="438835"/>
                </a:lnTo>
                <a:lnTo>
                  <a:pt x="64808" y="444233"/>
                </a:lnTo>
                <a:lnTo>
                  <a:pt x="60490" y="448919"/>
                </a:lnTo>
                <a:lnTo>
                  <a:pt x="54724" y="452158"/>
                </a:lnTo>
                <a:lnTo>
                  <a:pt x="49326" y="455396"/>
                </a:lnTo>
                <a:lnTo>
                  <a:pt x="42849" y="456831"/>
                </a:lnTo>
                <a:lnTo>
                  <a:pt x="36728" y="456831"/>
                </a:lnTo>
                <a:lnTo>
                  <a:pt x="36360" y="457200"/>
                </a:lnTo>
                <a:lnTo>
                  <a:pt x="29883" y="457200"/>
                </a:lnTo>
                <a:lnTo>
                  <a:pt x="23761" y="455396"/>
                </a:lnTo>
                <a:lnTo>
                  <a:pt x="18008" y="452158"/>
                </a:lnTo>
                <a:lnTo>
                  <a:pt x="12598" y="448919"/>
                </a:lnTo>
                <a:lnTo>
                  <a:pt x="7924" y="444601"/>
                </a:lnTo>
                <a:lnTo>
                  <a:pt x="4686" y="438835"/>
                </a:lnTo>
                <a:lnTo>
                  <a:pt x="1447" y="433438"/>
                </a:lnTo>
                <a:lnTo>
                  <a:pt x="0" y="426961"/>
                </a:lnTo>
                <a:lnTo>
                  <a:pt x="0" y="420839"/>
                </a:lnTo>
                <a:lnTo>
                  <a:pt x="0" y="36360"/>
                </a:lnTo>
                <a:close/>
              </a:path>
            </a:pathLst>
          </a:custGeom>
          <a:ln w="12599">
            <a:solidFill>
              <a:srgbClr val="7B5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A648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50"/>
              <a:t>Pulmira</a:t>
            </a:r>
            <a:r>
              <a:rPr dirty="0" spc="-55"/>
              <a:t> </a:t>
            </a:r>
            <a:r>
              <a:rPr dirty="0" spc="-85"/>
              <a:t>·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F9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584" y="692899"/>
            <a:ext cx="831342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423A6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279" y="2622956"/>
            <a:ext cx="5456555" cy="3063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960823" y="6475954"/>
            <a:ext cx="825500" cy="179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6A648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50"/>
              <a:t>Pulmira</a:t>
            </a:r>
            <a:r>
              <a:rPr dirty="0" spc="-55"/>
              <a:t> </a:t>
            </a:r>
            <a:r>
              <a:rPr dirty="0" spc="-85"/>
              <a:t>·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uruyuganKarthik8377/Pulmira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2744" y="2406204"/>
            <a:ext cx="5879465" cy="2147570"/>
          </a:xfrm>
          <a:prstGeom prst="rect">
            <a:avLst/>
          </a:prstGeom>
        </p:spPr>
        <p:txBody>
          <a:bodyPr wrap="square" lIns="0" tIns="245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dirty="0" sz="6600" spc="-640" b="1">
                <a:solidFill>
                  <a:srgbClr val="423A67"/>
                </a:solidFill>
                <a:latin typeface="Verdana"/>
                <a:cs typeface="Verdana"/>
              </a:rPr>
              <a:t>Pulmira</a:t>
            </a:r>
            <a:endParaRPr sz="6600">
              <a:latin typeface="Verdana"/>
              <a:cs typeface="Verdana"/>
            </a:endParaRPr>
          </a:p>
          <a:p>
            <a:pPr marL="58419" marR="5080">
              <a:lnSpc>
                <a:spcPct val="100000"/>
              </a:lnSpc>
              <a:spcBef>
                <a:spcPts val="720"/>
              </a:spcBef>
            </a:pPr>
            <a:r>
              <a:rPr dirty="0" sz="2600" spc="-55">
                <a:solidFill>
                  <a:srgbClr val="423A67"/>
                </a:solidFill>
                <a:latin typeface="Verdana"/>
                <a:cs typeface="Verdana"/>
              </a:rPr>
              <a:t>An</a:t>
            </a:r>
            <a:r>
              <a:rPr dirty="0" sz="2600" spc="-14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2600" spc="-80">
                <a:solidFill>
                  <a:srgbClr val="423A67"/>
                </a:solidFill>
                <a:latin typeface="Verdana"/>
                <a:cs typeface="Verdana"/>
              </a:rPr>
              <a:t>observation-</a:t>
            </a:r>
            <a:r>
              <a:rPr dirty="0" sz="2600" spc="-45">
                <a:solidFill>
                  <a:srgbClr val="423A67"/>
                </a:solidFill>
                <a:latin typeface="Verdana"/>
                <a:cs typeface="Verdana"/>
              </a:rPr>
              <a:t>led</a:t>
            </a:r>
            <a:r>
              <a:rPr dirty="0" sz="2600" spc="-14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2600" spc="-100">
                <a:solidFill>
                  <a:srgbClr val="423A67"/>
                </a:solidFill>
                <a:latin typeface="Verdana"/>
                <a:cs typeface="Verdana"/>
              </a:rPr>
              <a:t>respiratory</a:t>
            </a:r>
            <a:r>
              <a:rPr dirty="0" sz="2600" spc="-14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2600" spc="-55">
                <a:solidFill>
                  <a:srgbClr val="423A67"/>
                </a:solidFill>
                <a:latin typeface="Verdana"/>
                <a:cs typeface="Verdana"/>
              </a:rPr>
              <a:t>digital </a:t>
            </a:r>
            <a:r>
              <a:rPr dirty="0" sz="2600" spc="-10">
                <a:solidFill>
                  <a:srgbClr val="423A67"/>
                </a:solidFill>
                <a:latin typeface="Verdana"/>
                <a:cs typeface="Verdana"/>
              </a:rPr>
              <a:t>twin.</a:t>
            </a:r>
            <a:endParaRPr sz="2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392064" y="2651942"/>
            <a:ext cx="4326255" cy="1553210"/>
            <a:chOff x="7392064" y="2651942"/>
            <a:chExt cx="4326255" cy="1553210"/>
          </a:xfrm>
        </p:grpSpPr>
        <p:sp>
          <p:nvSpPr>
            <p:cNvPr id="6" name="object 6"/>
            <p:cNvSpPr/>
            <p:nvPr/>
          </p:nvSpPr>
          <p:spPr>
            <a:xfrm>
              <a:off x="7406284" y="2666161"/>
              <a:ext cx="4297680" cy="1524635"/>
            </a:xfrm>
            <a:custGeom>
              <a:avLst/>
              <a:gdLst/>
              <a:ahLst/>
              <a:cxnLst/>
              <a:rect l="l" t="t" r="r" b="b"/>
              <a:pathLst>
                <a:path w="4297680" h="1524635">
                  <a:moveTo>
                    <a:pt x="0" y="762482"/>
                  </a:moveTo>
                  <a:lnTo>
                    <a:pt x="30594" y="708837"/>
                  </a:lnTo>
                  <a:lnTo>
                    <a:pt x="61201" y="654113"/>
                  </a:lnTo>
                  <a:lnTo>
                    <a:pt x="91795" y="599401"/>
                  </a:lnTo>
                  <a:lnTo>
                    <a:pt x="122758" y="545033"/>
                  </a:lnTo>
                  <a:lnTo>
                    <a:pt x="153352" y="492836"/>
                  </a:lnTo>
                  <a:lnTo>
                    <a:pt x="183959" y="443877"/>
                  </a:lnTo>
                  <a:lnTo>
                    <a:pt x="214553" y="398881"/>
                  </a:lnTo>
                  <a:lnTo>
                    <a:pt x="245516" y="358914"/>
                  </a:lnTo>
                  <a:lnTo>
                    <a:pt x="276110" y="325437"/>
                  </a:lnTo>
                  <a:lnTo>
                    <a:pt x="306717" y="299161"/>
                  </a:lnTo>
                  <a:lnTo>
                    <a:pt x="368274" y="270713"/>
                  </a:lnTo>
                  <a:lnTo>
                    <a:pt x="398881" y="270001"/>
                  </a:lnTo>
                  <a:lnTo>
                    <a:pt x="429475" y="278638"/>
                  </a:lnTo>
                  <a:lnTo>
                    <a:pt x="491032" y="324002"/>
                  </a:lnTo>
                  <a:lnTo>
                    <a:pt x="521639" y="360718"/>
                  </a:lnTo>
                  <a:lnTo>
                    <a:pt x="552234" y="406082"/>
                  </a:lnTo>
                  <a:lnTo>
                    <a:pt x="583196" y="459714"/>
                  </a:lnTo>
                  <a:lnTo>
                    <a:pt x="613790" y="520560"/>
                  </a:lnTo>
                  <a:lnTo>
                    <a:pt x="644398" y="587514"/>
                  </a:lnTo>
                  <a:lnTo>
                    <a:pt x="674992" y="659879"/>
                  </a:lnTo>
                  <a:lnTo>
                    <a:pt x="705954" y="736193"/>
                  </a:lnTo>
                  <a:lnTo>
                    <a:pt x="736561" y="815035"/>
                  </a:lnTo>
                  <a:lnTo>
                    <a:pt x="767156" y="894956"/>
                  </a:lnTo>
                  <a:lnTo>
                    <a:pt x="798118" y="974153"/>
                  </a:lnTo>
                  <a:lnTo>
                    <a:pt x="828713" y="1051204"/>
                  </a:lnTo>
                  <a:lnTo>
                    <a:pt x="859320" y="1125004"/>
                  </a:lnTo>
                  <a:lnTo>
                    <a:pt x="889914" y="1193393"/>
                  </a:lnTo>
                  <a:lnTo>
                    <a:pt x="920876" y="1255674"/>
                  </a:lnTo>
                  <a:lnTo>
                    <a:pt x="951471" y="1309674"/>
                  </a:lnTo>
                  <a:lnTo>
                    <a:pt x="982078" y="1354683"/>
                  </a:lnTo>
                  <a:lnTo>
                    <a:pt x="1012672" y="1389595"/>
                  </a:lnTo>
                  <a:lnTo>
                    <a:pt x="1043635" y="1413357"/>
                  </a:lnTo>
                  <a:lnTo>
                    <a:pt x="1074229" y="1425600"/>
                  </a:lnTo>
                  <a:lnTo>
                    <a:pt x="1104836" y="1425600"/>
                  </a:lnTo>
                  <a:lnTo>
                    <a:pt x="1166393" y="1388871"/>
                  </a:lnTo>
                  <a:lnTo>
                    <a:pt x="1197000" y="1352156"/>
                  </a:lnTo>
                  <a:lnTo>
                    <a:pt x="1227594" y="1303553"/>
                  </a:lnTo>
                  <a:lnTo>
                    <a:pt x="1258557" y="1244523"/>
                  </a:lnTo>
                  <a:lnTo>
                    <a:pt x="1289151" y="1175397"/>
                  </a:lnTo>
                  <a:lnTo>
                    <a:pt x="1319758" y="1098003"/>
                  </a:lnTo>
                  <a:lnTo>
                    <a:pt x="1350352" y="1012672"/>
                  </a:lnTo>
                  <a:lnTo>
                    <a:pt x="1381315" y="921956"/>
                  </a:lnTo>
                  <a:lnTo>
                    <a:pt x="1411909" y="826922"/>
                  </a:lnTo>
                  <a:lnTo>
                    <a:pt x="1442516" y="729716"/>
                  </a:lnTo>
                  <a:lnTo>
                    <a:pt x="1473479" y="631799"/>
                  </a:lnTo>
                  <a:lnTo>
                    <a:pt x="1504073" y="535317"/>
                  </a:lnTo>
                  <a:lnTo>
                    <a:pt x="1534680" y="441718"/>
                  </a:lnTo>
                  <a:lnTo>
                    <a:pt x="1565275" y="353161"/>
                  </a:lnTo>
                  <a:lnTo>
                    <a:pt x="1596237" y="271437"/>
                  </a:lnTo>
                  <a:lnTo>
                    <a:pt x="1626831" y="197992"/>
                  </a:lnTo>
                  <a:lnTo>
                    <a:pt x="1657438" y="134277"/>
                  </a:lnTo>
                  <a:lnTo>
                    <a:pt x="1688033" y="81724"/>
                  </a:lnTo>
                  <a:lnTo>
                    <a:pt x="1718995" y="41033"/>
                  </a:lnTo>
                  <a:lnTo>
                    <a:pt x="1749590" y="13677"/>
                  </a:lnTo>
                  <a:lnTo>
                    <a:pt x="1780197" y="0"/>
                  </a:lnTo>
                  <a:lnTo>
                    <a:pt x="1811159" y="0"/>
                  </a:lnTo>
                  <a:lnTo>
                    <a:pt x="1872360" y="42113"/>
                  </a:lnTo>
                  <a:lnTo>
                    <a:pt x="1902955" y="83515"/>
                  </a:lnTo>
                  <a:lnTo>
                    <a:pt x="1933917" y="137515"/>
                  </a:lnTo>
                  <a:lnTo>
                    <a:pt x="1964512" y="203034"/>
                  </a:lnTo>
                  <a:lnTo>
                    <a:pt x="1995119" y="279361"/>
                  </a:lnTo>
                  <a:lnTo>
                    <a:pt x="2025713" y="364312"/>
                  </a:lnTo>
                  <a:lnTo>
                    <a:pt x="2056676" y="457200"/>
                  </a:lnTo>
                  <a:lnTo>
                    <a:pt x="2087270" y="555472"/>
                  </a:lnTo>
                  <a:lnTo>
                    <a:pt x="2117877" y="658075"/>
                  </a:lnTo>
                  <a:lnTo>
                    <a:pt x="2148839" y="762482"/>
                  </a:lnTo>
                  <a:lnTo>
                    <a:pt x="2179434" y="866520"/>
                  </a:lnTo>
                  <a:lnTo>
                    <a:pt x="2210041" y="969124"/>
                  </a:lnTo>
                  <a:lnTo>
                    <a:pt x="2240635" y="1067396"/>
                  </a:lnTo>
                  <a:lnTo>
                    <a:pt x="2271598" y="1160271"/>
                  </a:lnTo>
                  <a:lnTo>
                    <a:pt x="2302192" y="1245234"/>
                  </a:lnTo>
                  <a:lnTo>
                    <a:pt x="2332799" y="1321561"/>
                  </a:lnTo>
                  <a:lnTo>
                    <a:pt x="2363393" y="1387081"/>
                  </a:lnTo>
                  <a:lnTo>
                    <a:pt x="2394356" y="1441081"/>
                  </a:lnTo>
                  <a:lnTo>
                    <a:pt x="2424950" y="1482483"/>
                  </a:lnTo>
                  <a:lnTo>
                    <a:pt x="2455557" y="1510563"/>
                  </a:lnTo>
                  <a:lnTo>
                    <a:pt x="2486152" y="1524596"/>
                  </a:lnTo>
                  <a:lnTo>
                    <a:pt x="2517114" y="1524596"/>
                  </a:lnTo>
                  <a:lnTo>
                    <a:pt x="2578315" y="1483563"/>
                  </a:lnTo>
                  <a:lnTo>
                    <a:pt x="2609278" y="1442872"/>
                  </a:lnTo>
                  <a:lnTo>
                    <a:pt x="2639872" y="1390319"/>
                  </a:lnTo>
                  <a:lnTo>
                    <a:pt x="2670479" y="1326603"/>
                  </a:lnTo>
                  <a:lnTo>
                    <a:pt x="2701074" y="1253159"/>
                  </a:lnTo>
                  <a:lnTo>
                    <a:pt x="2732036" y="1171435"/>
                  </a:lnTo>
                  <a:lnTo>
                    <a:pt x="2762630" y="1082878"/>
                  </a:lnTo>
                  <a:lnTo>
                    <a:pt x="2793237" y="989279"/>
                  </a:lnTo>
                  <a:lnTo>
                    <a:pt x="2823832" y="892797"/>
                  </a:lnTo>
                  <a:lnTo>
                    <a:pt x="2854794" y="794880"/>
                  </a:lnTo>
                  <a:lnTo>
                    <a:pt x="2885401" y="697674"/>
                  </a:lnTo>
                  <a:lnTo>
                    <a:pt x="2915996" y="602640"/>
                  </a:lnTo>
                  <a:lnTo>
                    <a:pt x="2946958" y="511924"/>
                  </a:lnTo>
                  <a:lnTo>
                    <a:pt x="2977553" y="426592"/>
                  </a:lnTo>
                  <a:lnTo>
                    <a:pt x="3008160" y="349199"/>
                  </a:lnTo>
                  <a:lnTo>
                    <a:pt x="3038754" y="280073"/>
                  </a:lnTo>
                  <a:lnTo>
                    <a:pt x="3069716" y="221043"/>
                  </a:lnTo>
                  <a:lnTo>
                    <a:pt x="3100311" y="172440"/>
                  </a:lnTo>
                  <a:lnTo>
                    <a:pt x="3130918" y="135712"/>
                  </a:lnTo>
                  <a:lnTo>
                    <a:pt x="3161512" y="111239"/>
                  </a:lnTo>
                  <a:lnTo>
                    <a:pt x="3192475" y="98996"/>
                  </a:lnTo>
                  <a:lnTo>
                    <a:pt x="3223069" y="98996"/>
                  </a:lnTo>
                  <a:lnTo>
                    <a:pt x="3284639" y="135000"/>
                  </a:lnTo>
                  <a:lnTo>
                    <a:pt x="3315233" y="169913"/>
                  </a:lnTo>
                  <a:lnTo>
                    <a:pt x="3345840" y="214922"/>
                  </a:lnTo>
                  <a:lnTo>
                    <a:pt x="3376434" y="268922"/>
                  </a:lnTo>
                  <a:lnTo>
                    <a:pt x="3407397" y="331203"/>
                  </a:lnTo>
                  <a:lnTo>
                    <a:pt x="3437991" y="399592"/>
                  </a:lnTo>
                  <a:lnTo>
                    <a:pt x="3468598" y="473392"/>
                  </a:lnTo>
                  <a:lnTo>
                    <a:pt x="3499192" y="550443"/>
                  </a:lnTo>
                  <a:lnTo>
                    <a:pt x="3530155" y="629640"/>
                  </a:lnTo>
                  <a:lnTo>
                    <a:pt x="3560749" y="709561"/>
                  </a:lnTo>
                  <a:lnTo>
                    <a:pt x="3591356" y="788403"/>
                  </a:lnTo>
                  <a:lnTo>
                    <a:pt x="3622319" y="864717"/>
                  </a:lnTo>
                  <a:lnTo>
                    <a:pt x="3652913" y="937082"/>
                  </a:lnTo>
                  <a:lnTo>
                    <a:pt x="3683520" y="1004036"/>
                  </a:lnTo>
                  <a:lnTo>
                    <a:pt x="3714114" y="1064882"/>
                  </a:lnTo>
                  <a:lnTo>
                    <a:pt x="3745077" y="1118514"/>
                  </a:lnTo>
                  <a:lnTo>
                    <a:pt x="3775671" y="1163878"/>
                  </a:lnTo>
                  <a:lnTo>
                    <a:pt x="3806278" y="1200594"/>
                  </a:lnTo>
                  <a:lnTo>
                    <a:pt x="3836873" y="1227962"/>
                  </a:lnTo>
                  <a:lnTo>
                    <a:pt x="3898430" y="1254594"/>
                  </a:lnTo>
                  <a:lnTo>
                    <a:pt x="3929037" y="1253883"/>
                  </a:lnTo>
                  <a:lnTo>
                    <a:pt x="3990594" y="1225435"/>
                  </a:lnTo>
                  <a:lnTo>
                    <a:pt x="4021201" y="1199159"/>
                  </a:lnTo>
                  <a:lnTo>
                    <a:pt x="4051795" y="1165682"/>
                  </a:lnTo>
                  <a:lnTo>
                    <a:pt x="4082757" y="1125715"/>
                  </a:lnTo>
                  <a:lnTo>
                    <a:pt x="4113352" y="1080719"/>
                  </a:lnTo>
                  <a:lnTo>
                    <a:pt x="4143959" y="1031760"/>
                  </a:lnTo>
                  <a:lnTo>
                    <a:pt x="4174553" y="979563"/>
                  </a:lnTo>
                  <a:lnTo>
                    <a:pt x="4205516" y="925194"/>
                  </a:lnTo>
                  <a:lnTo>
                    <a:pt x="4236110" y="870483"/>
                  </a:lnTo>
                  <a:lnTo>
                    <a:pt x="4266717" y="815759"/>
                  </a:lnTo>
                  <a:lnTo>
                    <a:pt x="4297680" y="762482"/>
                  </a:lnTo>
                </a:path>
              </a:pathLst>
            </a:custGeom>
            <a:ln w="2843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406284" y="2890075"/>
              <a:ext cx="4297680" cy="1076960"/>
            </a:xfrm>
            <a:custGeom>
              <a:avLst/>
              <a:gdLst/>
              <a:ahLst/>
              <a:cxnLst/>
              <a:rect l="l" t="t" r="r" b="b"/>
              <a:pathLst>
                <a:path w="4297680" h="1076960">
                  <a:moveTo>
                    <a:pt x="0" y="538568"/>
                  </a:moveTo>
                  <a:lnTo>
                    <a:pt x="30594" y="500761"/>
                  </a:lnTo>
                  <a:lnTo>
                    <a:pt x="61201" y="462241"/>
                  </a:lnTo>
                  <a:lnTo>
                    <a:pt x="91795" y="423367"/>
                  </a:lnTo>
                  <a:lnTo>
                    <a:pt x="122758" y="385203"/>
                  </a:lnTo>
                  <a:lnTo>
                    <a:pt x="153352" y="348119"/>
                  </a:lnTo>
                  <a:lnTo>
                    <a:pt x="183959" y="313563"/>
                  </a:lnTo>
                  <a:lnTo>
                    <a:pt x="214553" y="281889"/>
                  </a:lnTo>
                  <a:lnTo>
                    <a:pt x="245516" y="253809"/>
                  </a:lnTo>
                  <a:lnTo>
                    <a:pt x="276110" y="230047"/>
                  </a:lnTo>
                  <a:lnTo>
                    <a:pt x="337311" y="198361"/>
                  </a:lnTo>
                  <a:lnTo>
                    <a:pt x="398881" y="190804"/>
                  </a:lnTo>
                  <a:lnTo>
                    <a:pt x="429475" y="196926"/>
                  </a:lnTo>
                  <a:lnTo>
                    <a:pt x="491032" y="228968"/>
                  </a:lnTo>
                  <a:lnTo>
                    <a:pt x="521639" y="254888"/>
                  </a:lnTo>
                  <a:lnTo>
                    <a:pt x="552234" y="286918"/>
                  </a:lnTo>
                  <a:lnTo>
                    <a:pt x="583196" y="324726"/>
                  </a:lnTo>
                  <a:lnTo>
                    <a:pt x="613790" y="367563"/>
                  </a:lnTo>
                  <a:lnTo>
                    <a:pt x="644398" y="415086"/>
                  </a:lnTo>
                  <a:lnTo>
                    <a:pt x="674992" y="466204"/>
                  </a:lnTo>
                  <a:lnTo>
                    <a:pt x="705954" y="519849"/>
                  </a:lnTo>
                  <a:lnTo>
                    <a:pt x="736561" y="575640"/>
                  </a:lnTo>
                  <a:lnTo>
                    <a:pt x="767156" y="631799"/>
                  </a:lnTo>
                  <a:lnTo>
                    <a:pt x="798118" y="687959"/>
                  </a:lnTo>
                  <a:lnTo>
                    <a:pt x="828713" y="742327"/>
                  </a:lnTo>
                  <a:lnTo>
                    <a:pt x="859320" y="794524"/>
                  </a:lnTo>
                  <a:lnTo>
                    <a:pt x="889914" y="842759"/>
                  </a:lnTo>
                  <a:lnTo>
                    <a:pt x="920876" y="886688"/>
                  </a:lnTo>
                  <a:lnTo>
                    <a:pt x="951471" y="924839"/>
                  </a:lnTo>
                  <a:lnTo>
                    <a:pt x="982078" y="956525"/>
                  </a:lnTo>
                  <a:lnTo>
                    <a:pt x="1012672" y="981367"/>
                  </a:lnTo>
                  <a:lnTo>
                    <a:pt x="1074229" y="1006563"/>
                  </a:lnTo>
                  <a:lnTo>
                    <a:pt x="1104836" y="1006563"/>
                  </a:lnTo>
                  <a:lnTo>
                    <a:pt x="1166393" y="980643"/>
                  </a:lnTo>
                  <a:lnTo>
                    <a:pt x="1197000" y="954722"/>
                  </a:lnTo>
                  <a:lnTo>
                    <a:pt x="1227594" y="920521"/>
                  </a:lnTo>
                  <a:lnTo>
                    <a:pt x="1258557" y="878763"/>
                  </a:lnTo>
                  <a:lnTo>
                    <a:pt x="1289151" y="830160"/>
                  </a:lnTo>
                  <a:lnTo>
                    <a:pt x="1319758" y="775081"/>
                  </a:lnTo>
                  <a:lnTo>
                    <a:pt x="1350352" y="715327"/>
                  </a:lnTo>
                  <a:lnTo>
                    <a:pt x="1381315" y="651243"/>
                  </a:lnTo>
                  <a:lnTo>
                    <a:pt x="1411909" y="583920"/>
                  </a:lnTo>
                  <a:lnTo>
                    <a:pt x="1442516" y="515518"/>
                  </a:lnTo>
                  <a:lnTo>
                    <a:pt x="1473479" y="446404"/>
                  </a:lnTo>
                  <a:lnTo>
                    <a:pt x="1504073" y="378002"/>
                  </a:lnTo>
                  <a:lnTo>
                    <a:pt x="1534680" y="312127"/>
                  </a:lnTo>
                  <a:lnTo>
                    <a:pt x="1565275" y="249847"/>
                  </a:lnTo>
                  <a:lnTo>
                    <a:pt x="1596237" y="191884"/>
                  </a:lnTo>
                  <a:lnTo>
                    <a:pt x="1626831" y="140042"/>
                  </a:lnTo>
                  <a:lnTo>
                    <a:pt x="1657438" y="95046"/>
                  </a:lnTo>
                  <a:lnTo>
                    <a:pt x="1688033" y="57962"/>
                  </a:lnTo>
                  <a:lnTo>
                    <a:pt x="1718995" y="29527"/>
                  </a:lnTo>
                  <a:lnTo>
                    <a:pt x="1780197" y="0"/>
                  </a:lnTo>
                  <a:lnTo>
                    <a:pt x="1811159" y="368"/>
                  </a:lnTo>
                  <a:lnTo>
                    <a:pt x="1872360" y="29883"/>
                  </a:lnTo>
                  <a:lnTo>
                    <a:pt x="1902955" y="59042"/>
                  </a:lnTo>
                  <a:lnTo>
                    <a:pt x="1933917" y="97205"/>
                  </a:lnTo>
                  <a:lnTo>
                    <a:pt x="1964512" y="143649"/>
                  </a:lnTo>
                  <a:lnTo>
                    <a:pt x="1995119" y="197281"/>
                  </a:lnTo>
                  <a:lnTo>
                    <a:pt x="2025713" y="257403"/>
                  </a:lnTo>
                  <a:lnTo>
                    <a:pt x="2056676" y="322922"/>
                  </a:lnTo>
                  <a:lnTo>
                    <a:pt x="2087270" y="392404"/>
                  </a:lnTo>
                  <a:lnTo>
                    <a:pt x="2117877" y="464769"/>
                  </a:lnTo>
                  <a:lnTo>
                    <a:pt x="2148839" y="538568"/>
                  </a:lnTo>
                  <a:lnTo>
                    <a:pt x="2179434" y="612000"/>
                  </a:lnTo>
                  <a:lnTo>
                    <a:pt x="2210041" y="684364"/>
                  </a:lnTo>
                  <a:lnTo>
                    <a:pt x="2240635" y="753846"/>
                  </a:lnTo>
                  <a:lnTo>
                    <a:pt x="2271598" y="819365"/>
                  </a:lnTo>
                  <a:lnTo>
                    <a:pt x="2302192" y="879487"/>
                  </a:lnTo>
                  <a:lnTo>
                    <a:pt x="2332799" y="933119"/>
                  </a:lnTo>
                  <a:lnTo>
                    <a:pt x="2363393" y="979563"/>
                  </a:lnTo>
                  <a:lnTo>
                    <a:pt x="2394356" y="1017727"/>
                  </a:lnTo>
                  <a:lnTo>
                    <a:pt x="2424950" y="1046886"/>
                  </a:lnTo>
                  <a:lnTo>
                    <a:pt x="2486152" y="1076401"/>
                  </a:lnTo>
                  <a:lnTo>
                    <a:pt x="2517114" y="1076769"/>
                  </a:lnTo>
                  <a:lnTo>
                    <a:pt x="2547721" y="1066685"/>
                  </a:lnTo>
                  <a:lnTo>
                    <a:pt x="2609278" y="1018806"/>
                  </a:lnTo>
                  <a:lnTo>
                    <a:pt x="2639872" y="981722"/>
                  </a:lnTo>
                  <a:lnTo>
                    <a:pt x="2670479" y="936726"/>
                  </a:lnTo>
                  <a:lnTo>
                    <a:pt x="2701074" y="884885"/>
                  </a:lnTo>
                  <a:lnTo>
                    <a:pt x="2732036" y="826922"/>
                  </a:lnTo>
                  <a:lnTo>
                    <a:pt x="2762630" y="764641"/>
                  </a:lnTo>
                  <a:lnTo>
                    <a:pt x="2793237" y="698766"/>
                  </a:lnTo>
                  <a:lnTo>
                    <a:pt x="2823832" y="630364"/>
                  </a:lnTo>
                  <a:lnTo>
                    <a:pt x="2854794" y="561238"/>
                  </a:lnTo>
                  <a:lnTo>
                    <a:pt x="2885401" y="492848"/>
                  </a:lnTo>
                  <a:lnTo>
                    <a:pt x="2915996" y="425526"/>
                  </a:lnTo>
                  <a:lnTo>
                    <a:pt x="2946958" y="361441"/>
                  </a:lnTo>
                  <a:lnTo>
                    <a:pt x="2977553" y="301688"/>
                  </a:lnTo>
                  <a:lnTo>
                    <a:pt x="3008160" y="246608"/>
                  </a:lnTo>
                  <a:lnTo>
                    <a:pt x="3038754" y="198005"/>
                  </a:lnTo>
                  <a:lnTo>
                    <a:pt x="3069716" y="156248"/>
                  </a:lnTo>
                  <a:lnTo>
                    <a:pt x="3100311" y="122047"/>
                  </a:lnTo>
                  <a:lnTo>
                    <a:pt x="3130918" y="96126"/>
                  </a:lnTo>
                  <a:lnTo>
                    <a:pt x="3192475" y="70205"/>
                  </a:lnTo>
                  <a:lnTo>
                    <a:pt x="3223069" y="70205"/>
                  </a:lnTo>
                  <a:lnTo>
                    <a:pt x="3284639" y="95402"/>
                  </a:lnTo>
                  <a:lnTo>
                    <a:pt x="3315233" y="120243"/>
                  </a:lnTo>
                  <a:lnTo>
                    <a:pt x="3345840" y="151930"/>
                  </a:lnTo>
                  <a:lnTo>
                    <a:pt x="3376434" y="190080"/>
                  </a:lnTo>
                  <a:lnTo>
                    <a:pt x="3407397" y="234010"/>
                  </a:lnTo>
                  <a:lnTo>
                    <a:pt x="3437991" y="282244"/>
                  </a:lnTo>
                  <a:lnTo>
                    <a:pt x="3468598" y="334441"/>
                  </a:lnTo>
                  <a:lnTo>
                    <a:pt x="3499192" y="388810"/>
                  </a:lnTo>
                  <a:lnTo>
                    <a:pt x="3530155" y="444969"/>
                  </a:lnTo>
                  <a:lnTo>
                    <a:pt x="3560749" y="501129"/>
                  </a:lnTo>
                  <a:lnTo>
                    <a:pt x="3591356" y="556920"/>
                  </a:lnTo>
                  <a:lnTo>
                    <a:pt x="3622319" y="610565"/>
                  </a:lnTo>
                  <a:lnTo>
                    <a:pt x="3652913" y="661682"/>
                  </a:lnTo>
                  <a:lnTo>
                    <a:pt x="3683520" y="709206"/>
                  </a:lnTo>
                  <a:lnTo>
                    <a:pt x="3714114" y="752043"/>
                  </a:lnTo>
                  <a:lnTo>
                    <a:pt x="3745077" y="789838"/>
                  </a:lnTo>
                  <a:lnTo>
                    <a:pt x="3775671" y="821880"/>
                  </a:lnTo>
                  <a:lnTo>
                    <a:pt x="3806278" y="847801"/>
                  </a:lnTo>
                  <a:lnTo>
                    <a:pt x="3867835" y="879843"/>
                  </a:lnTo>
                  <a:lnTo>
                    <a:pt x="3898430" y="885964"/>
                  </a:lnTo>
                  <a:lnTo>
                    <a:pt x="3929037" y="885240"/>
                  </a:lnTo>
                  <a:lnTo>
                    <a:pt x="3990594" y="865441"/>
                  </a:lnTo>
                  <a:lnTo>
                    <a:pt x="4051795" y="822960"/>
                  </a:lnTo>
                  <a:lnTo>
                    <a:pt x="4082757" y="794880"/>
                  </a:lnTo>
                  <a:lnTo>
                    <a:pt x="4113352" y="763206"/>
                  </a:lnTo>
                  <a:lnTo>
                    <a:pt x="4143959" y="728649"/>
                  </a:lnTo>
                  <a:lnTo>
                    <a:pt x="4174553" y="691565"/>
                  </a:lnTo>
                  <a:lnTo>
                    <a:pt x="4205516" y="653402"/>
                  </a:lnTo>
                  <a:lnTo>
                    <a:pt x="4236110" y="614527"/>
                  </a:lnTo>
                  <a:lnTo>
                    <a:pt x="4266717" y="576008"/>
                  </a:lnTo>
                  <a:lnTo>
                    <a:pt x="4297680" y="538568"/>
                  </a:lnTo>
                </a:path>
              </a:pathLst>
            </a:custGeom>
            <a:ln w="15839">
              <a:solidFill>
                <a:srgbClr val="B8A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731519" y="4983479"/>
            <a:ext cx="5303520" cy="635"/>
          </a:xfrm>
          <a:custGeom>
            <a:avLst/>
            <a:gdLst/>
            <a:ahLst/>
            <a:cxnLst/>
            <a:rect l="l" t="t" r="r" b="b"/>
            <a:pathLst>
              <a:path w="5303520" h="635">
                <a:moveTo>
                  <a:pt x="0" y="0"/>
                </a:moveTo>
                <a:lnTo>
                  <a:pt x="5303520" y="355"/>
                </a:lnTo>
              </a:path>
            </a:pathLst>
          </a:custGeom>
          <a:ln w="12599">
            <a:solidFill>
              <a:srgbClr val="DBD5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18464" y="5076997"/>
            <a:ext cx="326771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100"/>
              </a:spcBef>
            </a:pPr>
            <a:r>
              <a:rPr dirty="0" sz="1700" spc="-75">
                <a:solidFill>
                  <a:srgbClr val="6A648F"/>
                </a:solidFill>
                <a:latin typeface="Verdana"/>
                <a:cs typeface="Verdana"/>
              </a:rPr>
              <a:t>Digital</a:t>
            </a:r>
            <a:r>
              <a:rPr dirty="0" sz="17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6A648F"/>
                </a:solidFill>
                <a:latin typeface="Verdana"/>
                <a:cs typeface="Verdana"/>
              </a:rPr>
              <a:t>Twin</a:t>
            </a:r>
            <a:r>
              <a:rPr dirty="0" sz="17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6A648F"/>
                </a:solidFill>
                <a:latin typeface="Verdana"/>
                <a:cs typeface="Verdana"/>
              </a:rPr>
              <a:t>Challenge</a:t>
            </a:r>
            <a:r>
              <a:rPr dirty="0" sz="17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6A648F"/>
                </a:solidFill>
                <a:latin typeface="Verdana"/>
                <a:cs typeface="Verdana"/>
              </a:rPr>
              <a:t>2026 </a:t>
            </a:r>
            <a:r>
              <a:rPr dirty="0" sz="1700" spc="-55">
                <a:solidFill>
                  <a:srgbClr val="6A648F"/>
                </a:solidFill>
                <a:latin typeface="Verdana"/>
                <a:cs typeface="Verdana"/>
              </a:rPr>
              <a:t>Chennai</a:t>
            </a:r>
            <a:r>
              <a:rPr dirty="0" sz="1700" spc="-105">
                <a:solidFill>
                  <a:srgbClr val="6A648F"/>
                </a:solidFill>
                <a:latin typeface="Verdana"/>
                <a:cs typeface="Verdana"/>
              </a:rPr>
              <a:t> Institute</a:t>
            </a:r>
            <a:r>
              <a:rPr dirty="0" sz="17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6A648F"/>
                </a:solidFill>
                <a:latin typeface="Verdana"/>
                <a:cs typeface="Verdana"/>
              </a:rPr>
              <a:t>of</a:t>
            </a:r>
            <a:r>
              <a:rPr dirty="0" sz="17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6A648F"/>
                </a:solidFill>
                <a:latin typeface="Verdana"/>
                <a:cs typeface="Verdana"/>
              </a:rPr>
              <a:t>Technology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26983" y="6022340"/>
            <a:ext cx="35756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Research</a:t>
            </a:r>
            <a:r>
              <a:rPr dirty="0" sz="12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prototype</a:t>
            </a:r>
            <a:r>
              <a:rPr dirty="0" sz="12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6A648F"/>
                </a:solidFill>
                <a:latin typeface="Verdana"/>
                <a:cs typeface="Verdana"/>
              </a:rPr>
              <a:t>fictional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A648F"/>
                </a:solidFill>
                <a:latin typeface="Verdana"/>
                <a:cs typeface="Verdana"/>
              </a:rPr>
              <a:t>demonstration</a:t>
            </a:r>
            <a:r>
              <a:rPr dirty="0" sz="12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6A648F"/>
                </a:solidFill>
                <a:latin typeface="Verdana"/>
                <a:cs typeface="Verdana"/>
              </a:rPr>
              <a:t>data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1486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H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4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P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25" b="1">
                <a:solidFill>
                  <a:srgbClr val="7B5BFF"/>
                </a:solidFill>
                <a:latin typeface="Verdana"/>
                <a:cs typeface="Verdana"/>
              </a:rPr>
              <a:t>B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0" b="1">
                <a:solidFill>
                  <a:srgbClr val="7B5BFF"/>
                </a:solidFill>
                <a:latin typeface="Verdana"/>
                <a:cs typeface="Verdana"/>
              </a:rPr>
              <a:t>L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M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65"/>
              <a:t>Making</a:t>
            </a:r>
            <a:r>
              <a:rPr dirty="0" spc="-330"/>
              <a:t> </a:t>
            </a:r>
            <a:r>
              <a:rPr dirty="0" spc="-275"/>
              <a:t>respiratory</a:t>
            </a:r>
            <a:r>
              <a:rPr dirty="0" spc="-330"/>
              <a:t> </a:t>
            </a:r>
            <a:r>
              <a:rPr dirty="0" spc="-254"/>
              <a:t>observations</a:t>
            </a:r>
            <a:r>
              <a:rPr dirty="0" spc="-330"/>
              <a:t> </a:t>
            </a:r>
            <a:r>
              <a:rPr dirty="0" spc="-155"/>
              <a:t>useful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8931135" y="1751660"/>
            <a:ext cx="24333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measured</a:t>
            </a:r>
            <a:r>
              <a:rPr dirty="0" sz="1200" spc="-100" b="1">
                <a:solidFill>
                  <a:srgbClr val="7B5BFF"/>
                </a:solidFill>
                <a:latin typeface="Verdana"/>
                <a:cs typeface="Verdana"/>
              </a:rPr>
              <a:t> day </a:t>
            </a:r>
            <a:r>
              <a:rPr dirty="0" sz="1200" spc="-85" b="1">
                <a:solidFill>
                  <a:srgbClr val="7B5BFF"/>
                </a:solidFill>
                <a:latin typeface="Verdana"/>
                <a:cs typeface="Verdana"/>
              </a:rPr>
              <a:t>6</a:t>
            </a:r>
            <a:r>
              <a:rPr dirty="0" sz="1200" spc="-10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45" b="1">
                <a:solidFill>
                  <a:srgbClr val="7B5BFF"/>
                </a:solidFill>
                <a:latin typeface="Verdana"/>
                <a:cs typeface="Verdana"/>
              </a:rPr>
              <a:t>·</a:t>
            </a:r>
            <a:r>
              <a:rPr dirty="0" sz="1200" spc="-10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available</a:t>
            </a:r>
            <a:r>
              <a:rPr dirty="0" sz="1200" spc="-9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0" b="1">
                <a:solidFill>
                  <a:srgbClr val="7B5BFF"/>
                </a:solidFill>
                <a:latin typeface="Verdana"/>
                <a:cs typeface="Verdana"/>
              </a:rPr>
              <a:t>day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7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584" y="2204542"/>
            <a:ext cx="4972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40" b="1">
                <a:solidFill>
                  <a:srgbClr val="423A67"/>
                </a:solidFill>
                <a:latin typeface="Verdana"/>
                <a:cs typeface="Verdana"/>
              </a:rPr>
              <a:t>SpO₂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86216" y="2206256"/>
            <a:ext cx="9460865" cy="250825"/>
            <a:chOff x="1886216" y="2206256"/>
            <a:chExt cx="9460865" cy="250825"/>
          </a:xfrm>
        </p:grpSpPr>
        <p:sp>
          <p:nvSpPr>
            <p:cNvPr id="5" name="object 5"/>
            <p:cNvSpPr/>
            <p:nvPr/>
          </p:nvSpPr>
          <p:spPr>
            <a:xfrm>
              <a:off x="2011680" y="2331720"/>
              <a:ext cx="9326880" cy="635"/>
            </a:xfrm>
            <a:custGeom>
              <a:avLst/>
              <a:gdLst/>
              <a:ahLst/>
              <a:cxnLst/>
              <a:rect l="l" t="t" r="r" b="b"/>
              <a:pathLst>
                <a:path w="9326880" h="635">
                  <a:moveTo>
                    <a:pt x="0" y="0"/>
                  </a:moveTo>
                  <a:lnTo>
                    <a:pt x="9326880" y="355"/>
                  </a:lnTo>
                </a:path>
              </a:pathLst>
            </a:custGeom>
            <a:ln w="1583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6216" y="2206256"/>
              <a:ext cx="250204" cy="2502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0696" y="2206256"/>
              <a:ext cx="250204" cy="2502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4136" y="2206256"/>
              <a:ext cx="250204" cy="2502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5176" y="2206256"/>
              <a:ext cx="250204" cy="2502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49656" y="2206256"/>
              <a:ext cx="250204" cy="2502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58616" y="2206256"/>
              <a:ext cx="250204" cy="25020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921240" y="2331720"/>
              <a:ext cx="1209675" cy="635"/>
            </a:xfrm>
            <a:custGeom>
              <a:avLst/>
              <a:gdLst/>
              <a:ahLst/>
              <a:cxnLst/>
              <a:rect l="l" t="t" r="r" b="b"/>
              <a:pathLst>
                <a:path w="1209675" h="635">
                  <a:moveTo>
                    <a:pt x="0" y="0"/>
                  </a:moveTo>
                  <a:lnTo>
                    <a:pt x="1209598" y="355"/>
                  </a:lnTo>
                </a:path>
              </a:pathLst>
            </a:custGeom>
            <a:ln w="19079">
              <a:solidFill>
                <a:srgbClr val="7B5B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125797" y="22942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517616" y="2501531"/>
            <a:ext cx="575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5">
                <a:solidFill>
                  <a:srgbClr val="6A648F"/>
                </a:solidFill>
                <a:latin typeface="Verdana"/>
                <a:cs typeface="Verdana"/>
              </a:rPr>
              <a:t>missing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5584" y="3393262"/>
            <a:ext cx="10229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25" b="1">
                <a:solidFill>
                  <a:srgbClr val="423A67"/>
                </a:solidFill>
                <a:latin typeface="Verdana"/>
                <a:cs typeface="Verdana"/>
              </a:rPr>
              <a:t>Symptoms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03760" y="3376624"/>
            <a:ext cx="9342755" cy="287020"/>
            <a:chOff x="2003760" y="3376624"/>
            <a:chExt cx="9342755" cy="287020"/>
          </a:xfrm>
        </p:grpSpPr>
        <p:sp>
          <p:nvSpPr>
            <p:cNvPr id="16" name="object 16"/>
            <p:cNvSpPr/>
            <p:nvPr/>
          </p:nvSpPr>
          <p:spPr>
            <a:xfrm>
              <a:off x="2011679" y="3520440"/>
              <a:ext cx="9326880" cy="635"/>
            </a:xfrm>
            <a:custGeom>
              <a:avLst/>
              <a:gdLst/>
              <a:ahLst/>
              <a:cxnLst/>
              <a:rect l="l" t="t" r="r" b="b"/>
              <a:pathLst>
                <a:path w="9326880" h="635">
                  <a:moveTo>
                    <a:pt x="0" y="0"/>
                  </a:moveTo>
                  <a:lnTo>
                    <a:pt x="9326880" y="355"/>
                  </a:lnTo>
                </a:path>
              </a:pathLst>
            </a:custGeom>
            <a:ln w="1583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428644" y="3382924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236156" y="0"/>
                  </a:moveTo>
                  <a:lnTo>
                    <a:pt x="37795" y="0"/>
                  </a:lnTo>
                  <a:lnTo>
                    <a:pt x="29870" y="2158"/>
                  </a:lnTo>
                  <a:lnTo>
                    <a:pt x="23037" y="6121"/>
                  </a:lnTo>
                  <a:lnTo>
                    <a:pt x="15836" y="10071"/>
                  </a:lnTo>
                  <a:lnTo>
                    <a:pt x="10071" y="15836"/>
                  </a:lnTo>
                  <a:lnTo>
                    <a:pt x="6121" y="22669"/>
                  </a:lnTo>
                  <a:lnTo>
                    <a:pt x="2159" y="29870"/>
                  </a:lnTo>
                  <a:lnTo>
                    <a:pt x="0" y="37795"/>
                  </a:lnTo>
                  <a:lnTo>
                    <a:pt x="0" y="236512"/>
                  </a:lnTo>
                  <a:lnTo>
                    <a:pt x="2062" y="244081"/>
                  </a:lnTo>
                  <a:lnTo>
                    <a:pt x="2159" y="244436"/>
                  </a:lnTo>
                  <a:lnTo>
                    <a:pt x="6121" y="251269"/>
                  </a:lnTo>
                  <a:lnTo>
                    <a:pt x="10071" y="258470"/>
                  </a:lnTo>
                  <a:lnTo>
                    <a:pt x="15836" y="264236"/>
                  </a:lnTo>
                  <a:lnTo>
                    <a:pt x="22669" y="268198"/>
                  </a:lnTo>
                  <a:lnTo>
                    <a:pt x="29870" y="272160"/>
                  </a:lnTo>
                  <a:lnTo>
                    <a:pt x="37795" y="274319"/>
                  </a:lnTo>
                  <a:lnTo>
                    <a:pt x="45720" y="274319"/>
                  </a:lnTo>
                  <a:lnTo>
                    <a:pt x="236512" y="273951"/>
                  </a:lnTo>
                  <a:lnTo>
                    <a:pt x="244436" y="271792"/>
                  </a:lnTo>
                  <a:lnTo>
                    <a:pt x="251269" y="267830"/>
                  </a:lnTo>
                  <a:lnTo>
                    <a:pt x="258470" y="263880"/>
                  </a:lnTo>
                  <a:lnTo>
                    <a:pt x="274320" y="228231"/>
                  </a:lnTo>
                  <a:lnTo>
                    <a:pt x="273951" y="45719"/>
                  </a:lnTo>
                  <a:lnTo>
                    <a:pt x="273951" y="37795"/>
                  </a:lnTo>
                  <a:lnTo>
                    <a:pt x="271792" y="29870"/>
                  </a:lnTo>
                  <a:lnTo>
                    <a:pt x="267830" y="23037"/>
                  </a:lnTo>
                  <a:lnTo>
                    <a:pt x="263880" y="15836"/>
                  </a:lnTo>
                  <a:lnTo>
                    <a:pt x="258114" y="10071"/>
                  </a:lnTo>
                  <a:lnTo>
                    <a:pt x="251269" y="6121"/>
                  </a:lnTo>
                  <a:lnTo>
                    <a:pt x="244081" y="2158"/>
                  </a:lnTo>
                  <a:lnTo>
                    <a:pt x="236156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428644" y="3382924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45719"/>
                  </a:moveTo>
                  <a:lnTo>
                    <a:pt x="0" y="37795"/>
                  </a:lnTo>
                  <a:lnTo>
                    <a:pt x="2159" y="29870"/>
                  </a:lnTo>
                  <a:lnTo>
                    <a:pt x="6121" y="22669"/>
                  </a:lnTo>
                  <a:lnTo>
                    <a:pt x="10071" y="15836"/>
                  </a:lnTo>
                  <a:lnTo>
                    <a:pt x="15836" y="10071"/>
                  </a:lnTo>
                  <a:lnTo>
                    <a:pt x="23037" y="6121"/>
                  </a:lnTo>
                  <a:lnTo>
                    <a:pt x="29870" y="2158"/>
                  </a:lnTo>
                  <a:lnTo>
                    <a:pt x="37795" y="0"/>
                  </a:lnTo>
                  <a:lnTo>
                    <a:pt x="45720" y="0"/>
                  </a:lnTo>
                  <a:lnTo>
                    <a:pt x="228231" y="0"/>
                  </a:lnTo>
                  <a:lnTo>
                    <a:pt x="236156" y="0"/>
                  </a:lnTo>
                  <a:lnTo>
                    <a:pt x="244081" y="2158"/>
                  </a:lnTo>
                  <a:lnTo>
                    <a:pt x="251269" y="6121"/>
                  </a:lnTo>
                  <a:lnTo>
                    <a:pt x="258114" y="10071"/>
                  </a:lnTo>
                  <a:lnTo>
                    <a:pt x="263880" y="15836"/>
                  </a:lnTo>
                  <a:lnTo>
                    <a:pt x="267830" y="23037"/>
                  </a:lnTo>
                  <a:lnTo>
                    <a:pt x="271792" y="29870"/>
                  </a:lnTo>
                  <a:lnTo>
                    <a:pt x="273951" y="37795"/>
                  </a:lnTo>
                  <a:lnTo>
                    <a:pt x="273951" y="45719"/>
                  </a:lnTo>
                  <a:lnTo>
                    <a:pt x="274320" y="228231"/>
                  </a:lnTo>
                  <a:lnTo>
                    <a:pt x="274320" y="236156"/>
                  </a:lnTo>
                  <a:lnTo>
                    <a:pt x="272161" y="244081"/>
                  </a:lnTo>
                  <a:lnTo>
                    <a:pt x="268198" y="251269"/>
                  </a:lnTo>
                  <a:lnTo>
                    <a:pt x="264236" y="258114"/>
                  </a:lnTo>
                  <a:lnTo>
                    <a:pt x="258470" y="263880"/>
                  </a:lnTo>
                  <a:lnTo>
                    <a:pt x="251269" y="267830"/>
                  </a:lnTo>
                  <a:lnTo>
                    <a:pt x="244436" y="271792"/>
                  </a:lnTo>
                  <a:lnTo>
                    <a:pt x="236512" y="273951"/>
                  </a:lnTo>
                  <a:lnTo>
                    <a:pt x="228600" y="273951"/>
                  </a:lnTo>
                  <a:lnTo>
                    <a:pt x="45720" y="274319"/>
                  </a:lnTo>
                  <a:lnTo>
                    <a:pt x="37795" y="274319"/>
                  </a:lnTo>
                  <a:lnTo>
                    <a:pt x="29870" y="272160"/>
                  </a:lnTo>
                  <a:lnTo>
                    <a:pt x="22669" y="268198"/>
                  </a:lnTo>
                  <a:lnTo>
                    <a:pt x="15836" y="264236"/>
                  </a:lnTo>
                  <a:lnTo>
                    <a:pt x="10071" y="258470"/>
                  </a:lnTo>
                  <a:lnTo>
                    <a:pt x="6121" y="251269"/>
                  </a:lnTo>
                  <a:lnTo>
                    <a:pt x="2159" y="244436"/>
                  </a:lnTo>
                  <a:lnTo>
                    <a:pt x="0" y="236512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1259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646564" y="3382924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236156" y="0"/>
                  </a:moveTo>
                  <a:lnTo>
                    <a:pt x="37795" y="0"/>
                  </a:lnTo>
                  <a:lnTo>
                    <a:pt x="29870" y="2158"/>
                  </a:lnTo>
                  <a:lnTo>
                    <a:pt x="23037" y="6121"/>
                  </a:lnTo>
                  <a:lnTo>
                    <a:pt x="15836" y="10071"/>
                  </a:lnTo>
                  <a:lnTo>
                    <a:pt x="10071" y="15836"/>
                  </a:lnTo>
                  <a:lnTo>
                    <a:pt x="6121" y="22669"/>
                  </a:lnTo>
                  <a:lnTo>
                    <a:pt x="2158" y="29870"/>
                  </a:lnTo>
                  <a:lnTo>
                    <a:pt x="0" y="37795"/>
                  </a:lnTo>
                  <a:lnTo>
                    <a:pt x="0" y="236512"/>
                  </a:lnTo>
                  <a:lnTo>
                    <a:pt x="2062" y="244081"/>
                  </a:lnTo>
                  <a:lnTo>
                    <a:pt x="2158" y="244436"/>
                  </a:lnTo>
                  <a:lnTo>
                    <a:pt x="6121" y="251269"/>
                  </a:lnTo>
                  <a:lnTo>
                    <a:pt x="10071" y="258470"/>
                  </a:lnTo>
                  <a:lnTo>
                    <a:pt x="15836" y="264236"/>
                  </a:lnTo>
                  <a:lnTo>
                    <a:pt x="22669" y="268198"/>
                  </a:lnTo>
                  <a:lnTo>
                    <a:pt x="29870" y="272160"/>
                  </a:lnTo>
                  <a:lnTo>
                    <a:pt x="37795" y="274319"/>
                  </a:lnTo>
                  <a:lnTo>
                    <a:pt x="45720" y="274319"/>
                  </a:lnTo>
                  <a:lnTo>
                    <a:pt x="236512" y="273951"/>
                  </a:lnTo>
                  <a:lnTo>
                    <a:pt x="244436" y="271792"/>
                  </a:lnTo>
                  <a:lnTo>
                    <a:pt x="251269" y="267830"/>
                  </a:lnTo>
                  <a:lnTo>
                    <a:pt x="258470" y="263880"/>
                  </a:lnTo>
                  <a:lnTo>
                    <a:pt x="274320" y="228231"/>
                  </a:lnTo>
                  <a:lnTo>
                    <a:pt x="273951" y="45719"/>
                  </a:lnTo>
                  <a:lnTo>
                    <a:pt x="273951" y="37795"/>
                  </a:lnTo>
                  <a:lnTo>
                    <a:pt x="271792" y="29870"/>
                  </a:lnTo>
                  <a:lnTo>
                    <a:pt x="267830" y="23037"/>
                  </a:lnTo>
                  <a:lnTo>
                    <a:pt x="263880" y="15836"/>
                  </a:lnTo>
                  <a:lnTo>
                    <a:pt x="258114" y="10071"/>
                  </a:lnTo>
                  <a:lnTo>
                    <a:pt x="251269" y="6121"/>
                  </a:lnTo>
                  <a:lnTo>
                    <a:pt x="244081" y="2158"/>
                  </a:lnTo>
                  <a:lnTo>
                    <a:pt x="236156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646564" y="3382924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45719"/>
                  </a:moveTo>
                  <a:lnTo>
                    <a:pt x="0" y="37795"/>
                  </a:lnTo>
                  <a:lnTo>
                    <a:pt x="2158" y="29870"/>
                  </a:lnTo>
                  <a:lnTo>
                    <a:pt x="6121" y="22669"/>
                  </a:lnTo>
                  <a:lnTo>
                    <a:pt x="10071" y="15836"/>
                  </a:lnTo>
                  <a:lnTo>
                    <a:pt x="15836" y="10071"/>
                  </a:lnTo>
                  <a:lnTo>
                    <a:pt x="23037" y="6121"/>
                  </a:lnTo>
                  <a:lnTo>
                    <a:pt x="29870" y="2158"/>
                  </a:lnTo>
                  <a:lnTo>
                    <a:pt x="37795" y="0"/>
                  </a:lnTo>
                  <a:lnTo>
                    <a:pt x="45720" y="0"/>
                  </a:lnTo>
                  <a:lnTo>
                    <a:pt x="228231" y="0"/>
                  </a:lnTo>
                  <a:lnTo>
                    <a:pt x="236156" y="0"/>
                  </a:lnTo>
                  <a:lnTo>
                    <a:pt x="244081" y="2158"/>
                  </a:lnTo>
                  <a:lnTo>
                    <a:pt x="251269" y="6121"/>
                  </a:lnTo>
                  <a:lnTo>
                    <a:pt x="258114" y="10071"/>
                  </a:lnTo>
                  <a:lnTo>
                    <a:pt x="263880" y="15836"/>
                  </a:lnTo>
                  <a:lnTo>
                    <a:pt x="267830" y="23037"/>
                  </a:lnTo>
                  <a:lnTo>
                    <a:pt x="271792" y="29870"/>
                  </a:lnTo>
                  <a:lnTo>
                    <a:pt x="273951" y="37795"/>
                  </a:lnTo>
                  <a:lnTo>
                    <a:pt x="273951" y="45719"/>
                  </a:lnTo>
                  <a:lnTo>
                    <a:pt x="274320" y="228231"/>
                  </a:lnTo>
                  <a:lnTo>
                    <a:pt x="274320" y="236156"/>
                  </a:lnTo>
                  <a:lnTo>
                    <a:pt x="272160" y="244081"/>
                  </a:lnTo>
                  <a:lnTo>
                    <a:pt x="268198" y="251269"/>
                  </a:lnTo>
                  <a:lnTo>
                    <a:pt x="264236" y="258114"/>
                  </a:lnTo>
                  <a:lnTo>
                    <a:pt x="258470" y="263880"/>
                  </a:lnTo>
                  <a:lnTo>
                    <a:pt x="251269" y="267830"/>
                  </a:lnTo>
                  <a:lnTo>
                    <a:pt x="244436" y="271792"/>
                  </a:lnTo>
                  <a:lnTo>
                    <a:pt x="236512" y="273951"/>
                  </a:lnTo>
                  <a:lnTo>
                    <a:pt x="228600" y="273951"/>
                  </a:lnTo>
                  <a:lnTo>
                    <a:pt x="45720" y="274319"/>
                  </a:lnTo>
                  <a:lnTo>
                    <a:pt x="37795" y="274319"/>
                  </a:lnTo>
                  <a:lnTo>
                    <a:pt x="29870" y="272160"/>
                  </a:lnTo>
                  <a:lnTo>
                    <a:pt x="22669" y="268198"/>
                  </a:lnTo>
                  <a:lnTo>
                    <a:pt x="15836" y="264236"/>
                  </a:lnTo>
                  <a:lnTo>
                    <a:pt x="10071" y="258470"/>
                  </a:lnTo>
                  <a:lnTo>
                    <a:pt x="6121" y="251269"/>
                  </a:lnTo>
                  <a:lnTo>
                    <a:pt x="2158" y="244436"/>
                  </a:lnTo>
                  <a:lnTo>
                    <a:pt x="0" y="236512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1259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537604" y="3382924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236156" y="0"/>
                  </a:moveTo>
                  <a:lnTo>
                    <a:pt x="37795" y="0"/>
                  </a:lnTo>
                  <a:lnTo>
                    <a:pt x="29870" y="2158"/>
                  </a:lnTo>
                  <a:lnTo>
                    <a:pt x="23037" y="6121"/>
                  </a:lnTo>
                  <a:lnTo>
                    <a:pt x="15836" y="10071"/>
                  </a:lnTo>
                  <a:lnTo>
                    <a:pt x="10071" y="15836"/>
                  </a:lnTo>
                  <a:lnTo>
                    <a:pt x="6121" y="22669"/>
                  </a:lnTo>
                  <a:lnTo>
                    <a:pt x="2158" y="29870"/>
                  </a:lnTo>
                  <a:lnTo>
                    <a:pt x="0" y="37795"/>
                  </a:lnTo>
                  <a:lnTo>
                    <a:pt x="0" y="236512"/>
                  </a:lnTo>
                  <a:lnTo>
                    <a:pt x="2062" y="244081"/>
                  </a:lnTo>
                  <a:lnTo>
                    <a:pt x="2158" y="244436"/>
                  </a:lnTo>
                  <a:lnTo>
                    <a:pt x="6121" y="251269"/>
                  </a:lnTo>
                  <a:lnTo>
                    <a:pt x="10071" y="258470"/>
                  </a:lnTo>
                  <a:lnTo>
                    <a:pt x="15836" y="264236"/>
                  </a:lnTo>
                  <a:lnTo>
                    <a:pt x="22669" y="268198"/>
                  </a:lnTo>
                  <a:lnTo>
                    <a:pt x="29870" y="272160"/>
                  </a:lnTo>
                  <a:lnTo>
                    <a:pt x="37795" y="274319"/>
                  </a:lnTo>
                  <a:lnTo>
                    <a:pt x="45719" y="274319"/>
                  </a:lnTo>
                  <a:lnTo>
                    <a:pt x="236512" y="273951"/>
                  </a:lnTo>
                  <a:lnTo>
                    <a:pt x="244436" y="271792"/>
                  </a:lnTo>
                  <a:lnTo>
                    <a:pt x="251269" y="267830"/>
                  </a:lnTo>
                  <a:lnTo>
                    <a:pt x="258470" y="263880"/>
                  </a:lnTo>
                  <a:lnTo>
                    <a:pt x="274319" y="228231"/>
                  </a:lnTo>
                  <a:lnTo>
                    <a:pt x="273951" y="45719"/>
                  </a:lnTo>
                  <a:lnTo>
                    <a:pt x="273951" y="37795"/>
                  </a:lnTo>
                  <a:lnTo>
                    <a:pt x="271792" y="29870"/>
                  </a:lnTo>
                  <a:lnTo>
                    <a:pt x="267830" y="23037"/>
                  </a:lnTo>
                  <a:lnTo>
                    <a:pt x="263880" y="15836"/>
                  </a:lnTo>
                  <a:lnTo>
                    <a:pt x="258114" y="10071"/>
                  </a:lnTo>
                  <a:lnTo>
                    <a:pt x="251269" y="6121"/>
                  </a:lnTo>
                  <a:lnTo>
                    <a:pt x="244081" y="2158"/>
                  </a:lnTo>
                  <a:lnTo>
                    <a:pt x="2361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537604" y="3382924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45719"/>
                  </a:moveTo>
                  <a:lnTo>
                    <a:pt x="0" y="37795"/>
                  </a:lnTo>
                  <a:lnTo>
                    <a:pt x="2158" y="29870"/>
                  </a:lnTo>
                  <a:lnTo>
                    <a:pt x="6121" y="22669"/>
                  </a:lnTo>
                  <a:lnTo>
                    <a:pt x="10071" y="15836"/>
                  </a:lnTo>
                  <a:lnTo>
                    <a:pt x="15836" y="10071"/>
                  </a:lnTo>
                  <a:lnTo>
                    <a:pt x="23037" y="6121"/>
                  </a:lnTo>
                  <a:lnTo>
                    <a:pt x="29870" y="2158"/>
                  </a:lnTo>
                  <a:lnTo>
                    <a:pt x="37795" y="0"/>
                  </a:lnTo>
                  <a:lnTo>
                    <a:pt x="45719" y="0"/>
                  </a:lnTo>
                  <a:lnTo>
                    <a:pt x="228231" y="0"/>
                  </a:lnTo>
                  <a:lnTo>
                    <a:pt x="236156" y="0"/>
                  </a:lnTo>
                  <a:lnTo>
                    <a:pt x="244081" y="2158"/>
                  </a:lnTo>
                  <a:lnTo>
                    <a:pt x="251269" y="6121"/>
                  </a:lnTo>
                  <a:lnTo>
                    <a:pt x="258114" y="10071"/>
                  </a:lnTo>
                  <a:lnTo>
                    <a:pt x="263880" y="15836"/>
                  </a:lnTo>
                  <a:lnTo>
                    <a:pt x="267830" y="23037"/>
                  </a:lnTo>
                  <a:lnTo>
                    <a:pt x="271792" y="29870"/>
                  </a:lnTo>
                  <a:lnTo>
                    <a:pt x="273951" y="37795"/>
                  </a:lnTo>
                  <a:lnTo>
                    <a:pt x="273951" y="45719"/>
                  </a:lnTo>
                  <a:lnTo>
                    <a:pt x="274319" y="228231"/>
                  </a:lnTo>
                  <a:lnTo>
                    <a:pt x="274319" y="236156"/>
                  </a:lnTo>
                  <a:lnTo>
                    <a:pt x="272160" y="244081"/>
                  </a:lnTo>
                  <a:lnTo>
                    <a:pt x="268198" y="251269"/>
                  </a:lnTo>
                  <a:lnTo>
                    <a:pt x="264236" y="258114"/>
                  </a:lnTo>
                  <a:lnTo>
                    <a:pt x="258470" y="263880"/>
                  </a:lnTo>
                  <a:lnTo>
                    <a:pt x="251269" y="267830"/>
                  </a:lnTo>
                  <a:lnTo>
                    <a:pt x="244436" y="271792"/>
                  </a:lnTo>
                  <a:lnTo>
                    <a:pt x="236512" y="273951"/>
                  </a:lnTo>
                  <a:lnTo>
                    <a:pt x="228600" y="273951"/>
                  </a:lnTo>
                  <a:lnTo>
                    <a:pt x="45719" y="274319"/>
                  </a:lnTo>
                  <a:lnTo>
                    <a:pt x="37795" y="274319"/>
                  </a:lnTo>
                  <a:lnTo>
                    <a:pt x="29870" y="272160"/>
                  </a:lnTo>
                  <a:lnTo>
                    <a:pt x="22669" y="268198"/>
                  </a:lnTo>
                  <a:lnTo>
                    <a:pt x="15836" y="264236"/>
                  </a:lnTo>
                  <a:lnTo>
                    <a:pt x="10071" y="258470"/>
                  </a:lnTo>
                  <a:lnTo>
                    <a:pt x="6121" y="251269"/>
                  </a:lnTo>
                  <a:lnTo>
                    <a:pt x="2158" y="244436"/>
                  </a:lnTo>
                  <a:lnTo>
                    <a:pt x="0" y="236512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1259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553104" y="3690251"/>
            <a:ext cx="3392804" cy="802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Unsure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no</a:t>
            </a: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sleep,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A648F"/>
                </a:solidFill>
                <a:latin typeface="Verdana"/>
                <a:cs typeface="Verdana"/>
              </a:rPr>
              <a:t>gait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or</a:t>
            </a: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air-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quality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stream </a:t>
            </a: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observed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5584" y="4581982"/>
            <a:ext cx="7620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 b="1">
                <a:solidFill>
                  <a:srgbClr val="423A67"/>
                </a:solidFill>
                <a:latin typeface="Verdana"/>
                <a:cs typeface="Verdana"/>
              </a:rPr>
              <a:t>Context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15204" y="4612684"/>
            <a:ext cx="9519285" cy="192405"/>
            <a:chOff x="1915204" y="4612684"/>
            <a:chExt cx="9519285" cy="192405"/>
          </a:xfrm>
        </p:grpSpPr>
        <p:sp>
          <p:nvSpPr>
            <p:cNvPr id="25" name="object 25"/>
            <p:cNvSpPr/>
            <p:nvPr/>
          </p:nvSpPr>
          <p:spPr>
            <a:xfrm>
              <a:off x="2011680" y="4709159"/>
              <a:ext cx="9326880" cy="635"/>
            </a:xfrm>
            <a:custGeom>
              <a:avLst/>
              <a:gdLst/>
              <a:ahLst/>
              <a:cxnLst/>
              <a:rect l="l" t="t" r="r" b="b"/>
              <a:pathLst>
                <a:path w="9326880" h="635">
                  <a:moveTo>
                    <a:pt x="0" y="0"/>
                  </a:moveTo>
                  <a:lnTo>
                    <a:pt x="9326880" y="355"/>
                  </a:lnTo>
                </a:path>
              </a:pathLst>
            </a:custGeom>
            <a:ln w="1583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15204" y="4612684"/>
              <a:ext cx="192239" cy="19223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69684" y="4612684"/>
              <a:ext cx="192239" cy="1922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24164" y="4612684"/>
              <a:ext cx="192239" cy="1922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78644" y="4612684"/>
              <a:ext cx="192239" cy="1922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33124" y="4612684"/>
              <a:ext cx="192239" cy="19223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7604" y="4612684"/>
              <a:ext cx="192239" cy="1922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242084" y="4612684"/>
              <a:ext cx="192239" cy="19223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535584" y="5153291"/>
            <a:ext cx="9469120" cy="1031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3335">
              <a:lnSpc>
                <a:spcPct val="100000"/>
              </a:lnSpc>
              <a:spcBef>
                <a:spcPts val="100"/>
              </a:spcBef>
              <a:tabLst>
                <a:tab pos="2822575" algn="l"/>
                <a:tab pos="4376420" algn="l"/>
                <a:tab pos="5928995" algn="l"/>
                <a:tab pos="7486015" algn="l"/>
                <a:tab pos="9039860" algn="l"/>
              </a:tabLst>
            </a:pP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Day</a:t>
            </a:r>
            <a:r>
              <a:rPr dirty="0" sz="12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325">
                <a:solidFill>
                  <a:srgbClr val="6A648F"/>
                </a:solidFill>
                <a:latin typeface="Verdana"/>
                <a:cs typeface="Verdana"/>
              </a:rPr>
              <a:t>1</a:t>
            </a:r>
            <a:r>
              <a:rPr dirty="0" sz="1200">
                <a:solidFill>
                  <a:srgbClr val="6A648F"/>
                </a:solidFill>
                <a:latin typeface="Verdana"/>
                <a:cs typeface="Verdana"/>
              </a:rPr>
              <a:t>	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Day</a:t>
            </a:r>
            <a:r>
              <a:rPr dirty="0" sz="12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2</a:t>
            </a:r>
            <a:r>
              <a:rPr dirty="0" sz="1200">
                <a:solidFill>
                  <a:srgbClr val="6A648F"/>
                </a:solidFill>
                <a:latin typeface="Verdana"/>
                <a:cs typeface="Verdana"/>
              </a:rPr>
              <a:t>	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Day</a:t>
            </a:r>
            <a:r>
              <a:rPr dirty="0" sz="12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3</a:t>
            </a:r>
            <a:r>
              <a:rPr dirty="0" sz="1200">
                <a:solidFill>
                  <a:srgbClr val="6A648F"/>
                </a:solidFill>
                <a:latin typeface="Verdana"/>
                <a:cs typeface="Verdana"/>
              </a:rPr>
              <a:t>	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Day</a:t>
            </a:r>
            <a:r>
              <a:rPr dirty="0" sz="12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4</a:t>
            </a:r>
            <a:r>
              <a:rPr dirty="0" sz="1200">
                <a:solidFill>
                  <a:srgbClr val="6A648F"/>
                </a:solidFill>
                <a:latin typeface="Verdana"/>
                <a:cs typeface="Verdana"/>
              </a:rPr>
              <a:t>	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Day</a:t>
            </a:r>
            <a:r>
              <a:rPr dirty="0" sz="12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5</a:t>
            </a:r>
            <a:r>
              <a:rPr dirty="0" sz="1200">
                <a:solidFill>
                  <a:srgbClr val="6A648F"/>
                </a:solidFill>
                <a:latin typeface="Verdana"/>
                <a:cs typeface="Verdana"/>
              </a:rPr>
              <a:t>	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Day</a:t>
            </a:r>
            <a:r>
              <a:rPr dirty="0" sz="12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6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Verdana"/>
              <a:cs typeface="Verdana"/>
            </a:endParaRPr>
          </a:p>
          <a:p>
            <a:pPr marL="12700" marR="166370">
              <a:lnSpc>
                <a:spcPct val="100000"/>
              </a:lnSpc>
            </a:pPr>
            <a:r>
              <a:rPr dirty="0" sz="1800" spc="-45">
                <a:solidFill>
                  <a:srgbClr val="423A67"/>
                </a:solidFill>
                <a:latin typeface="Verdana"/>
                <a:cs typeface="Verdana"/>
              </a:rPr>
              <a:t>An</a:t>
            </a:r>
            <a:r>
              <a:rPr dirty="0" sz="1800" spc="-114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423A67"/>
                </a:solidFill>
                <a:latin typeface="Verdana"/>
                <a:cs typeface="Verdana"/>
              </a:rPr>
              <a:t>isolated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423A67"/>
                </a:solidFill>
                <a:latin typeface="Verdana"/>
                <a:cs typeface="Verdana"/>
              </a:rPr>
              <a:t>reading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45">
                <a:solidFill>
                  <a:srgbClr val="423A67"/>
                </a:solidFill>
                <a:latin typeface="Verdana"/>
                <a:cs typeface="Verdana"/>
              </a:rPr>
              <a:t>says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95">
                <a:solidFill>
                  <a:srgbClr val="423A67"/>
                </a:solidFill>
                <a:latin typeface="Verdana"/>
                <a:cs typeface="Verdana"/>
              </a:rPr>
              <a:t>little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55">
                <a:solidFill>
                  <a:srgbClr val="423A67"/>
                </a:solidFill>
                <a:latin typeface="Verdana"/>
                <a:cs typeface="Verdana"/>
              </a:rPr>
              <a:t>on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75">
                <a:solidFill>
                  <a:srgbClr val="423A67"/>
                </a:solidFill>
                <a:latin typeface="Verdana"/>
                <a:cs typeface="Verdana"/>
              </a:rPr>
              <a:t>its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80">
                <a:solidFill>
                  <a:srgbClr val="423A67"/>
                </a:solidFill>
                <a:latin typeface="Verdana"/>
                <a:cs typeface="Verdana"/>
              </a:rPr>
              <a:t>own.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100">
                <a:solidFill>
                  <a:srgbClr val="423A67"/>
                </a:solidFill>
                <a:latin typeface="Verdana"/>
                <a:cs typeface="Verdana"/>
              </a:rPr>
              <a:t>Interpretation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40">
                <a:solidFill>
                  <a:srgbClr val="423A67"/>
                </a:solidFill>
                <a:latin typeface="Verdana"/>
                <a:cs typeface="Verdana"/>
              </a:rPr>
              <a:t>needs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85">
                <a:solidFill>
                  <a:srgbClr val="423A67"/>
                </a:solidFill>
                <a:latin typeface="Verdana"/>
                <a:cs typeface="Verdana"/>
              </a:rPr>
              <a:t>to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55">
                <a:solidFill>
                  <a:srgbClr val="423A67"/>
                </a:solidFill>
                <a:latin typeface="Verdana"/>
                <a:cs typeface="Verdana"/>
              </a:rPr>
              <a:t>know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45">
                <a:solidFill>
                  <a:srgbClr val="423A67"/>
                </a:solidFill>
                <a:latin typeface="Verdana"/>
                <a:cs typeface="Verdana"/>
              </a:rPr>
              <a:t>which</a:t>
            </a:r>
            <a:r>
              <a:rPr dirty="0" sz="18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23A67"/>
                </a:solidFill>
                <a:latin typeface="Verdana"/>
                <a:cs typeface="Verdana"/>
              </a:rPr>
              <a:t>channels </a:t>
            </a:r>
            <a:r>
              <a:rPr dirty="0" sz="1800" spc="-90">
                <a:solidFill>
                  <a:srgbClr val="423A67"/>
                </a:solidFill>
                <a:latin typeface="Verdana"/>
                <a:cs typeface="Verdana"/>
              </a:rPr>
              <a:t>exist,</a:t>
            </a:r>
            <a:r>
              <a:rPr dirty="0" sz="1800" spc="-114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55">
                <a:solidFill>
                  <a:srgbClr val="423A67"/>
                </a:solidFill>
                <a:latin typeface="Verdana"/>
                <a:cs typeface="Verdana"/>
              </a:rPr>
              <a:t>how</a:t>
            </a:r>
            <a:r>
              <a:rPr dirty="0" sz="1800" spc="-11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45">
                <a:solidFill>
                  <a:srgbClr val="423A67"/>
                </a:solidFill>
                <a:latin typeface="Verdana"/>
                <a:cs typeface="Verdana"/>
              </a:rPr>
              <a:t>fresh</a:t>
            </a:r>
            <a:r>
              <a:rPr dirty="0" sz="1800" spc="-11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25">
                <a:solidFill>
                  <a:srgbClr val="423A67"/>
                </a:solidFill>
                <a:latin typeface="Verdana"/>
                <a:cs typeface="Verdana"/>
              </a:rPr>
              <a:t>each</a:t>
            </a:r>
            <a:r>
              <a:rPr dirty="0" sz="1800" spc="-11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65">
                <a:solidFill>
                  <a:srgbClr val="423A67"/>
                </a:solidFill>
                <a:latin typeface="Verdana"/>
                <a:cs typeface="Verdana"/>
              </a:rPr>
              <a:t>reading</a:t>
            </a:r>
            <a:r>
              <a:rPr dirty="0" sz="1800" spc="-114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75">
                <a:solidFill>
                  <a:srgbClr val="423A67"/>
                </a:solidFill>
                <a:latin typeface="Verdana"/>
                <a:cs typeface="Verdana"/>
              </a:rPr>
              <a:t>is,</a:t>
            </a:r>
            <a:r>
              <a:rPr dirty="0" sz="1800" spc="-11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65">
                <a:solidFill>
                  <a:srgbClr val="423A67"/>
                </a:solidFill>
                <a:latin typeface="Verdana"/>
                <a:cs typeface="Verdana"/>
              </a:rPr>
              <a:t>and</a:t>
            </a:r>
            <a:r>
              <a:rPr dirty="0" sz="1800" spc="-11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70">
                <a:solidFill>
                  <a:srgbClr val="423A67"/>
                </a:solidFill>
                <a:latin typeface="Verdana"/>
                <a:cs typeface="Verdana"/>
              </a:rPr>
              <a:t>what</a:t>
            </a:r>
            <a:r>
              <a:rPr dirty="0" sz="1800" spc="-11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35">
                <a:solidFill>
                  <a:srgbClr val="423A67"/>
                </a:solidFill>
                <a:latin typeface="Verdana"/>
                <a:cs typeface="Verdana"/>
              </a:rPr>
              <a:t>was</a:t>
            </a:r>
            <a:r>
              <a:rPr dirty="0" sz="1800" spc="-114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70">
                <a:solidFill>
                  <a:srgbClr val="423A67"/>
                </a:solidFill>
                <a:latin typeface="Verdana"/>
                <a:cs typeface="Verdana"/>
              </a:rPr>
              <a:t>still</a:t>
            </a:r>
            <a:r>
              <a:rPr dirty="0" sz="1800" spc="-11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70">
                <a:solidFill>
                  <a:srgbClr val="423A67"/>
                </a:solidFill>
                <a:latin typeface="Verdana"/>
                <a:cs typeface="Verdana"/>
              </a:rPr>
              <a:t>unknown</a:t>
            </a:r>
            <a:r>
              <a:rPr dirty="0" sz="1800" spc="-110">
                <a:solidFill>
                  <a:srgbClr val="423A67"/>
                </a:solidFill>
                <a:latin typeface="Verdana"/>
                <a:cs typeface="Verdana"/>
              </a:rPr>
              <a:t> at </a:t>
            </a:r>
            <a:r>
              <a:rPr dirty="0" sz="1800" spc="-85">
                <a:solidFill>
                  <a:srgbClr val="423A67"/>
                </a:solidFill>
                <a:latin typeface="Verdana"/>
                <a:cs typeface="Verdana"/>
              </a:rPr>
              <a:t>the</a:t>
            </a:r>
            <a:r>
              <a:rPr dirty="0" sz="1800" spc="-11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30">
                <a:solidFill>
                  <a:srgbClr val="423A67"/>
                </a:solidFill>
                <a:latin typeface="Verdana"/>
                <a:cs typeface="Verdana"/>
              </a:rPr>
              <a:t>decision</a:t>
            </a:r>
            <a:r>
              <a:rPr dirty="0" sz="1800" spc="-114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23A67"/>
                </a:solidFill>
                <a:latin typeface="Verdana"/>
                <a:cs typeface="Verdana"/>
              </a:rPr>
              <a:t>time.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121376" y="5153291"/>
            <a:ext cx="4330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Day</a:t>
            </a:r>
            <a:r>
              <a:rPr dirty="0" sz="12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7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934903" y="6475954"/>
            <a:ext cx="737235" cy="17970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Pulmira</a:t>
            </a:r>
            <a:r>
              <a:rPr dirty="0" sz="10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85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6A648F"/>
                </a:solidFill>
                <a:latin typeface="Verdana"/>
                <a:cs typeface="Verdana"/>
              </a:rPr>
              <a:t>02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1501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H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409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P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40" b="1">
                <a:solidFill>
                  <a:srgbClr val="7B5BFF"/>
                </a:solidFill>
                <a:latin typeface="Verdana"/>
                <a:cs typeface="Verdana"/>
              </a:rPr>
              <a:t>D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U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C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85"/>
              <a:t>One</a:t>
            </a:r>
            <a:r>
              <a:rPr dirty="0" spc="-325"/>
              <a:t> </a:t>
            </a:r>
            <a:r>
              <a:rPr dirty="0" spc="-229"/>
              <a:t>connected</a:t>
            </a:r>
            <a:r>
              <a:rPr dirty="0" spc="-325"/>
              <a:t> </a:t>
            </a:r>
            <a:r>
              <a:rPr dirty="0" spc="-265"/>
              <a:t>workspace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3604" y="1823396"/>
            <a:ext cx="2616200" cy="3302000"/>
            <a:chOff x="543604" y="1823396"/>
            <a:chExt cx="2616200" cy="3302000"/>
          </a:xfrm>
        </p:grpSpPr>
        <p:sp>
          <p:nvSpPr>
            <p:cNvPr id="5" name="object 5"/>
            <p:cNvSpPr/>
            <p:nvPr/>
          </p:nvSpPr>
          <p:spPr>
            <a:xfrm>
              <a:off x="548284" y="1828076"/>
              <a:ext cx="2606675" cy="3292475"/>
            </a:xfrm>
            <a:custGeom>
              <a:avLst/>
              <a:gdLst/>
              <a:ahLst/>
              <a:cxnLst/>
              <a:rect l="l" t="t" r="r" b="b"/>
              <a:pathLst>
                <a:path w="2606675" h="329247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3182404"/>
                  </a:lnTo>
                  <a:lnTo>
                    <a:pt x="939" y="3196834"/>
                  </a:lnTo>
                  <a:lnTo>
                    <a:pt x="14757" y="3237484"/>
                  </a:lnTo>
                  <a:lnTo>
                    <a:pt x="22674" y="3249197"/>
                  </a:lnTo>
                  <a:lnTo>
                    <a:pt x="22775" y="3249347"/>
                  </a:lnTo>
                  <a:lnTo>
                    <a:pt x="55079" y="3277438"/>
                  </a:lnTo>
                  <a:lnTo>
                    <a:pt x="95374" y="3291268"/>
                  </a:lnTo>
                  <a:lnTo>
                    <a:pt x="109791" y="3292208"/>
                  </a:lnTo>
                  <a:lnTo>
                    <a:pt x="2496591" y="3292208"/>
                  </a:lnTo>
                  <a:lnTo>
                    <a:pt x="2538662" y="3283850"/>
                  </a:lnTo>
                  <a:lnTo>
                    <a:pt x="2574166" y="3260028"/>
                  </a:lnTo>
                  <a:lnTo>
                    <a:pt x="2597967" y="3224475"/>
                  </a:lnTo>
                  <a:lnTo>
                    <a:pt x="2606395" y="3182404"/>
                  </a:lnTo>
                  <a:lnTo>
                    <a:pt x="2606372" y="109804"/>
                  </a:lnTo>
                  <a:lnTo>
                    <a:pt x="2598042" y="68095"/>
                  </a:lnTo>
                  <a:lnTo>
                    <a:pt x="2574172" y="32535"/>
                  </a:lnTo>
                  <a:lnTo>
                    <a:pt x="2538512" y="8721"/>
                  </a:lnTo>
                  <a:lnTo>
                    <a:pt x="249659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8284" y="1828076"/>
              <a:ext cx="2606675" cy="3292475"/>
            </a:xfrm>
            <a:custGeom>
              <a:avLst/>
              <a:gdLst/>
              <a:ahLst/>
              <a:cxnLst/>
              <a:rect l="l" t="t" r="r" b="b"/>
              <a:pathLst>
                <a:path w="2606675" h="329247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496591" y="368"/>
                  </a:lnTo>
                  <a:lnTo>
                    <a:pt x="2538512" y="8721"/>
                  </a:lnTo>
                  <a:lnTo>
                    <a:pt x="2574172" y="32535"/>
                  </a:lnTo>
                  <a:lnTo>
                    <a:pt x="2598042" y="68095"/>
                  </a:lnTo>
                  <a:lnTo>
                    <a:pt x="2606395" y="110159"/>
                  </a:lnTo>
                  <a:lnTo>
                    <a:pt x="2606395" y="3182404"/>
                  </a:lnTo>
                  <a:lnTo>
                    <a:pt x="2605455" y="3196828"/>
                  </a:lnTo>
                  <a:lnTo>
                    <a:pt x="2602660" y="3210847"/>
                  </a:lnTo>
                  <a:lnTo>
                    <a:pt x="2583618" y="3249197"/>
                  </a:lnTo>
                  <a:lnTo>
                    <a:pt x="2551671" y="3277438"/>
                  </a:lnTo>
                  <a:lnTo>
                    <a:pt x="2511021" y="3291268"/>
                  </a:lnTo>
                  <a:lnTo>
                    <a:pt x="2496591" y="3292208"/>
                  </a:lnTo>
                  <a:lnTo>
                    <a:pt x="109791" y="3292208"/>
                  </a:lnTo>
                  <a:lnTo>
                    <a:pt x="67882" y="3283850"/>
                  </a:lnTo>
                  <a:lnTo>
                    <a:pt x="32213" y="3260028"/>
                  </a:lnTo>
                  <a:lnTo>
                    <a:pt x="8352" y="3224475"/>
                  </a:lnTo>
                  <a:lnTo>
                    <a:pt x="0" y="3182404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09904" y="2090064"/>
            <a:ext cx="2222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0" b="1">
                <a:solidFill>
                  <a:srgbClr val="7B5BFF"/>
                </a:solidFill>
                <a:latin typeface="Verdana"/>
                <a:cs typeface="Verdana"/>
              </a:rPr>
              <a:t>01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2547251"/>
            <a:ext cx="1385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50" b="1">
                <a:solidFill>
                  <a:srgbClr val="423A67"/>
                </a:solidFill>
                <a:latin typeface="Verdana"/>
                <a:cs typeface="Verdana"/>
              </a:rPr>
              <a:t>Monitoring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259" y="3415944"/>
            <a:ext cx="1899920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45">
                <a:solidFill>
                  <a:srgbClr val="6A648F"/>
                </a:solidFill>
                <a:latin typeface="Verdana"/>
                <a:cs typeface="Verdana"/>
              </a:rPr>
              <a:t>Fictional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profiles, 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separate</a:t>
            </a:r>
            <a:r>
              <a:rPr dirty="0" sz="15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6A648F"/>
                </a:solidFill>
                <a:latin typeface="Verdana"/>
                <a:cs typeface="Verdana"/>
              </a:rPr>
              <a:t>device</a:t>
            </a:r>
            <a:r>
              <a:rPr dirty="0" sz="15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6A648F"/>
                </a:solidFill>
                <a:latin typeface="Verdana"/>
                <a:cs typeface="Verdana"/>
              </a:rPr>
              <a:t>and 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context</a:t>
            </a:r>
            <a:r>
              <a:rPr dirty="0" sz="15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streams, </a:t>
            </a:r>
            <a:r>
              <a:rPr dirty="0" sz="1500" spc="-40">
                <a:solidFill>
                  <a:srgbClr val="6A648F"/>
                </a:solidFill>
                <a:latin typeface="Verdana"/>
                <a:cs typeface="Verdana"/>
              </a:rPr>
              <a:t>coverage</a:t>
            </a:r>
            <a:r>
              <a:rPr dirty="0" sz="15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review</a:t>
            </a:r>
            <a:r>
              <a:rPr dirty="0" sz="15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40">
                <a:solidFill>
                  <a:srgbClr val="6A648F"/>
                </a:solidFill>
                <a:latin typeface="Verdana"/>
                <a:cs typeface="Verdana"/>
              </a:rPr>
              <a:t>and </a:t>
            </a:r>
            <a:r>
              <a:rPr dirty="0" sz="1500" spc="-50">
                <a:solidFill>
                  <a:srgbClr val="6A648F"/>
                </a:solidFill>
                <a:latin typeface="Verdana"/>
                <a:cs typeface="Verdana"/>
              </a:rPr>
              <a:t>historical</a:t>
            </a:r>
            <a:r>
              <a:rPr dirty="0" sz="1500" spc="-4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replay.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14160" y="1823396"/>
            <a:ext cx="2616200" cy="3302000"/>
            <a:chOff x="3314160" y="1823396"/>
            <a:chExt cx="2616200" cy="3302000"/>
          </a:xfrm>
        </p:grpSpPr>
        <p:sp>
          <p:nvSpPr>
            <p:cNvPr id="11" name="object 11"/>
            <p:cNvSpPr/>
            <p:nvPr/>
          </p:nvSpPr>
          <p:spPr>
            <a:xfrm>
              <a:off x="3318840" y="1828076"/>
              <a:ext cx="2606675" cy="3292475"/>
            </a:xfrm>
            <a:custGeom>
              <a:avLst/>
              <a:gdLst/>
              <a:ahLst/>
              <a:cxnLst/>
              <a:rect l="l" t="t" r="r" b="b"/>
              <a:pathLst>
                <a:path w="2606675" h="3292475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3182404"/>
                  </a:lnTo>
                  <a:lnTo>
                    <a:pt x="939" y="3196834"/>
                  </a:lnTo>
                  <a:lnTo>
                    <a:pt x="14757" y="3237484"/>
                  </a:lnTo>
                  <a:lnTo>
                    <a:pt x="43010" y="3269425"/>
                  </a:lnTo>
                  <a:lnTo>
                    <a:pt x="81360" y="3288471"/>
                  </a:lnTo>
                  <a:lnTo>
                    <a:pt x="109804" y="3292208"/>
                  </a:lnTo>
                  <a:lnTo>
                    <a:pt x="2496604" y="3292208"/>
                  </a:lnTo>
                  <a:lnTo>
                    <a:pt x="2538668" y="3283850"/>
                  </a:lnTo>
                  <a:lnTo>
                    <a:pt x="2574177" y="3260028"/>
                  </a:lnTo>
                  <a:lnTo>
                    <a:pt x="2597967" y="3224475"/>
                  </a:lnTo>
                  <a:lnTo>
                    <a:pt x="2598042" y="3224325"/>
                  </a:lnTo>
                  <a:lnTo>
                    <a:pt x="2602644" y="3210891"/>
                  </a:lnTo>
                  <a:lnTo>
                    <a:pt x="2605454" y="3196834"/>
                  </a:lnTo>
                  <a:lnTo>
                    <a:pt x="2606395" y="3182404"/>
                  </a:lnTo>
                  <a:lnTo>
                    <a:pt x="2606372" y="109804"/>
                  </a:lnTo>
                  <a:lnTo>
                    <a:pt x="2598042" y="68095"/>
                  </a:lnTo>
                  <a:lnTo>
                    <a:pt x="2574182" y="32535"/>
                  </a:lnTo>
                  <a:lnTo>
                    <a:pt x="2538512" y="8721"/>
                  </a:lnTo>
                  <a:lnTo>
                    <a:pt x="249660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18840" y="1828076"/>
              <a:ext cx="2606675" cy="3292475"/>
            </a:xfrm>
            <a:custGeom>
              <a:avLst/>
              <a:gdLst/>
              <a:ahLst/>
              <a:cxnLst/>
              <a:rect l="l" t="t" r="r" b="b"/>
              <a:pathLst>
                <a:path w="2606675" h="329247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496604" y="368"/>
                  </a:lnTo>
                  <a:lnTo>
                    <a:pt x="2538512" y="8721"/>
                  </a:lnTo>
                  <a:lnTo>
                    <a:pt x="2574182" y="32535"/>
                  </a:lnTo>
                  <a:lnTo>
                    <a:pt x="2598042" y="68095"/>
                  </a:lnTo>
                  <a:lnTo>
                    <a:pt x="2606395" y="110159"/>
                  </a:lnTo>
                  <a:lnTo>
                    <a:pt x="2606395" y="3182404"/>
                  </a:lnTo>
                  <a:lnTo>
                    <a:pt x="2605455" y="3196828"/>
                  </a:lnTo>
                  <a:lnTo>
                    <a:pt x="2602660" y="3210847"/>
                  </a:lnTo>
                  <a:lnTo>
                    <a:pt x="2583625" y="3249197"/>
                  </a:lnTo>
                  <a:lnTo>
                    <a:pt x="2551683" y="3277438"/>
                  </a:lnTo>
                  <a:lnTo>
                    <a:pt x="2511027" y="3291268"/>
                  </a:lnTo>
                  <a:lnTo>
                    <a:pt x="2496604" y="3292208"/>
                  </a:lnTo>
                  <a:lnTo>
                    <a:pt x="109804" y="3292208"/>
                  </a:lnTo>
                  <a:lnTo>
                    <a:pt x="67882" y="3283850"/>
                  </a:lnTo>
                  <a:lnTo>
                    <a:pt x="32223" y="3260028"/>
                  </a:lnTo>
                  <a:lnTo>
                    <a:pt x="8352" y="3224475"/>
                  </a:lnTo>
                  <a:lnTo>
                    <a:pt x="0" y="3182404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580460" y="2090064"/>
            <a:ext cx="2571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70" b="1">
                <a:solidFill>
                  <a:srgbClr val="7B5BFF"/>
                </a:solidFill>
                <a:latin typeface="Verdana"/>
                <a:cs typeface="Verdana"/>
              </a:rPr>
              <a:t>02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0815" y="2547251"/>
            <a:ext cx="1986280" cy="203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40" b="1">
                <a:solidFill>
                  <a:srgbClr val="423A67"/>
                </a:solidFill>
                <a:latin typeface="Verdana"/>
                <a:cs typeface="Verdana"/>
              </a:rPr>
              <a:t>Seven-</a:t>
            </a:r>
            <a:r>
              <a:rPr dirty="0" sz="2000" spc="-25" b="1">
                <a:solidFill>
                  <a:srgbClr val="423A67"/>
                </a:solidFill>
                <a:latin typeface="Verdana"/>
                <a:cs typeface="Verdana"/>
              </a:rPr>
              <a:t>day </a:t>
            </a:r>
            <a:r>
              <a:rPr dirty="0" sz="2000" spc="-190" b="1">
                <a:solidFill>
                  <a:srgbClr val="423A67"/>
                </a:solidFill>
                <a:latin typeface="Verdana"/>
                <a:cs typeface="Verdana"/>
              </a:rPr>
              <a:t>formula</a:t>
            </a:r>
            <a:r>
              <a:rPr dirty="0" sz="2000" spc="-15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2000" spc="-165" b="1">
                <a:solidFill>
                  <a:srgbClr val="423A67"/>
                </a:solidFill>
                <a:latin typeface="Verdana"/>
                <a:cs typeface="Verdana"/>
              </a:rPr>
              <a:t>outlook</a:t>
            </a:r>
            <a:endParaRPr sz="2000">
              <a:latin typeface="Verdana"/>
              <a:cs typeface="Verdana"/>
            </a:endParaRPr>
          </a:p>
          <a:p>
            <a:pPr marL="12700" marR="45720">
              <a:lnSpc>
                <a:spcPct val="100000"/>
              </a:lnSpc>
              <a:spcBef>
                <a:spcPts val="2040"/>
              </a:spcBef>
            </a:pPr>
            <a:r>
              <a:rPr dirty="0" sz="1500">
                <a:solidFill>
                  <a:srgbClr val="6A648F"/>
                </a:solidFill>
                <a:latin typeface="Verdana"/>
                <a:cs typeface="Verdana"/>
              </a:rPr>
              <a:t>A</a:t>
            </a:r>
            <a:r>
              <a:rPr dirty="0" sz="1500" spc="-11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transparent, </a:t>
            </a:r>
            <a:r>
              <a:rPr dirty="0" sz="1500" spc="-45">
                <a:solidFill>
                  <a:srgbClr val="6A648F"/>
                </a:solidFill>
                <a:latin typeface="Verdana"/>
                <a:cs typeface="Verdana"/>
              </a:rPr>
              <a:t>bounded</a:t>
            </a:r>
            <a:r>
              <a:rPr dirty="0" sz="15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trend </a:t>
            </a:r>
            <a:r>
              <a:rPr dirty="0" sz="1500" spc="-80">
                <a:solidFill>
                  <a:srgbClr val="6A648F"/>
                </a:solidFill>
                <a:latin typeface="Verdana"/>
                <a:cs typeface="Verdana"/>
              </a:rPr>
              <a:t>formula.</a:t>
            </a:r>
            <a:r>
              <a:rPr dirty="0" sz="1500" spc="-65">
                <a:solidFill>
                  <a:srgbClr val="6A648F"/>
                </a:solidFill>
                <a:latin typeface="Verdana"/>
                <a:cs typeface="Verdana"/>
              </a:rPr>
              <a:t> Unvalidated; 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reported</a:t>
            </a:r>
            <a:r>
              <a:rPr dirty="0" sz="15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6A648F"/>
                </a:solidFill>
                <a:latin typeface="Verdana"/>
                <a:cs typeface="Verdana"/>
              </a:rPr>
              <a:t>in</a:t>
            </a:r>
            <a:r>
              <a:rPr dirty="0" sz="15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change 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points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6A648F"/>
                </a:solidFill>
                <a:latin typeface="Verdana"/>
                <a:cs typeface="Verdana"/>
              </a:rPr>
              <a:t>out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>
                <a:solidFill>
                  <a:srgbClr val="6A648F"/>
                </a:solidFill>
                <a:latin typeface="Verdana"/>
                <a:cs typeface="Verdana"/>
              </a:rPr>
              <a:t>of</a:t>
            </a:r>
            <a:r>
              <a:rPr dirty="0" sz="15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100.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84716" y="1823396"/>
            <a:ext cx="2616200" cy="3302000"/>
            <a:chOff x="6084716" y="1823396"/>
            <a:chExt cx="2616200" cy="3302000"/>
          </a:xfrm>
        </p:grpSpPr>
        <p:sp>
          <p:nvSpPr>
            <p:cNvPr id="16" name="object 16"/>
            <p:cNvSpPr/>
            <p:nvPr/>
          </p:nvSpPr>
          <p:spPr>
            <a:xfrm>
              <a:off x="6089396" y="1828076"/>
              <a:ext cx="2606675" cy="3292475"/>
            </a:xfrm>
            <a:custGeom>
              <a:avLst/>
              <a:gdLst/>
              <a:ahLst/>
              <a:cxnLst/>
              <a:rect l="l" t="t" r="r" b="b"/>
              <a:pathLst>
                <a:path w="2606675" h="329247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3182404"/>
                  </a:lnTo>
                  <a:lnTo>
                    <a:pt x="939" y="3196834"/>
                  </a:lnTo>
                  <a:lnTo>
                    <a:pt x="14770" y="3237484"/>
                  </a:lnTo>
                  <a:lnTo>
                    <a:pt x="22686" y="3249197"/>
                  </a:lnTo>
                  <a:lnTo>
                    <a:pt x="22788" y="3249347"/>
                  </a:lnTo>
                  <a:lnTo>
                    <a:pt x="55079" y="3277438"/>
                  </a:lnTo>
                  <a:lnTo>
                    <a:pt x="95379" y="3291268"/>
                  </a:lnTo>
                  <a:lnTo>
                    <a:pt x="109804" y="3292208"/>
                  </a:lnTo>
                  <a:lnTo>
                    <a:pt x="2496604" y="3292208"/>
                  </a:lnTo>
                  <a:lnTo>
                    <a:pt x="2538675" y="3283850"/>
                  </a:lnTo>
                  <a:lnTo>
                    <a:pt x="2574177" y="3260028"/>
                  </a:lnTo>
                  <a:lnTo>
                    <a:pt x="2597974" y="3224475"/>
                  </a:lnTo>
                  <a:lnTo>
                    <a:pt x="2598050" y="3224325"/>
                  </a:lnTo>
                  <a:lnTo>
                    <a:pt x="2602656" y="3210891"/>
                  </a:lnTo>
                  <a:lnTo>
                    <a:pt x="2605467" y="3196834"/>
                  </a:lnTo>
                  <a:lnTo>
                    <a:pt x="2606408" y="3182404"/>
                  </a:lnTo>
                  <a:lnTo>
                    <a:pt x="2606385" y="109804"/>
                  </a:lnTo>
                  <a:lnTo>
                    <a:pt x="2598050" y="68095"/>
                  </a:lnTo>
                  <a:lnTo>
                    <a:pt x="2574183" y="32535"/>
                  </a:lnTo>
                  <a:lnTo>
                    <a:pt x="2538525" y="8721"/>
                  </a:lnTo>
                  <a:lnTo>
                    <a:pt x="249660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089396" y="1828076"/>
              <a:ext cx="2606675" cy="3292475"/>
            </a:xfrm>
            <a:custGeom>
              <a:avLst/>
              <a:gdLst/>
              <a:ahLst/>
              <a:cxnLst/>
              <a:rect l="l" t="t" r="r" b="b"/>
              <a:pathLst>
                <a:path w="2606675" h="32924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496604" y="368"/>
                  </a:lnTo>
                  <a:lnTo>
                    <a:pt x="2538525" y="8721"/>
                  </a:lnTo>
                  <a:lnTo>
                    <a:pt x="2574183" y="32535"/>
                  </a:lnTo>
                  <a:lnTo>
                    <a:pt x="2598050" y="68095"/>
                  </a:lnTo>
                  <a:lnTo>
                    <a:pt x="2606408" y="110159"/>
                  </a:lnTo>
                  <a:lnTo>
                    <a:pt x="2606408" y="3182404"/>
                  </a:lnTo>
                  <a:lnTo>
                    <a:pt x="2605468" y="3196828"/>
                  </a:lnTo>
                  <a:lnTo>
                    <a:pt x="2602671" y="3210847"/>
                  </a:lnTo>
                  <a:lnTo>
                    <a:pt x="2583625" y="3249197"/>
                  </a:lnTo>
                  <a:lnTo>
                    <a:pt x="2551683" y="3277438"/>
                  </a:lnTo>
                  <a:lnTo>
                    <a:pt x="2511034" y="3291268"/>
                  </a:lnTo>
                  <a:lnTo>
                    <a:pt x="2496604" y="3292208"/>
                  </a:lnTo>
                  <a:lnTo>
                    <a:pt x="109804" y="3292208"/>
                  </a:lnTo>
                  <a:lnTo>
                    <a:pt x="67882" y="3283850"/>
                  </a:lnTo>
                  <a:lnTo>
                    <a:pt x="32224" y="3260028"/>
                  </a:lnTo>
                  <a:lnTo>
                    <a:pt x="8358" y="3224475"/>
                  </a:lnTo>
                  <a:lnTo>
                    <a:pt x="0" y="3182404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351015" y="2090064"/>
            <a:ext cx="2603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7B5BFF"/>
                </a:solidFill>
                <a:latin typeface="Verdana"/>
                <a:cs typeface="Verdana"/>
              </a:rPr>
              <a:t>03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51384" y="2547251"/>
            <a:ext cx="1858645" cy="1808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69925">
              <a:lnSpc>
                <a:spcPct val="100000"/>
              </a:lnSpc>
              <a:spcBef>
                <a:spcPts val="100"/>
              </a:spcBef>
            </a:pPr>
            <a:r>
              <a:rPr dirty="0" sz="2000" spc="-55" b="1">
                <a:solidFill>
                  <a:srgbClr val="423A67"/>
                </a:solidFill>
                <a:latin typeface="Verdana"/>
                <a:cs typeface="Verdana"/>
              </a:rPr>
              <a:t>Fictional </a:t>
            </a:r>
            <a:r>
              <a:rPr dirty="0" sz="2000" spc="-180" b="1">
                <a:solidFill>
                  <a:srgbClr val="423A67"/>
                </a:solidFill>
                <a:latin typeface="Verdana"/>
                <a:cs typeface="Verdana"/>
              </a:rPr>
              <a:t>simulator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040"/>
              </a:spcBef>
            </a:pPr>
            <a:r>
              <a:rPr dirty="0" sz="1500" spc="-60">
                <a:solidFill>
                  <a:srgbClr val="6A648F"/>
                </a:solidFill>
                <a:latin typeface="Verdana"/>
                <a:cs typeface="Verdana"/>
              </a:rPr>
              <a:t>Sixteen</a:t>
            </a:r>
            <a:r>
              <a:rPr dirty="0" sz="15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engineering 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sensitivity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scenarios </a:t>
            </a:r>
            <a:r>
              <a:rPr dirty="0" sz="1500" spc="-60">
                <a:solidFill>
                  <a:srgbClr val="6A648F"/>
                </a:solidFill>
                <a:latin typeface="Verdana"/>
                <a:cs typeface="Verdana"/>
              </a:rPr>
              <a:t>over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40">
                <a:solidFill>
                  <a:srgbClr val="6A648F"/>
                </a:solidFill>
                <a:latin typeface="Verdana"/>
                <a:cs typeface="Verdana"/>
              </a:rPr>
              <a:t>180</a:t>
            </a:r>
            <a:r>
              <a:rPr dirty="0" sz="15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fictional days.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855640" y="1823396"/>
            <a:ext cx="2616200" cy="3302000"/>
            <a:chOff x="8855640" y="1823396"/>
            <a:chExt cx="2616200" cy="3302000"/>
          </a:xfrm>
        </p:grpSpPr>
        <p:sp>
          <p:nvSpPr>
            <p:cNvPr id="21" name="object 21"/>
            <p:cNvSpPr/>
            <p:nvPr/>
          </p:nvSpPr>
          <p:spPr>
            <a:xfrm>
              <a:off x="8860319" y="1828076"/>
              <a:ext cx="2606675" cy="3292475"/>
            </a:xfrm>
            <a:custGeom>
              <a:avLst/>
              <a:gdLst/>
              <a:ahLst/>
              <a:cxnLst/>
              <a:rect l="l" t="t" r="r" b="b"/>
              <a:pathLst>
                <a:path w="2606675" h="3292475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3182404"/>
                  </a:lnTo>
                  <a:lnTo>
                    <a:pt x="939" y="3196834"/>
                  </a:lnTo>
                  <a:lnTo>
                    <a:pt x="14757" y="3237484"/>
                  </a:lnTo>
                  <a:lnTo>
                    <a:pt x="22681" y="3249197"/>
                  </a:lnTo>
                  <a:lnTo>
                    <a:pt x="22783" y="3249347"/>
                  </a:lnTo>
                  <a:lnTo>
                    <a:pt x="55079" y="3277438"/>
                  </a:lnTo>
                  <a:lnTo>
                    <a:pt x="95379" y="3291268"/>
                  </a:lnTo>
                  <a:lnTo>
                    <a:pt x="109804" y="3292208"/>
                  </a:lnTo>
                  <a:lnTo>
                    <a:pt x="2496604" y="3292208"/>
                  </a:lnTo>
                  <a:lnTo>
                    <a:pt x="2538668" y="3283850"/>
                  </a:lnTo>
                  <a:lnTo>
                    <a:pt x="2574177" y="3260028"/>
                  </a:lnTo>
                  <a:lnTo>
                    <a:pt x="2597967" y="3224475"/>
                  </a:lnTo>
                  <a:lnTo>
                    <a:pt x="2606395" y="3182404"/>
                  </a:lnTo>
                  <a:lnTo>
                    <a:pt x="2606372" y="109804"/>
                  </a:lnTo>
                  <a:lnTo>
                    <a:pt x="2598042" y="68095"/>
                  </a:lnTo>
                  <a:lnTo>
                    <a:pt x="2574182" y="32535"/>
                  </a:lnTo>
                  <a:lnTo>
                    <a:pt x="2538512" y="8721"/>
                  </a:lnTo>
                  <a:lnTo>
                    <a:pt x="249660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860319" y="1828076"/>
              <a:ext cx="2606675" cy="3292475"/>
            </a:xfrm>
            <a:custGeom>
              <a:avLst/>
              <a:gdLst/>
              <a:ahLst/>
              <a:cxnLst/>
              <a:rect l="l" t="t" r="r" b="b"/>
              <a:pathLst>
                <a:path w="2606675" h="329247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496604" y="368"/>
                  </a:lnTo>
                  <a:lnTo>
                    <a:pt x="2538512" y="8721"/>
                  </a:lnTo>
                  <a:lnTo>
                    <a:pt x="2574182" y="32535"/>
                  </a:lnTo>
                  <a:lnTo>
                    <a:pt x="2598042" y="68095"/>
                  </a:lnTo>
                  <a:lnTo>
                    <a:pt x="2606395" y="110159"/>
                  </a:lnTo>
                  <a:lnTo>
                    <a:pt x="2606395" y="3182404"/>
                  </a:lnTo>
                  <a:lnTo>
                    <a:pt x="2605455" y="3196828"/>
                  </a:lnTo>
                  <a:lnTo>
                    <a:pt x="2602660" y="3210847"/>
                  </a:lnTo>
                  <a:lnTo>
                    <a:pt x="2583625" y="3249197"/>
                  </a:lnTo>
                  <a:lnTo>
                    <a:pt x="2551683" y="3277438"/>
                  </a:lnTo>
                  <a:lnTo>
                    <a:pt x="2511027" y="3291268"/>
                  </a:lnTo>
                  <a:lnTo>
                    <a:pt x="2496604" y="3292208"/>
                  </a:lnTo>
                  <a:lnTo>
                    <a:pt x="109804" y="3292208"/>
                  </a:lnTo>
                  <a:lnTo>
                    <a:pt x="67882" y="3283850"/>
                  </a:lnTo>
                  <a:lnTo>
                    <a:pt x="32223" y="3260028"/>
                  </a:lnTo>
                  <a:lnTo>
                    <a:pt x="8352" y="3224475"/>
                  </a:lnTo>
                  <a:lnTo>
                    <a:pt x="0" y="3182404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121940" y="2090064"/>
            <a:ext cx="2660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 b="1">
                <a:solidFill>
                  <a:srgbClr val="7B5BFF"/>
                </a:solidFill>
                <a:latin typeface="Verdana"/>
                <a:cs typeface="Verdana"/>
              </a:rPr>
              <a:t>04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22295" y="2547251"/>
            <a:ext cx="1831339" cy="1808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3360">
              <a:lnSpc>
                <a:spcPct val="100000"/>
              </a:lnSpc>
              <a:spcBef>
                <a:spcPts val="100"/>
              </a:spcBef>
            </a:pPr>
            <a:r>
              <a:rPr dirty="0" sz="2000" spc="-165" b="1">
                <a:solidFill>
                  <a:srgbClr val="423A67"/>
                </a:solidFill>
                <a:latin typeface="Verdana"/>
                <a:cs typeface="Verdana"/>
              </a:rPr>
              <a:t>Next-</a:t>
            </a:r>
            <a:r>
              <a:rPr dirty="0" sz="2000" spc="-150" b="1">
                <a:solidFill>
                  <a:srgbClr val="423A67"/>
                </a:solidFill>
                <a:latin typeface="Verdana"/>
                <a:cs typeface="Verdana"/>
              </a:rPr>
              <a:t>day</a:t>
            </a:r>
            <a:r>
              <a:rPr dirty="0" sz="2000" spc="-16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2000" spc="-85" b="1">
                <a:solidFill>
                  <a:srgbClr val="423A67"/>
                </a:solidFill>
                <a:latin typeface="Verdana"/>
                <a:cs typeface="Verdana"/>
              </a:rPr>
              <a:t>ML experiment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040"/>
              </a:spcBef>
            </a:pPr>
            <a:r>
              <a:rPr dirty="0" sz="1500">
                <a:solidFill>
                  <a:srgbClr val="6A648F"/>
                </a:solidFill>
                <a:latin typeface="Verdana"/>
                <a:cs typeface="Verdana"/>
              </a:rPr>
              <a:t>A</a:t>
            </a:r>
            <a:r>
              <a:rPr dirty="0" sz="15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separately</a:t>
            </a:r>
            <a:r>
              <a:rPr dirty="0" sz="15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trained </a:t>
            </a:r>
            <a:r>
              <a:rPr dirty="0" sz="1500" spc="-65">
                <a:solidFill>
                  <a:srgbClr val="6A648F"/>
                </a:solidFill>
                <a:latin typeface="Verdana"/>
                <a:cs typeface="Verdana"/>
              </a:rPr>
              <a:t>model</a:t>
            </a:r>
            <a:r>
              <a:rPr dirty="0" sz="15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estimating </a:t>
            </a:r>
            <a:r>
              <a:rPr dirty="0" sz="1500" spc="-75">
                <a:solidFill>
                  <a:srgbClr val="6A648F"/>
                </a:solidFill>
                <a:latin typeface="Verdana"/>
                <a:cs typeface="Verdana"/>
              </a:rPr>
              <a:t>next-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day</a:t>
            </a:r>
            <a:r>
              <a:rPr dirty="0" sz="1500" spc="-4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simulated </a:t>
            </a:r>
            <a:r>
              <a:rPr dirty="0" sz="1500" spc="-90">
                <a:solidFill>
                  <a:srgbClr val="6A648F"/>
                </a:solidFill>
                <a:latin typeface="Verdana"/>
                <a:cs typeface="Verdana"/>
              </a:rPr>
              <a:t>SpO₂</a:t>
            </a:r>
            <a:r>
              <a:rPr dirty="0" sz="1500" spc="-10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6A648F"/>
                </a:solidFill>
                <a:latin typeface="Verdana"/>
                <a:cs typeface="Verdana"/>
              </a:rPr>
              <a:t>below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90%.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8640" y="5486400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2599">
            <a:solidFill>
              <a:srgbClr val="DBD5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35584" y="5610504"/>
            <a:ext cx="1021524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 spc="-70">
                <a:solidFill>
                  <a:srgbClr val="423A67"/>
                </a:solidFill>
                <a:latin typeface="Verdana"/>
                <a:cs typeface="Verdana"/>
              </a:rPr>
              <a:t>Shared</a:t>
            </a:r>
            <a:r>
              <a:rPr dirty="0" sz="17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423A67"/>
                </a:solidFill>
                <a:latin typeface="Verdana"/>
                <a:cs typeface="Verdana"/>
              </a:rPr>
              <a:t>observation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423A67"/>
                </a:solidFill>
                <a:latin typeface="Verdana"/>
                <a:cs typeface="Verdana"/>
              </a:rPr>
              <a:t>engine</a:t>
            </a:r>
            <a:r>
              <a:rPr dirty="0" sz="17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423A67"/>
                </a:solidFill>
                <a:latin typeface="Verdana"/>
                <a:cs typeface="Verdana"/>
              </a:rPr>
              <a:t>and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423A67"/>
                </a:solidFill>
                <a:latin typeface="Verdana"/>
                <a:cs typeface="Verdana"/>
              </a:rPr>
              <a:t>ledger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423A67"/>
                </a:solidFill>
                <a:latin typeface="Verdana"/>
                <a:cs typeface="Verdana"/>
              </a:rPr>
              <a:t>underneath.</a:t>
            </a:r>
            <a:r>
              <a:rPr dirty="0" sz="17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423A67"/>
                </a:solidFill>
                <a:latin typeface="Verdana"/>
                <a:cs typeface="Verdana"/>
              </a:rPr>
              <a:t>The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423A67"/>
                </a:solidFill>
                <a:latin typeface="Verdana"/>
                <a:cs typeface="Verdana"/>
              </a:rPr>
              <a:t>three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423A67"/>
                </a:solidFill>
                <a:latin typeface="Verdana"/>
                <a:cs typeface="Verdana"/>
              </a:rPr>
              <a:t>analytical</a:t>
            </a:r>
            <a:r>
              <a:rPr dirty="0" sz="1700" spc="-11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423A67"/>
                </a:solidFill>
                <a:latin typeface="Verdana"/>
                <a:cs typeface="Verdana"/>
              </a:rPr>
              <a:t>modules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423A67"/>
                </a:solidFill>
                <a:latin typeface="Verdana"/>
                <a:cs typeface="Verdana"/>
              </a:rPr>
              <a:t>never</a:t>
            </a:r>
            <a:r>
              <a:rPr dirty="0" sz="1700" spc="-11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423A67"/>
                </a:solidFill>
                <a:latin typeface="Verdana"/>
                <a:cs typeface="Verdana"/>
              </a:rPr>
              <a:t>borrow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423A67"/>
                </a:solidFill>
                <a:latin typeface="Verdana"/>
                <a:cs typeface="Verdana"/>
              </a:rPr>
              <a:t>each </a:t>
            </a:r>
            <a:r>
              <a:rPr dirty="0" sz="1700" spc="-50">
                <a:solidFill>
                  <a:srgbClr val="423A67"/>
                </a:solidFill>
                <a:latin typeface="Verdana"/>
                <a:cs typeface="Verdana"/>
              </a:rPr>
              <a:t>other's</a:t>
            </a:r>
            <a:r>
              <a:rPr dirty="0" sz="1700" spc="-9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423A67"/>
                </a:solidFill>
                <a:latin typeface="Verdana"/>
                <a:cs typeface="Verdana"/>
              </a:rPr>
              <a:t>numbers.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934179" y="6475954"/>
            <a:ext cx="737870" cy="17970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Pulmira</a:t>
            </a:r>
            <a:r>
              <a:rPr dirty="0" sz="10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85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6A648F"/>
                </a:solidFill>
                <a:latin typeface="Verdana"/>
                <a:cs typeface="Verdana"/>
              </a:rPr>
              <a:t>03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1638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C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H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E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C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U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65"/>
              <a:t>How</a:t>
            </a:r>
            <a:r>
              <a:rPr dirty="0" spc="-360"/>
              <a:t> </a:t>
            </a:r>
            <a:r>
              <a:rPr dirty="0" spc="-295"/>
              <a:t>the</a:t>
            </a:r>
            <a:r>
              <a:rPr dirty="0" spc="-360"/>
              <a:t> </a:t>
            </a:r>
            <a:r>
              <a:rPr dirty="0" spc="-254"/>
              <a:t>layers</a:t>
            </a:r>
            <a:r>
              <a:rPr dirty="0" spc="-360"/>
              <a:t> </a:t>
            </a:r>
            <a:r>
              <a:rPr dirty="0" spc="-190"/>
              <a:t>connect</a:t>
            </a:r>
          </a:p>
        </p:txBody>
      </p:sp>
      <p:grpSp>
        <p:nvGrpSpPr>
          <p:cNvPr id="18" name="object 18"/>
          <p:cNvGrpSpPr/>
          <p:nvPr/>
        </p:nvGrpSpPr>
        <p:grpSpPr>
          <a:xfrm>
            <a:off x="7675556" y="1595164"/>
            <a:ext cx="3942079" cy="906144"/>
            <a:chOff x="7675556" y="1595164"/>
            <a:chExt cx="3942079" cy="906144"/>
          </a:xfrm>
        </p:grpSpPr>
        <p:sp>
          <p:nvSpPr>
            <p:cNvPr id="19" name="object 19"/>
            <p:cNvSpPr/>
            <p:nvPr/>
          </p:nvSpPr>
          <p:spPr>
            <a:xfrm>
              <a:off x="7680236" y="1599844"/>
              <a:ext cx="3932554" cy="896619"/>
            </a:xfrm>
            <a:custGeom>
              <a:avLst/>
              <a:gdLst/>
              <a:ahLst/>
              <a:cxnLst/>
              <a:rect l="l" t="t" r="r" b="b"/>
              <a:pathLst>
                <a:path w="3932554" h="896619">
                  <a:moveTo>
                    <a:pt x="91808" y="0"/>
                  </a:moveTo>
                  <a:lnTo>
                    <a:pt x="46088" y="12230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804951"/>
                  </a:lnTo>
                  <a:lnTo>
                    <a:pt x="798" y="816958"/>
                  </a:lnTo>
                  <a:lnTo>
                    <a:pt x="18843" y="860715"/>
                  </a:lnTo>
                  <a:lnTo>
                    <a:pt x="56512" y="889410"/>
                  </a:lnTo>
                  <a:lnTo>
                    <a:pt x="91439" y="896391"/>
                  </a:lnTo>
                  <a:lnTo>
                    <a:pt x="3840848" y="896391"/>
                  </a:lnTo>
                  <a:lnTo>
                    <a:pt x="3886568" y="884161"/>
                  </a:lnTo>
                  <a:lnTo>
                    <a:pt x="3920045" y="850671"/>
                  </a:lnTo>
                  <a:lnTo>
                    <a:pt x="3932288" y="804951"/>
                  </a:lnTo>
                  <a:lnTo>
                    <a:pt x="3932264" y="91440"/>
                  </a:lnTo>
                  <a:lnTo>
                    <a:pt x="3920045" y="46075"/>
                  </a:lnTo>
                  <a:lnTo>
                    <a:pt x="3886568" y="12598"/>
                  </a:lnTo>
                  <a:lnTo>
                    <a:pt x="3840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680236" y="1599844"/>
              <a:ext cx="3932554" cy="896619"/>
            </a:xfrm>
            <a:custGeom>
              <a:avLst/>
              <a:gdLst/>
              <a:ahLst/>
              <a:cxnLst/>
              <a:rect l="l" t="t" r="r" b="b"/>
              <a:pathLst>
                <a:path w="3932554" h="896619">
                  <a:moveTo>
                    <a:pt x="368" y="91440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3840848" y="355"/>
                  </a:lnTo>
                  <a:lnTo>
                    <a:pt x="3886568" y="12598"/>
                  </a:lnTo>
                  <a:lnTo>
                    <a:pt x="3920045" y="46075"/>
                  </a:lnTo>
                  <a:lnTo>
                    <a:pt x="3932288" y="91795"/>
                  </a:lnTo>
                  <a:lnTo>
                    <a:pt x="3932288" y="804951"/>
                  </a:lnTo>
                  <a:lnTo>
                    <a:pt x="3931488" y="816958"/>
                  </a:lnTo>
                  <a:lnTo>
                    <a:pt x="3929133" y="828625"/>
                  </a:lnTo>
                  <a:lnTo>
                    <a:pt x="3905597" y="869711"/>
                  </a:lnTo>
                  <a:lnTo>
                    <a:pt x="3864513" y="893243"/>
                  </a:lnTo>
                  <a:lnTo>
                    <a:pt x="3840848" y="896391"/>
                  </a:lnTo>
                  <a:lnTo>
                    <a:pt x="91439" y="896391"/>
                  </a:lnTo>
                  <a:lnTo>
                    <a:pt x="45719" y="884161"/>
                  </a:lnTo>
                  <a:lnTo>
                    <a:pt x="12242" y="850671"/>
                  </a:lnTo>
                  <a:lnTo>
                    <a:pt x="0" y="804951"/>
                  </a:lnTo>
                  <a:lnTo>
                    <a:pt x="368" y="91440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850784" y="1724304"/>
            <a:ext cx="2559685" cy="617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35" b="1">
                <a:solidFill>
                  <a:srgbClr val="423A67"/>
                </a:solidFill>
                <a:latin typeface="Verdana"/>
                <a:cs typeface="Verdana"/>
              </a:rPr>
              <a:t>Observation</a:t>
            </a:r>
            <a:r>
              <a:rPr dirty="0" sz="1700" spc="-12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0" b="1">
                <a:solidFill>
                  <a:srgbClr val="423A67"/>
                </a:solidFill>
                <a:latin typeface="Verdana"/>
                <a:cs typeface="Verdana"/>
              </a:rPr>
              <a:t>engine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measurement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vs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availability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time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3153" y="2189073"/>
            <a:ext cx="2661920" cy="1198880"/>
            <a:chOff x="543153" y="2189073"/>
            <a:chExt cx="2661920" cy="1198880"/>
          </a:xfrm>
        </p:grpSpPr>
        <p:sp>
          <p:nvSpPr>
            <p:cNvPr id="5" name="object 5"/>
            <p:cNvSpPr/>
            <p:nvPr/>
          </p:nvSpPr>
          <p:spPr>
            <a:xfrm>
              <a:off x="547916" y="2193836"/>
              <a:ext cx="2652395" cy="1189355"/>
            </a:xfrm>
            <a:custGeom>
              <a:avLst/>
              <a:gdLst/>
              <a:ahLst/>
              <a:cxnLst/>
              <a:rect l="l" t="t" r="r" b="b"/>
              <a:pathLst>
                <a:path w="2652395" h="1189354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1097648"/>
                  </a:lnTo>
                  <a:lnTo>
                    <a:pt x="798" y="1109648"/>
                  </a:lnTo>
                  <a:lnTo>
                    <a:pt x="18843" y="1153405"/>
                  </a:lnTo>
                  <a:lnTo>
                    <a:pt x="56512" y="1182096"/>
                  </a:lnTo>
                  <a:lnTo>
                    <a:pt x="91440" y="1189088"/>
                  </a:lnTo>
                  <a:lnTo>
                    <a:pt x="2560688" y="1189088"/>
                  </a:lnTo>
                  <a:lnTo>
                    <a:pt x="2606408" y="1176845"/>
                  </a:lnTo>
                  <a:lnTo>
                    <a:pt x="2639885" y="1143368"/>
                  </a:lnTo>
                  <a:lnTo>
                    <a:pt x="2652128" y="109764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E9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7916" y="2193836"/>
              <a:ext cx="2652395" cy="1189355"/>
            </a:xfrm>
            <a:custGeom>
              <a:avLst/>
              <a:gdLst/>
              <a:ahLst/>
              <a:cxnLst/>
              <a:rect l="l" t="t" r="r" b="b"/>
              <a:pathLst>
                <a:path w="2652395" h="1189354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560688" y="368"/>
                  </a:lnTo>
                  <a:lnTo>
                    <a:pt x="2606408" y="12598"/>
                  </a:lnTo>
                  <a:lnTo>
                    <a:pt x="2639885" y="46088"/>
                  </a:lnTo>
                  <a:lnTo>
                    <a:pt x="2652128" y="91808"/>
                  </a:lnTo>
                  <a:lnTo>
                    <a:pt x="2652128" y="1097648"/>
                  </a:lnTo>
                  <a:lnTo>
                    <a:pt x="2651328" y="1109648"/>
                  </a:lnTo>
                  <a:lnTo>
                    <a:pt x="2648973" y="1121313"/>
                  </a:lnTo>
                  <a:lnTo>
                    <a:pt x="2625437" y="1162397"/>
                  </a:lnTo>
                  <a:lnTo>
                    <a:pt x="2584353" y="1185933"/>
                  </a:lnTo>
                  <a:lnTo>
                    <a:pt x="2560688" y="1189088"/>
                  </a:lnTo>
                  <a:lnTo>
                    <a:pt x="91440" y="1189088"/>
                  </a:lnTo>
                  <a:lnTo>
                    <a:pt x="45720" y="1176845"/>
                  </a:lnTo>
                  <a:lnTo>
                    <a:pt x="12242" y="1143368"/>
                  </a:lnTo>
                  <a:lnTo>
                    <a:pt x="0" y="1097648"/>
                  </a:lnTo>
                  <a:lnTo>
                    <a:pt x="368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18464" y="2318664"/>
            <a:ext cx="2212340" cy="815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35" b="1">
                <a:solidFill>
                  <a:srgbClr val="423A67"/>
                </a:solidFill>
                <a:latin typeface="Verdana"/>
                <a:cs typeface="Verdana"/>
              </a:rPr>
              <a:t>React</a:t>
            </a:r>
            <a:r>
              <a:rPr dirty="0" sz="1700" spc="-16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325" b="1">
                <a:solidFill>
                  <a:srgbClr val="423A67"/>
                </a:solidFill>
                <a:latin typeface="Verdana"/>
                <a:cs typeface="Verdana"/>
              </a:rPr>
              <a:t>+</a:t>
            </a:r>
            <a:r>
              <a:rPr dirty="0" sz="1700" spc="-16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20" b="1">
                <a:solidFill>
                  <a:srgbClr val="423A67"/>
                </a:solidFill>
                <a:latin typeface="Verdana"/>
                <a:cs typeface="Verdana"/>
              </a:rPr>
              <a:t>TypeScript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55"/>
              </a:spcBef>
            </a:pP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Clinician,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patient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review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interfaces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17873" y="2189073"/>
            <a:ext cx="2661920" cy="1198880"/>
            <a:chOff x="4017873" y="2189073"/>
            <a:chExt cx="2661920" cy="1198880"/>
          </a:xfrm>
        </p:grpSpPr>
        <p:sp>
          <p:nvSpPr>
            <p:cNvPr id="9" name="object 9"/>
            <p:cNvSpPr/>
            <p:nvPr/>
          </p:nvSpPr>
          <p:spPr>
            <a:xfrm>
              <a:off x="4022636" y="2193836"/>
              <a:ext cx="2652395" cy="1189355"/>
            </a:xfrm>
            <a:custGeom>
              <a:avLst/>
              <a:gdLst/>
              <a:ahLst/>
              <a:cxnLst/>
              <a:rect l="l" t="t" r="r" b="b"/>
              <a:pathLst>
                <a:path w="2652395" h="1189354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1097648"/>
                  </a:lnTo>
                  <a:lnTo>
                    <a:pt x="798" y="1109648"/>
                  </a:lnTo>
                  <a:lnTo>
                    <a:pt x="18843" y="1153405"/>
                  </a:lnTo>
                  <a:lnTo>
                    <a:pt x="56512" y="1182096"/>
                  </a:lnTo>
                  <a:lnTo>
                    <a:pt x="91439" y="1189088"/>
                  </a:lnTo>
                  <a:lnTo>
                    <a:pt x="2560688" y="1189088"/>
                  </a:lnTo>
                  <a:lnTo>
                    <a:pt x="2606408" y="1176845"/>
                  </a:lnTo>
                  <a:lnTo>
                    <a:pt x="2639885" y="1143368"/>
                  </a:lnTo>
                  <a:lnTo>
                    <a:pt x="2652128" y="109764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423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022636" y="2193836"/>
              <a:ext cx="2652395" cy="1189355"/>
            </a:xfrm>
            <a:custGeom>
              <a:avLst/>
              <a:gdLst/>
              <a:ahLst/>
              <a:cxnLst/>
              <a:rect l="l" t="t" r="r" b="b"/>
              <a:pathLst>
                <a:path w="2652395" h="1189354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560688" y="368"/>
                  </a:lnTo>
                  <a:lnTo>
                    <a:pt x="2606408" y="12598"/>
                  </a:lnTo>
                  <a:lnTo>
                    <a:pt x="2639885" y="46088"/>
                  </a:lnTo>
                  <a:lnTo>
                    <a:pt x="2652128" y="91808"/>
                  </a:lnTo>
                  <a:lnTo>
                    <a:pt x="2652128" y="1097648"/>
                  </a:lnTo>
                  <a:lnTo>
                    <a:pt x="2651328" y="1109648"/>
                  </a:lnTo>
                  <a:lnTo>
                    <a:pt x="2648973" y="1121313"/>
                  </a:lnTo>
                  <a:lnTo>
                    <a:pt x="2625437" y="1162397"/>
                  </a:lnTo>
                  <a:lnTo>
                    <a:pt x="2584353" y="1185933"/>
                  </a:lnTo>
                  <a:lnTo>
                    <a:pt x="2560688" y="1189088"/>
                  </a:lnTo>
                  <a:lnTo>
                    <a:pt x="91439" y="1189088"/>
                  </a:lnTo>
                  <a:lnTo>
                    <a:pt x="45720" y="1176845"/>
                  </a:lnTo>
                  <a:lnTo>
                    <a:pt x="12242" y="1143368"/>
                  </a:lnTo>
                  <a:lnTo>
                    <a:pt x="0" y="1097648"/>
                  </a:lnTo>
                  <a:lnTo>
                    <a:pt x="368" y="91439"/>
                  </a:lnTo>
                  <a:close/>
                </a:path>
              </a:pathLst>
            </a:custGeom>
            <a:ln w="9359">
              <a:solidFill>
                <a:srgbClr val="423A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193184" y="2318664"/>
            <a:ext cx="2210435" cy="815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75" b="1">
                <a:solidFill>
                  <a:srgbClr val="FFFFFF"/>
                </a:solidFill>
                <a:latin typeface="Verdana"/>
                <a:cs typeface="Verdana"/>
              </a:rPr>
              <a:t>FastAPI</a:t>
            </a:r>
            <a:r>
              <a:rPr dirty="0" sz="1700" spc="-13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Verdana"/>
                <a:cs typeface="Verdana"/>
              </a:rPr>
              <a:t>backend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55"/>
              </a:spcBef>
            </a:pPr>
            <a:r>
              <a:rPr dirty="0" sz="1300" spc="-45">
                <a:solidFill>
                  <a:srgbClr val="E9E5FF"/>
                </a:solidFill>
                <a:latin typeface="Verdana"/>
                <a:cs typeface="Verdana"/>
              </a:rPr>
              <a:t>Signed</a:t>
            </a:r>
            <a:r>
              <a:rPr dirty="0" sz="1300" spc="-8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E9E5FF"/>
                </a:solidFill>
                <a:latin typeface="Verdana"/>
                <a:cs typeface="Verdana"/>
              </a:rPr>
              <a:t>demo</a:t>
            </a:r>
            <a:r>
              <a:rPr dirty="0" sz="1300" spc="-8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E9E5FF"/>
                </a:solidFill>
                <a:latin typeface="Verdana"/>
                <a:cs typeface="Verdana"/>
              </a:rPr>
              <a:t>roles</a:t>
            </a:r>
            <a:r>
              <a:rPr dirty="0" sz="1300" spc="-8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E9E5FF"/>
                </a:solidFill>
                <a:latin typeface="Verdana"/>
                <a:cs typeface="Verdana"/>
              </a:rPr>
              <a:t>·</a:t>
            </a:r>
            <a:r>
              <a:rPr dirty="0" sz="1300" spc="-8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E9E5FF"/>
                </a:solidFill>
                <a:latin typeface="Verdana"/>
                <a:cs typeface="Verdana"/>
              </a:rPr>
              <a:t>request </a:t>
            </a:r>
            <a:r>
              <a:rPr dirty="0" sz="1300" spc="-10">
                <a:solidFill>
                  <a:srgbClr val="E9E5FF"/>
                </a:solidFill>
                <a:latin typeface="Verdana"/>
                <a:cs typeface="Verdana"/>
              </a:rPr>
              <a:t>validation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46120" y="2751124"/>
            <a:ext cx="3433445" cy="2648585"/>
            <a:chOff x="3246120" y="2751124"/>
            <a:chExt cx="3433445" cy="2648585"/>
          </a:xfrm>
        </p:grpSpPr>
        <p:sp>
          <p:nvSpPr>
            <p:cNvPr id="13" name="object 13"/>
            <p:cNvSpPr/>
            <p:nvPr/>
          </p:nvSpPr>
          <p:spPr>
            <a:xfrm>
              <a:off x="3316681" y="2788919"/>
              <a:ext cx="590550" cy="635"/>
            </a:xfrm>
            <a:custGeom>
              <a:avLst/>
              <a:gdLst/>
              <a:ahLst/>
              <a:cxnLst/>
              <a:rect l="l" t="t" r="r" b="b"/>
              <a:pathLst>
                <a:path w="590550" h="635">
                  <a:moveTo>
                    <a:pt x="0" y="0"/>
                  </a:moveTo>
                  <a:lnTo>
                    <a:pt x="590397" y="355"/>
                  </a:lnTo>
                </a:path>
              </a:pathLst>
            </a:custGeom>
            <a:ln w="2231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46120" y="2751124"/>
              <a:ext cx="731520" cy="76200"/>
            </a:xfrm>
            <a:custGeom>
              <a:avLst/>
              <a:gdLst/>
              <a:ahLst/>
              <a:cxnLst/>
              <a:rect l="l" t="t" r="r" b="b"/>
              <a:pathLst>
                <a:path w="731520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590"/>
                  </a:lnTo>
                  <a:lnTo>
                    <a:pt x="75603" y="0"/>
                  </a:lnTo>
                  <a:close/>
                </a:path>
                <a:path w="731520" h="76200">
                  <a:moveTo>
                    <a:pt x="731520" y="38150"/>
                  </a:moveTo>
                  <a:lnTo>
                    <a:pt x="655916" y="355"/>
                  </a:lnTo>
                  <a:lnTo>
                    <a:pt x="655916" y="75958"/>
                  </a:lnTo>
                  <a:lnTo>
                    <a:pt x="731520" y="3815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22636" y="4205515"/>
              <a:ext cx="2652395" cy="1189355"/>
            </a:xfrm>
            <a:custGeom>
              <a:avLst/>
              <a:gdLst/>
              <a:ahLst/>
              <a:cxnLst/>
              <a:rect l="l" t="t" r="r" b="b"/>
              <a:pathLst>
                <a:path w="2652395" h="1189354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097648"/>
                  </a:lnTo>
                  <a:lnTo>
                    <a:pt x="798" y="1109648"/>
                  </a:lnTo>
                  <a:lnTo>
                    <a:pt x="18843" y="1153405"/>
                  </a:lnTo>
                  <a:lnTo>
                    <a:pt x="56512" y="1182096"/>
                  </a:lnTo>
                  <a:lnTo>
                    <a:pt x="91439" y="1189088"/>
                  </a:lnTo>
                  <a:lnTo>
                    <a:pt x="2560688" y="1189088"/>
                  </a:lnTo>
                  <a:lnTo>
                    <a:pt x="2606408" y="1176845"/>
                  </a:lnTo>
                  <a:lnTo>
                    <a:pt x="2639885" y="1143368"/>
                  </a:lnTo>
                  <a:lnTo>
                    <a:pt x="2652128" y="109764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022636" y="4205515"/>
              <a:ext cx="2652395" cy="1189355"/>
            </a:xfrm>
            <a:custGeom>
              <a:avLst/>
              <a:gdLst/>
              <a:ahLst/>
              <a:cxnLst/>
              <a:rect l="l" t="t" r="r" b="b"/>
              <a:pathLst>
                <a:path w="2652395" h="1189354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560688" y="368"/>
                  </a:lnTo>
                  <a:lnTo>
                    <a:pt x="2606408" y="12598"/>
                  </a:lnTo>
                  <a:lnTo>
                    <a:pt x="2639885" y="46088"/>
                  </a:lnTo>
                  <a:lnTo>
                    <a:pt x="2652128" y="91808"/>
                  </a:lnTo>
                  <a:lnTo>
                    <a:pt x="2652128" y="1097648"/>
                  </a:lnTo>
                  <a:lnTo>
                    <a:pt x="2651328" y="1109648"/>
                  </a:lnTo>
                  <a:lnTo>
                    <a:pt x="2648973" y="1121313"/>
                  </a:lnTo>
                  <a:lnTo>
                    <a:pt x="2625437" y="1162397"/>
                  </a:lnTo>
                  <a:lnTo>
                    <a:pt x="2584353" y="1185933"/>
                  </a:lnTo>
                  <a:lnTo>
                    <a:pt x="2560688" y="1189088"/>
                  </a:lnTo>
                  <a:lnTo>
                    <a:pt x="91439" y="1189088"/>
                  </a:lnTo>
                  <a:lnTo>
                    <a:pt x="45720" y="1176845"/>
                  </a:lnTo>
                  <a:lnTo>
                    <a:pt x="12242" y="1143368"/>
                  </a:lnTo>
                  <a:lnTo>
                    <a:pt x="0" y="1097648"/>
                  </a:lnTo>
                  <a:lnTo>
                    <a:pt x="368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193184" y="4330344"/>
            <a:ext cx="2247900" cy="815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35" b="1">
                <a:solidFill>
                  <a:srgbClr val="423A67"/>
                </a:solidFill>
                <a:latin typeface="Verdana"/>
                <a:cs typeface="Verdana"/>
              </a:rPr>
              <a:t>SQLite</a:t>
            </a:r>
            <a:r>
              <a:rPr dirty="0" sz="1700" spc="-15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0" b="1">
                <a:solidFill>
                  <a:srgbClr val="423A67"/>
                </a:solidFill>
                <a:latin typeface="Verdana"/>
                <a:cs typeface="Verdana"/>
              </a:rPr>
              <a:t>ledger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55"/>
              </a:spcBef>
            </a:pP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Local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persistence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>
                <a:solidFill>
                  <a:srgbClr val="6A648F"/>
                </a:solidFill>
                <a:latin typeface="Verdana"/>
                <a:cs typeface="Verdana"/>
              </a:rPr>
              <a:t>of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6A648F"/>
                </a:solidFill>
                <a:latin typeface="Verdana"/>
                <a:cs typeface="Verdana"/>
              </a:rPr>
              <a:t>records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and</a:t>
            </a:r>
            <a:r>
              <a:rPr dirty="0" sz="13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acknowledgements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3153" y="2040102"/>
            <a:ext cx="7046595" cy="3359785"/>
            <a:chOff x="543153" y="2040102"/>
            <a:chExt cx="7046595" cy="3359785"/>
          </a:xfrm>
        </p:grpSpPr>
        <p:sp>
          <p:nvSpPr>
            <p:cNvPr id="22" name="object 22"/>
            <p:cNvSpPr/>
            <p:nvPr/>
          </p:nvSpPr>
          <p:spPr>
            <a:xfrm>
              <a:off x="5349240" y="3499561"/>
              <a:ext cx="635" cy="590550"/>
            </a:xfrm>
            <a:custGeom>
              <a:avLst/>
              <a:gdLst/>
              <a:ahLst/>
              <a:cxnLst/>
              <a:rect l="l" t="t" r="r" b="b"/>
              <a:pathLst>
                <a:path w="635" h="590550">
                  <a:moveTo>
                    <a:pt x="0" y="0"/>
                  </a:moveTo>
                  <a:lnTo>
                    <a:pt x="355" y="590397"/>
                  </a:lnTo>
                </a:path>
              </a:pathLst>
            </a:custGeom>
            <a:ln w="2231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311445" y="3428999"/>
              <a:ext cx="76200" cy="731520"/>
            </a:xfrm>
            <a:custGeom>
              <a:avLst/>
              <a:gdLst/>
              <a:ahLst/>
              <a:cxnLst/>
              <a:rect l="l" t="t" r="r" b="b"/>
              <a:pathLst>
                <a:path w="76200" h="731520">
                  <a:moveTo>
                    <a:pt x="75590" y="75603"/>
                  </a:moveTo>
                  <a:lnTo>
                    <a:pt x="37795" y="0"/>
                  </a:lnTo>
                  <a:lnTo>
                    <a:pt x="0" y="75603"/>
                  </a:lnTo>
                  <a:lnTo>
                    <a:pt x="75590" y="75603"/>
                  </a:lnTo>
                  <a:close/>
                </a:path>
                <a:path w="76200" h="731520">
                  <a:moveTo>
                    <a:pt x="75958" y="655916"/>
                  </a:moveTo>
                  <a:lnTo>
                    <a:pt x="355" y="655916"/>
                  </a:lnTo>
                  <a:lnTo>
                    <a:pt x="38150" y="731520"/>
                  </a:lnTo>
                  <a:lnTo>
                    <a:pt x="75958" y="655916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720840" y="2788920"/>
              <a:ext cx="798195" cy="635"/>
            </a:xfrm>
            <a:custGeom>
              <a:avLst/>
              <a:gdLst/>
              <a:ahLst/>
              <a:cxnLst/>
              <a:rect l="l" t="t" r="r" b="b"/>
              <a:pathLst>
                <a:path w="798195" h="635">
                  <a:moveTo>
                    <a:pt x="0" y="0"/>
                  </a:moveTo>
                  <a:lnTo>
                    <a:pt x="798118" y="355"/>
                  </a:lnTo>
                </a:path>
              </a:pathLst>
            </a:custGeom>
            <a:ln w="2231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513917" y="27514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452359" y="2048040"/>
              <a:ext cx="635" cy="3072765"/>
            </a:xfrm>
            <a:custGeom>
              <a:avLst/>
              <a:gdLst/>
              <a:ahLst/>
              <a:cxnLst/>
              <a:rect l="l" t="t" r="r" b="b"/>
              <a:pathLst>
                <a:path w="634" h="3072765">
                  <a:moveTo>
                    <a:pt x="0" y="0"/>
                  </a:moveTo>
                  <a:lnTo>
                    <a:pt x="355" y="3072599"/>
                  </a:lnTo>
                </a:path>
              </a:pathLst>
            </a:custGeom>
            <a:ln w="1583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47916" y="4205516"/>
              <a:ext cx="2652395" cy="1189355"/>
            </a:xfrm>
            <a:custGeom>
              <a:avLst/>
              <a:gdLst/>
              <a:ahLst/>
              <a:cxnLst/>
              <a:rect l="l" t="t" r="r" b="b"/>
              <a:pathLst>
                <a:path w="2652395" h="1189354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097648"/>
                  </a:lnTo>
                  <a:lnTo>
                    <a:pt x="798" y="1109648"/>
                  </a:lnTo>
                  <a:lnTo>
                    <a:pt x="18843" y="1153405"/>
                  </a:lnTo>
                  <a:lnTo>
                    <a:pt x="56512" y="1182096"/>
                  </a:lnTo>
                  <a:lnTo>
                    <a:pt x="91440" y="1189088"/>
                  </a:lnTo>
                  <a:lnTo>
                    <a:pt x="2560688" y="1189088"/>
                  </a:lnTo>
                  <a:lnTo>
                    <a:pt x="2606408" y="1176845"/>
                  </a:lnTo>
                  <a:lnTo>
                    <a:pt x="2639885" y="1143368"/>
                  </a:lnTo>
                  <a:lnTo>
                    <a:pt x="2652128" y="1097648"/>
                  </a:lnTo>
                  <a:lnTo>
                    <a:pt x="2652103" y="91439"/>
                  </a:lnTo>
                  <a:lnTo>
                    <a:pt x="2639885" y="46088"/>
                  </a:lnTo>
                  <a:lnTo>
                    <a:pt x="2606408" y="12598"/>
                  </a:lnTo>
                  <a:lnTo>
                    <a:pt x="256068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47916" y="4205516"/>
              <a:ext cx="2652395" cy="1189355"/>
            </a:xfrm>
            <a:custGeom>
              <a:avLst/>
              <a:gdLst/>
              <a:ahLst/>
              <a:cxnLst/>
              <a:rect l="l" t="t" r="r" b="b"/>
              <a:pathLst>
                <a:path w="2652395" h="1189354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560688" y="368"/>
                  </a:lnTo>
                  <a:lnTo>
                    <a:pt x="2606408" y="12598"/>
                  </a:lnTo>
                  <a:lnTo>
                    <a:pt x="2639885" y="46088"/>
                  </a:lnTo>
                  <a:lnTo>
                    <a:pt x="2652128" y="91808"/>
                  </a:lnTo>
                  <a:lnTo>
                    <a:pt x="2652128" y="1097648"/>
                  </a:lnTo>
                  <a:lnTo>
                    <a:pt x="2651328" y="1109648"/>
                  </a:lnTo>
                  <a:lnTo>
                    <a:pt x="2648973" y="1121313"/>
                  </a:lnTo>
                  <a:lnTo>
                    <a:pt x="2625437" y="1162397"/>
                  </a:lnTo>
                  <a:lnTo>
                    <a:pt x="2584353" y="1185933"/>
                  </a:lnTo>
                  <a:lnTo>
                    <a:pt x="2560688" y="1189088"/>
                  </a:lnTo>
                  <a:lnTo>
                    <a:pt x="91440" y="1189088"/>
                  </a:lnTo>
                  <a:lnTo>
                    <a:pt x="45720" y="1176845"/>
                  </a:lnTo>
                  <a:lnTo>
                    <a:pt x="12242" y="1143368"/>
                  </a:lnTo>
                  <a:lnTo>
                    <a:pt x="0" y="1097648"/>
                  </a:lnTo>
                  <a:lnTo>
                    <a:pt x="368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7675556" y="2619356"/>
            <a:ext cx="3942079" cy="906144"/>
            <a:chOff x="7675556" y="2619356"/>
            <a:chExt cx="3942079" cy="906144"/>
          </a:xfrm>
        </p:grpSpPr>
        <p:sp>
          <p:nvSpPr>
            <p:cNvPr id="31" name="object 31"/>
            <p:cNvSpPr/>
            <p:nvPr/>
          </p:nvSpPr>
          <p:spPr>
            <a:xfrm>
              <a:off x="7680236" y="2624035"/>
              <a:ext cx="3932554" cy="896619"/>
            </a:xfrm>
            <a:custGeom>
              <a:avLst/>
              <a:gdLst/>
              <a:ahLst/>
              <a:cxnLst/>
              <a:rect l="l" t="t" r="r" b="b"/>
              <a:pathLst>
                <a:path w="3932554" h="89662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804964"/>
                  </a:lnTo>
                  <a:lnTo>
                    <a:pt x="798" y="816969"/>
                  </a:lnTo>
                  <a:lnTo>
                    <a:pt x="18843" y="860728"/>
                  </a:lnTo>
                  <a:lnTo>
                    <a:pt x="56512" y="889417"/>
                  </a:lnTo>
                  <a:lnTo>
                    <a:pt x="91439" y="896404"/>
                  </a:lnTo>
                  <a:lnTo>
                    <a:pt x="3840848" y="896404"/>
                  </a:lnTo>
                  <a:lnTo>
                    <a:pt x="3886568" y="884161"/>
                  </a:lnTo>
                  <a:lnTo>
                    <a:pt x="3920045" y="850684"/>
                  </a:lnTo>
                  <a:lnTo>
                    <a:pt x="3932288" y="804964"/>
                  </a:lnTo>
                  <a:lnTo>
                    <a:pt x="3932263" y="91439"/>
                  </a:lnTo>
                  <a:lnTo>
                    <a:pt x="3920045" y="46088"/>
                  </a:lnTo>
                  <a:lnTo>
                    <a:pt x="3886568" y="12598"/>
                  </a:lnTo>
                  <a:lnTo>
                    <a:pt x="384084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680236" y="2624035"/>
              <a:ext cx="3932554" cy="896619"/>
            </a:xfrm>
            <a:custGeom>
              <a:avLst/>
              <a:gdLst/>
              <a:ahLst/>
              <a:cxnLst/>
              <a:rect l="l" t="t" r="r" b="b"/>
              <a:pathLst>
                <a:path w="3932554" h="896620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3840848" y="368"/>
                  </a:lnTo>
                  <a:lnTo>
                    <a:pt x="3886568" y="12598"/>
                  </a:lnTo>
                  <a:lnTo>
                    <a:pt x="3920045" y="46088"/>
                  </a:lnTo>
                  <a:lnTo>
                    <a:pt x="3932288" y="91808"/>
                  </a:lnTo>
                  <a:lnTo>
                    <a:pt x="3932288" y="804964"/>
                  </a:lnTo>
                  <a:lnTo>
                    <a:pt x="3931488" y="816969"/>
                  </a:lnTo>
                  <a:lnTo>
                    <a:pt x="3929133" y="828633"/>
                  </a:lnTo>
                  <a:lnTo>
                    <a:pt x="3905597" y="869722"/>
                  </a:lnTo>
                  <a:lnTo>
                    <a:pt x="3864513" y="893254"/>
                  </a:lnTo>
                  <a:lnTo>
                    <a:pt x="3840848" y="896404"/>
                  </a:lnTo>
                  <a:lnTo>
                    <a:pt x="91439" y="896404"/>
                  </a:lnTo>
                  <a:lnTo>
                    <a:pt x="45719" y="884161"/>
                  </a:lnTo>
                  <a:lnTo>
                    <a:pt x="12242" y="850684"/>
                  </a:lnTo>
                  <a:lnTo>
                    <a:pt x="0" y="804964"/>
                  </a:lnTo>
                  <a:lnTo>
                    <a:pt x="368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850784" y="2748495"/>
            <a:ext cx="2042160" cy="617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20" b="1">
                <a:solidFill>
                  <a:srgbClr val="423A67"/>
                </a:solidFill>
                <a:latin typeface="Verdana"/>
                <a:cs typeface="Verdana"/>
              </a:rPr>
              <a:t>Seven-</a:t>
            </a:r>
            <a:r>
              <a:rPr dirty="0" sz="1700" spc="-145" b="1">
                <a:solidFill>
                  <a:srgbClr val="423A67"/>
                </a:solidFill>
                <a:latin typeface="Verdana"/>
                <a:cs typeface="Verdana"/>
              </a:rPr>
              <a:t>day</a:t>
            </a:r>
            <a:r>
              <a:rPr dirty="0" sz="1700" spc="-114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30" b="1">
                <a:solidFill>
                  <a:srgbClr val="423A67"/>
                </a:solidFill>
                <a:latin typeface="Verdana"/>
                <a:cs typeface="Verdana"/>
              </a:rPr>
              <a:t>formula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bounded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trends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837080" y="3417840"/>
            <a:ext cx="76200" cy="742950"/>
            <a:chOff x="1837080" y="3417840"/>
            <a:chExt cx="76200" cy="742950"/>
          </a:xfrm>
        </p:grpSpPr>
        <p:sp>
          <p:nvSpPr>
            <p:cNvPr id="44" name="object 44"/>
            <p:cNvSpPr/>
            <p:nvPr/>
          </p:nvSpPr>
          <p:spPr>
            <a:xfrm>
              <a:off x="1874519" y="3429000"/>
              <a:ext cx="635" cy="661035"/>
            </a:xfrm>
            <a:custGeom>
              <a:avLst/>
              <a:gdLst/>
              <a:ahLst/>
              <a:cxnLst/>
              <a:rect l="l" t="t" r="r" b="b"/>
              <a:pathLst>
                <a:path w="635" h="661035">
                  <a:moveTo>
                    <a:pt x="0" y="0"/>
                  </a:moveTo>
                  <a:lnTo>
                    <a:pt x="355" y="660958"/>
                  </a:lnTo>
                </a:path>
              </a:pathLst>
            </a:custGeom>
            <a:ln w="2231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837080" y="40849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795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7675556" y="3643560"/>
            <a:ext cx="3942079" cy="906144"/>
            <a:chOff x="7675556" y="3643560"/>
            <a:chExt cx="3942079" cy="906144"/>
          </a:xfrm>
        </p:grpSpPr>
        <p:sp>
          <p:nvSpPr>
            <p:cNvPr id="35" name="object 35"/>
            <p:cNvSpPr/>
            <p:nvPr/>
          </p:nvSpPr>
          <p:spPr>
            <a:xfrm>
              <a:off x="7680236" y="3648240"/>
              <a:ext cx="3932554" cy="896619"/>
            </a:xfrm>
            <a:custGeom>
              <a:avLst/>
              <a:gdLst/>
              <a:ahLst/>
              <a:cxnLst/>
              <a:rect l="l" t="t" r="r" b="b"/>
              <a:pathLst>
                <a:path w="3932554" h="89662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804964"/>
                  </a:lnTo>
                  <a:lnTo>
                    <a:pt x="798" y="816963"/>
                  </a:lnTo>
                  <a:lnTo>
                    <a:pt x="18843" y="860720"/>
                  </a:lnTo>
                  <a:lnTo>
                    <a:pt x="56512" y="889417"/>
                  </a:lnTo>
                  <a:lnTo>
                    <a:pt x="91439" y="896404"/>
                  </a:lnTo>
                  <a:lnTo>
                    <a:pt x="3840848" y="896404"/>
                  </a:lnTo>
                  <a:lnTo>
                    <a:pt x="3886568" y="884161"/>
                  </a:lnTo>
                  <a:lnTo>
                    <a:pt x="3920045" y="850684"/>
                  </a:lnTo>
                  <a:lnTo>
                    <a:pt x="3932288" y="804964"/>
                  </a:lnTo>
                  <a:lnTo>
                    <a:pt x="3932264" y="91439"/>
                  </a:lnTo>
                  <a:lnTo>
                    <a:pt x="3920045" y="46075"/>
                  </a:lnTo>
                  <a:lnTo>
                    <a:pt x="3886568" y="12598"/>
                  </a:lnTo>
                  <a:lnTo>
                    <a:pt x="38408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680236" y="3648240"/>
              <a:ext cx="3932554" cy="896619"/>
            </a:xfrm>
            <a:custGeom>
              <a:avLst/>
              <a:gdLst/>
              <a:ahLst/>
              <a:cxnLst/>
              <a:rect l="l" t="t" r="r" b="b"/>
              <a:pathLst>
                <a:path w="3932554" h="896620">
                  <a:moveTo>
                    <a:pt x="368" y="91439"/>
                  </a:moveTo>
                  <a:lnTo>
                    <a:pt x="1166" y="79434"/>
                  </a:lnTo>
                  <a:lnTo>
                    <a:pt x="3516" y="67770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3840848" y="355"/>
                  </a:lnTo>
                  <a:lnTo>
                    <a:pt x="3886568" y="12598"/>
                  </a:lnTo>
                  <a:lnTo>
                    <a:pt x="3920045" y="46075"/>
                  </a:lnTo>
                  <a:lnTo>
                    <a:pt x="3932288" y="91795"/>
                  </a:lnTo>
                  <a:lnTo>
                    <a:pt x="3932288" y="804964"/>
                  </a:lnTo>
                  <a:lnTo>
                    <a:pt x="3931488" y="816963"/>
                  </a:lnTo>
                  <a:lnTo>
                    <a:pt x="3929133" y="828628"/>
                  </a:lnTo>
                  <a:lnTo>
                    <a:pt x="3905597" y="869713"/>
                  </a:lnTo>
                  <a:lnTo>
                    <a:pt x="3864513" y="893254"/>
                  </a:lnTo>
                  <a:lnTo>
                    <a:pt x="3840848" y="896404"/>
                  </a:lnTo>
                  <a:lnTo>
                    <a:pt x="91439" y="896404"/>
                  </a:lnTo>
                  <a:lnTo>
                    <a:pt x="45719" y="884161"/>
                  </a:lnTo>
                  <a:lnTo>
                    <a:pt x="12242" y="850684"/>
                  </a:lnTo>
                  <a:lnTo>
                    <a:pt x="0" y="804964"/>
                  </a:lnTo>
                  <a:lnTo>
                    <a:pt x="368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7850784" y="3772699"/>
            <a:ext cx="1971039" cy="617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25" b="1">
                <a:solidFill>
                  <a:srgbClr val="423A67"/>
                </a:solidFill>
                <a:latin typeface="Verdana"/>
                <a:cs typeface="Verdana"/>
              </a:rPr>
              <a:t>Fictional</a:t>
            </a:r>
            <a:r>
              <a:rPr dirty="0" sz="1700" spc="-114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40" b="1">
                <a:solidFill>
                  <a:srgbClr val="423A67"/>
                </a:solidFill>
                <a:latin typeface="Verdana"/>
                <a:cs typeface="Verdana"/>
              </a:rPr>
              <a:t>simulator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300" spc="-170">
                <a:solidFill>
                  <a:srgbClr val="6A648F"/>
                </a:solidFill>
                <a:latin typeface="Verdana"/>
                <a:cs typeface="Verdana"/>
              </a:rPr>
              <a:t>16</a:t>
            </a:r>
            <a:r>
              <a:rPr dirty="0" sz="13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scenarios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8464" y="4330344"/>
            <a:ext cx="1416685" cy="617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423A67"/>
                </a:solidFill>
                <a:latin typeface="Verdana"/>
                <a:cs typeface="Verdana"/>
              </a:rPr>
              <a:t>Exports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PDF</a:t>
            </a:r>
            <a:r>
              <a:rPr dirty="0" sz="13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3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CSV</a:t>
            </a:r>
            <a:r>
              <a:rPr dirty="0" sz="13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3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6A648F"/>
                </a:solidFill>
                <a:latin typeface="Verdana"/>
                <a:cs typeface="Verdana"/>
              </a:rPr>
              <a:t>JSON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675556" y="4667396"/>
            <a:ext cx="3942079" cy="906144"/>
            <a:chOff x="7675556" y="4667396"/>
            <a:chExt cx="3942079" cy="906144"/>
          </a:xfrm>
        </p:grpSpPr>
        <p:sp>
          <p:nvSpPr>
            <p:cNvPr id="39" name="object 39"/>
            <p:cNvSpPr/>
            <p:nvPr/>
          </p:nvSpPr>
          <p:spPr>
            <a:xfrm>
              <a:off x="7680236" y="4672076"/>
              <a:ext cx="3932554" cy="896619"/>
            </a:xfrm>
            <a:custGeom>
              <a:avLst/>
              <a:gdLst/>
              <a:ahLst/>
              <a:cxnLst/>
              <a:rect l="l" t="t" r="r" b="b"/>
              <a:pathLst>
                <a:path w="3932554" h="89662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40"/>
                  </a:lnTo>
                  <a:lnTo>
                    <a:pt x="0" y="804964"/>
                  </a:lnTo>
                  <a:lnTo>
                    <a:pt x="798" y="816969"/>
                  </a:lnTo>
                  <a:lnTo>
                    <a:pt x="18843" y="860728"/>
                  </a:lnTo>
                  <a:lnTo>
                    <a:pt x="56512" y="889417"/>
                  </a:lnTo>
                  <a:lnTo>
                    <a:pt x="91439" y="896404"/>
                  </a:lnTo>
                  <a:lnTo>
                    <a:pt x="3840848" y="896404"/>
                  </a:lnTo>
                  <a:lnTo>
                    <a:pt x="3886568" y="884161"/>
                  </a:lnTo>
                  <a:lnTo>
                    <a:pt x="3920045" y="850684"/>
                  </a:lnTo>
                  <a:lnTo>
                    <a:pt x="3932288" y="804964"/>
                  </a:lnTo>
                  <a:lnTo>
                    <a:pt x="3932263" y="91440"/>
                  </a:lnTo>
                  <a:lnTo>
                    <a:pt x="3920045" y="46088"/>
                  </a:lnTo>
                  <a:lnTo>
                    <a:pt x="3886568" y="12598"/>
                  </a:lnTo>
                  <a:lnTo>
                    <a:pt x="384084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680236" y="4672076"/>
              <a:ext cx="3932554" cy="896619"/>
            </a:xfrm>
            <a:custGeom>
              <a:avLst/>
              <a:gdLst/>
              <a:ahLst/>
              <a:cxnLst/>
              <a:rect l="l" t="t" r="r" b="b"/>
              <a:pathLst>
                <a:path w="3932554" h="896620">
                  <a:moveTo>
                    <a:pt x="368" y="91440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3840848" y="368"/>
                  </a:lnTo>
                  <a:lnTo>
                    <a:pt x="3886568" y="12598"/>
                  </a:lnTo>
                  <a:lnTo>
                    <a:pt x="3920045" y="46088"/>
                  </a:lnTo>
                  <a:lnTo>
                    <a:pt x="3932288" y="91808"/>
                  </a:lnTo>
                  <a:lnTo>
                    <a:pt x="3932288" y="804964"/>
                  </a:lnTo>
                  <a:lnTo>
                    <a:pt x="3931488" y="816969"/>
                  </a:lnTo>
                  <a:lnTo>
                    <a:pt x="3929133" y="828633"/>
                  </a:lnTo>
                  <a:lnTo>
                    <a:pt x="3905597" y="869722"/>
                  </a:lnTo>
                  <a:lnTo>
                    <a:pt x="3864513" y="893254"/>
                  </a:lnTo>
                  <a:lnTo>
                    <a:pt x="3840848" y="896404"/>
                  </a:lnTo>
                  <a:lnTo>
                    <a:pt x="91439" y="896404"/>
                  </a:lnTo>
                  <a:lnTo>
                    <a:pt x="45719" y="884161"/>
                  </a:lnTo>
                  <a:lnTo>
                    <a:pt x="12242" y="850684"/>
                  </a:lnTo>
                  <a:lnTo>
                    <a:pt x="0" y="804964"/>
                  </a:lnTo>
                  <a:lnTo>
                    <a:pt x="368" y="91440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7850784" y="4796535"/>
            <a:ext cx="1713230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35" b="1">
                <a:solidFill>
                  <a:srgbClr val="423A67"/>
                </a:solidFill>
                <a:latin typeface="Verdana"/>
                <a:cs typeface="Verdana"/>
              </a:rPr>
              <a:t>Next-</a:t>
            </a:r>
            <a:r>
              <a:rPr dirty="0" sz="1700" spc="-145" b="1">
                <a:solidFill>
                  <a:srgbClr val="423A67"/>
                </a:solidFill>
                <a:latin typeface="Verdana"/>
                <a:cs typeface="Verdana"/>
              </a:rPr>
              <a:t>day</a:t>
            </a:r>
            <a:r>
              <a:rPr dirty="0" sz="1700" spc="-12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25" b="1">
                <a:solidFill>
                  <a:srgbClr val="423A67"/>
                </a:solidFill>
                <a:latin typeface="Verdana"/>
                <a:cs typeface="Verdana"/>
              </a:rPr>
              <a:t>model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trained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separately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5584" y="5747664"/>
            <a:ext cx="1040955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60">
                <a:solidFill>
                  <a:srgbClr val="6A648F"/>
                </a:solidFill>
                <a:latin typeface="Verdana"/>
                <a:cs typeface="Verdana"/>
              </a:rPr>
              <a:t>Results</a:t>
            </a:r>
            <a:r>
              <a:rPr dirty="0" sz="16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85">
                <a:solidFill>
                  <a:srgbClr val="6A648F"/>
                </a:solidFill>
                <a:latin typeface="Verdana"/>
                <a:cs typeface="Verdana"/>
              </a:rPr>
              <a:t>return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80">
                <a:solidFill>
                  <a:srgbClr val="6A648F"/>
                </a:solidFill>
                <a:latin typeface="Verdana"/>
                <a:cs typeface="Verdana"/>
              </a:rPr>
              <a:t>through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70">
                <a:solidFill>
                  <a:srgbClr val="6A648F"/>
                </a:solidFill>
                <a:latin typeface="Verdana"/>
                <a:cs typeface="Verdana"/>
              </a:rPr>
              <a:t>the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80">
                <a:solidFill>
                  <a:srgbClr val="6A648F"/>
                </a:solidFill>
                <a:latin typeface="Verdana"/>
                <a:cs typeface="Verdana"/>
              </a:rPr>
              <a:t>API</a:t>
            </a:r>
            <a:r>
              <a:rPr dirty="0" sz="16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80">
                <a:solidFill>
                  <a:srgbClr val="6A648F"/>
                </a:solidFill>
                <a:latin typeface="Verdana"/>
                <a:cs typeface="Verdana"/>
              </a:rPr>
              <a:t>to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70">
                <a:solidFill>
                  <a:srgbClr val="6A648F"/>
                </a:solidFill>
                <a:latin typeface="Verdana"/>
                <a:cs typeface="Verdana"/>
              </a:rPr>
              <a:t>the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55">
                <a:solidFill>
                  <a:srgbClr val="6A648F"/>
                </a:solidFill>
                <a:latin typeface="Verdana"/>
                <a:cs typeface="Verdana"/>
              </a:rPr>
              <a:t>interface.</a:t>
            </a:r>
            <a:r>
              <a:rPr dirty="0" sz="1600" spc="-85">
                <a:solidFill>
                  <a:srgbClr val="6A648F"/>
                </a:solidFill>
                <a:latin typeface="Verdana"/>
                <a:cs typeface="Verdana"/>
              </a:rPr>
              <a:t> Data</a:t>
            </a:r>
            <a:r>
              <a:rPr dirty="0" sz="16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60">
                <a:solidFill>
                  <a:srgbClr val="6A648F"/>
                </a:solidFill>
                <a:latin typeface="Verdana"/>
                <a:cs typeface="Verdana"/>
              </a:rPr>
              <a:t>enters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80">
                <a:solidFill>
                  <a:srgbClr val="6A648F"/>
                </a:solidFill>
                <a:latin typeface="Verdana"/>
                <a:cs typeface="Verdana"/>
              </a:rPr>
              <a:t>from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50">
                <a:solidFill>
                  <a:srgbClr val="6A648F"/>
                </a:solidFill>
                <a:latin typeface="Verdana"/>
                <a:cs typeface="Verdana"/>
              </a:rPr>
              <a:t>historical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50">
                <a:solidFill>
                  <a:srgbClr val="6A648F"/>
                </a:solidFill>
                <a:latin typeface="Verdana"/>
                <a:cs typeface="Verdana"/>
              </a:rPr>
              <a:t>fictional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70">
                <a:solidFill>
                  <a:srgbClr val="6A648F"/>
                </a:solidFill>
                <a:latin typeface="Verdana"/>
                <a:cs typeface="Verdana"/>
              </a:rPr>
              <a:t>records;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75">
                <a:solidFill>
                  <a:srgbClr val="6A648F"/>
                </a:solidFill>
                <a:latin typeface="Verdana"/>
                <a:cs typeface="Verdana"/>
              </a:rPr>
              <a:t>there</a:t>
            </a:r>
            <a:r>
              <a:rPr dirty="0" sz="16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35">
                <a:solidFill>
                  <a:srgbClr val="6A648F"/>
                </a:solidFill>
                <a:latin typeface="Verdana"/>
                <a:cs typeface="Verdana"/>
              </a:rPr>
              <a:t>is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60">
                <a:solidFill>
                  <a:srgbClr val="6A648F"/>
                </a:solidFill>
                <a:latin typeface="Verdana"/>
                <a:cs typeface="Verdana"/>
              </a:rPr>
              <a:t>no</a:t>
            </a:r>
            <a:r>
              <a:rPr dirty="0" sz="16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6A648F"/>
                </a:solidFill>
                <a:latin typeface="Verdana"/>
                <a:cs typeface="Verdana"/>
              </a:rPr>
              <a:t>active </a:t>
            </a:r>
            <a:r>
              <a:rPr dirty="0" sz="1600" spc="-55">
                <a:solidFill>
                  <a:srgbClr val="6A648F"/>
                </a:solidFill>
                <a:latin typeface="Verdana"/>
                <a:cs typeface="Verdana"/>
              </a:rPr>
              <a:t>wearable</a:t>
            </a:r>
            <a:r>
              <a:rPr dirty="0" sz="16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600" spc="-20">
                <a:solidFill>
                  <a:srgbClr val="6A648F"/>
                </a:solidFill>
                <a:latin typeface="Verdana"/>
                <a:cs typeface="Verdana"/>
              </a:rPr>
              <a:t>feed.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930585" y="6475954"/>
            <a:ext cx="741680" cy="17970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Pulmira</a:t>
            </a:r>
            <a:r>
              <a:rPr dirty="0" sz="10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85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6A648F"/>
                </a:solidFill>
                <a:latin typeface="Verdana"/>
                <a:cs typeface="Verdana"/>
              </a:rPr>
              <a:t>04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2287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P</a:t>
            </a:r>
            <a:r>
              <a:rPr dirty="0" sz="1200" spc="-21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21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N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48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W</a:t>
            </a:r>
            <a:r>
              <a:rPr dirty="0" sz="1200" spc="-13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 </a:t>
            </a: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70" b="1">
                <a:solidFill>
                  <a:srgbClr val="7B5BFF"/>
                </a:solidFill>
                <a:latin typeface="Verdana"/>
                <a:cs typeface="Verdana"/>
              </a:rPr>
              <a:t>K</a:t>
            </a:r>
            <a:r>
              <a:rPr dirty="0" sz="1200" spc="-12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75" b="1">
                <a:solidFill>
                  <a:srgbClr val="7B5BFF"/>
                </a:solidFill>
                <a:latin typeface="Verdana"/>
                <a:cs typeface="Verdana"/>
              </a:rPr>
              <a:t>S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P</a:t>
            </a:r>
            <a:r>
              <a:rPr dirty="0" sz="1200" spc="-2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16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C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4"/>
              <a:t>A</a:t>
            </a:r>
            <a:r>
              <a:rPr dirty="0" spc="-325"/>
              <a:t> </a:t>
            </a:r>
            <a:r>
              <a:rPr dirty="0" spc="-270"/>
              <a:t>patient-</a:t>
            </a:r>
            <a:r>
              <a:rPr dirty="0" spc="-160"/>
              <a:t>specific</a:t>
            </a:r>
            <a:r>
              <a:rPr dirty="0" spc="-320"/>
              <a:t> </a:t>
            </a:r>
            <a:r>
              <a:rPr dirty="0" spc="-325"/>
              <a:t>view</a:t>
            </a:r>
          </a:p>
        </p:txBody>
      </p:sp>
      <p:grpSp>
        <p:nvGrpSpPr>
          <p:cNvPr id="4" name="object 4" descr="preencoded.png"/>
          <p:cNvGrpSpPr/>
          <p:nvPr/>
        </p:nvGrpSpPr>
        <p:grpSpPr>
          <a:xfrm>
            <a:off x="507244" y="1466996"/>
            <a:ext cx="8220709" cy="3684270"/>
            <a:chOff x="507244" y="1466996"/>
            <a:chExt cx="8220709" cy="3684270"/>
          </a:xfrm>
        </p:grpSpPr>
        <p:sp>
          <p:nvSpPr>
            <p:cNvPr id="5" name="object 5"/>
            <p:cNvSpPr/>
            <p:nvPr/>
          </p:nvSpPr>
          <p:spPr>
            <a:xfrm>
              <a:off x="511924" y="1471676"/>
              <a:ext cx="8211820" cy="3675379"/>
            </a:xfrm>
            <a:custGeom>
              <a:avLst/>
              <a:gdLst/>
              <a:ahLst/>
              <a:cxnLst/>
              <a:rect l="l" t="t" r="r" b="b"/>
              <a:pathLst>
                <a:path w="8211820" h="3675379">
                  <a:moveTo>
                    <a:pt x="8137791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01808"/>
                  </a:lnTo>
                  <a:lnTo>
                    <a:pt x="597" y="3611079"/>
                  </a:lnTo>
                  <a:lnTo>
                    <a:pt x="607" y="3611235"/>
                  </a:lnTo>
                  <a:lnTo>
                    <a:pt x="21280" y="3653416"/>
                  </a:lnTo>
                  <a:lnTo>
                    <a:pt x="63442" y="3674277"/>
                  </a:lnTo>
                  <a:lnTo>
                    <a:pt x="73075" y="3674884"/>
                  </a:lnTo>
                  <a:lnTo>
                    <a:pt x="8138160" y="3674529"/>
                  </a:lnTo>
                  <a:lnTo>
                    <a:pt x="8182530" y="3659475"/>
                  </a:lnTo>
                  <a:lnTo>
                    <a:pt x="8208791" y="3620527"/>
                  </a:lnTo>
                  <a:lnTo>
                    <a:pt x="8211212" y="3601808"/>
                  </a:lnTo>
                  <a:lnTo>
                    <a:pt x="8211235" y="3601440"/>
                  </a:lnTo>
                  <a:lnTo>
                    <a:pt x="8210880" y="73088"/>
                  </a:lnTo>
                  <a:lnTo>
                    <a:pt x="8195826" y="28710"/>
                  </a:lnTo>
                  <a:lnTo>
                    <a:pt x="8156832" y="2430"/>
                  </a:lnTo>
                  <a:lnTo>
                    <a:pt x="8147431" y="607"/>
                  </a:lnTo>
                  <a:lnTo>
                    <a:pt x="81377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11924" y="1471676"/>
              <a:ext cx="8211820" cy="3675379"/>
            </a:xfrm>
            <a:custGeom>
              <a:avLst/>
              <a:gdLst/>
              <a:ahLst/>
              <a:cxnLst/>
              <a:rect l="l" t="t" r="r" b="b"/>
              <a:pathLst>
                <a:path w="8211820" h="367537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053"/>
                  </a:lnTo>
                  <a:lnTo>
                    <a:pt x="73075" y="0"/>
                  </a:lnTo>
                  <a:lnTo>
                    <a:pt x="8137791" y="0"/>
                  </a:lnTo>
                  <a:lnTo>
                    <a:pt x="8182474" y="15109"/>
                  </a:lnTo>
                  <a:lnTo>
                    <a:pt x="8208449" y="54365"/>
                  </a:lnTo>
                  <a:lnTo>
                    <a:pt x="8210880" y="73088"/>
                  </a:lnTo>
                  <a:lnTo>
                    <a:pt x="8211235" y="3601440"/>
                  </a:lnTo>
                  <a:lnTo>
                    <a:pt x="8210628" y="3611079"/>
                  </a:lnTo>
                  <a:lnTo>
                    <a:pt x="8208806" y="3620481"/>
                  </a:lnTo>
                  <a:lnTo>
                    <a:pt x="8182530" y="3659475"/>
                  </a:lnTo>
                  <a:lnTo>
                    <a:pt x="8138160" y="3674529"/>
                  </a:lnTo>
                  <a:lnTo>
                    <a:pt x="73075" y="3674884"/>
                  </a:lnTo>
                  <a:lnTo>
                    <a:pt x="28398" y="3659780"/>
                  </a:lnTo>
                  <a:lnTo>
                    <a:pt x="2428" y="3620527"/>
                  </a:lnTo>
                  <a:lnTo>
                    <a:pt x="0" y="3601808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508404"/>
              <a:ext cx="8137804" cy="360144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956084" y="1503724"/>
            <a:ext cx="2707640" cy="2159000"/>
            <a:chOff x="8956084" y="1503724"/>
            <a:chExt cx="2707640" cy="2159000"/>
          </a:xfrm>
        </p:grpSpPr>
        <p:sp>
          <p:nvSpPr>
            <p:cNvPr id="9" name="object 9"/>
            <p:cNvSpPr/>
            <p:nvPr/>
          </p:nvSpPr>
          <p:spPr>
            <a:xfrm>
              <a:off x="8960764" y="1508404"/>
              <a:ext cx="2698115" cy="2149475"/>
            </a:xfrm>
            <a:custGeom>
              <a:avLst/>
              <a:gdLst/>
              <a:ahLst/>
              <a:cxnLst/>
              <a:rect l="l" t="t" r="r" b="b"/>
              <a:pathLst>
                <a:path w="2698115" h="21494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2057755"/>
                  </a:lnTo>
                  <a:lnTo>
                    <a:pt x="798" y="2069760"/>
                  </a:lnTo>
                  <a:lnTo>
                    <a:pt x="18830" y="2113519"/>
                  </a:lnTo>
                  <a:lnTo>
                    <a:pt x="56505" y="2142209"/>
                  </a:lnTo>
                  <a:lnTo>
                    <a:pt x="91440" y="2149195"/>
                  </a:lnTo>
                  <a:lnTo>
                    <a:pt x="2606395" y="2149195"/>
                  </a:lnTo>
                  <a:lnTo>
                    <a:pt x="2652115" y="2136952"/>
                  </a:lnTo>
                  <a:lnTo>
                    <a:pt x="2685592" y="2103475"/>
                  </a:lnTo>
                  <a:lnTo>
                    <a:pt x="2697835" y="2057755"/>
                  </a:lnTo>
                  <a:lnTo>
                    <a:pt x="2697811" y="91439"/>
                  </a:lnTo>
                  <a:lnTo>
                    <a:pt x="2685592" y="46075"/>
                  </a:lnTo>
                  <a:lnTo>
                    <a:pt x="2652115" y="12598"/>
                  </a:lnTo>
                  <a:lnTo>
                    <a:pt x="26063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960764" y="1508404"/>
              <a:ext cx="2698115" cy="2149475"/>
            </a:xfrm>
            <a:custGeom>
              <a:avLst/>
              <a:gdLst/>
              <a:ahLst/>
              <a:cxnLst/>
              <a:rect l="l" t="t" r="r" b="b"/>
              <a:pathLst>
                <a:path w="2698115" h="214947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2606395" y="355"/>
                  </a:lnTo>
                  <a:lnTo>
                    <a:pt x="2652115" y="12598"/>
                  </a:lnTo>
                  <a:lnTo>
                    <a:pt x="2685592" y="46075"/>
                  </a:lnTo>
                  <a:lnTo>
                    <a:pt x="2697835" y="91795"/>
                  </a:lnTo>
                  <a:lnTo>
                    <a:pt x="2697835" y="2057755"/>
                  </a:lnTo>
                  <a:lnTo>
                    <a:pt x="2697037" y="2069760"/>
                  </a:lnTo>
                  <a:lnTo>
                    <a:pt x="2694686" y="2081425"/>
                  </a:lnTo>
                  <a:lnTo>
                    <a:pt x="2671154" y="2122514"/>
                  </a:lnTo>
                  <a:lnTo>
                    <a:pt x="2630065" y="2146046"/>
                  </a:lnTo>
                  <a:lnTo>
                    <a:pt x="2606395" y="2149195"/>
                  </a:lnTo>
                  <a:lnTo>
                    <a:pt x="91440" y="2149195"/>
                  </a:lnTo>
                  <a:lnTo>
                    <a:pt x="45720" y="2136952"/>
                  </a:lnTo>
                  <a:lnTo>
                    <a:pt x="12230" y="2103475"/>
                  </a:lnTo>
                  <a:lnTo>
                    <a:pt x="0" y="2057755"/>
                  </a:lnTo>
                  <a:lnTo>
                    <a:pt x="355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162364" y="172835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2" y="50584"/>
                  </a:lnTo>
                  <a:lnTo>
                    <a:pt x="23393" y="86766"/>
                  </a:lnTo>
                  <a:lnTo>
                    <a:pt x="5891" y="128524"/>
                  </a:lnTo>
                  <a:lnTo>
                    <a:pt x="0" y="173520"/>
                  </a:lnTo>
                  <a:lnTo>
                    <a:pt x="1478" y="196294"/>
                  </a:lnTo>
                  <a:lnTo>
                    <a:pt x="13207" y="239948"/>
                  </a:lnTo>
                  <a:lnTo>
                    <a:pt x="35979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0" y="279352"/>
                  </a:lnTo>
                  <a:lnTo>
                    <a:pt x="334178" y="239948"/>
                  </a:lnTo>
                  <a:lnTo>
                    <a:pt x="345915" y="196294"/>
                  </a:lnTo>
                  <a:lnTo>
                    <a:pt x="347395" y="173520"/>
                  </a:lnTo>
                  <a:lnTo>
                    <a:pt x="345915" y="150752"/>
                  </a:lnTo>
                  <a:lnTo>
                    <a:pt x="334178" y="107104"/>
                  </a:lnTo>
                  <a:lnTo>
                    <a:pt x="311410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62364" y="172835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520"/>
                  </a:moveTo>
                  <a:lnTo>
                    <a:pt x="1478" y="150752"/>
                  </a:lnTo>
                  <a:lnTo>
                    <a:pt x="5891" y="128524"/>
                  </a:lnTo>
                  <a:lnTo>
                    <a:pt x="23393" y="86766"/>
                  </a:lnTo>
                  <a:lnTo>
                    <a:pt x="50892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2" y="50584"/>
                  </a:lnTo>
                  <a:lnTo>
                    <a:pt x="323989" y="86766"/>
                  </a:lnTo>
                  <a:lnTo>
                    <a:pt x="341498" y="128524"/>
                  </a:lnTo>
                  <a:lnTo>
                    <a:pt x="347395" y="173520"/>
                  </a:lnTo>
                  <a:lnTo>
                    <a:pt x="345915" y="196294"/>
                  </a:lnTo>
                  <a:lnTo>
                    <a:pt x="341498" y="218527"/>
                  </a:lnTo>
                  <a:lnTo>
                    <a:pt x="323989" y="260286"/>
                  </a:lnTo>
                  <a:lnTo>
                    <a:pt x="296502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2" y="296464"/>
                  </a:lnTo>
                  <a:lnTo>
                    <a:pt x="23393" y="260286"/>
                  </a:lnTo>
                  <a:lnTo>
                    <a:pt x="5891" y="218527"/>
                  </a:lnTo>
                  <a:lnTo>
                    <a:pt x="1478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287903" y="1790179"/>
            <a:ext cx="971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420" b="1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33864" y="1773618"/>
            <a:ext cx="166179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35" b="1">
                <a:solidFill>
                  <a:srgbClr val="423A67"/>
                </a:solidFill>
                <a:latin typeface="Verdana"/>
                <a:cs typeface="Verdana"/>
              </a:rPr>
              <a:t>Recorded</a:t>
            </a:r>
            <a:r>
              <a:rPr dirty="0" sz="1700" spc="-13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05" b="1">
                <a:solidFill>
                  <a:srgbClr val="423A67"/>
                </a:solidFill>
                <a:latin typeface="Verdana"/>
                <a:cs typeface="Verdana"/>
              </a:rPr>
              <a:t>vitals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9663" y="2208860"/>
            <a:ext cx="2294255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>
                <a:solidFill>
                  <a:srgbClr val="6A648F"/>
                </a:solidFill>
                <a:latin typeface="Verdana"/>
                <a:cs typeface="Verdana"/>
              </a:rPr>
              <a:t>SpO₂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95">
                <a:solidFill>
                  <a:srgbClr val="6A648F"/>
                </a:solidFill>
                <a:latin typeface="Verdana"/>
                <a:cs typeface="Verdana"/>
              </a:rPr>
              <a:t>96.2%, </a:t>
            </a:r>
            <a:r>
              <a:rPr dirty="0" sz="1500" spc="-65">
                <a:solidFill>
                  <a:srgbClr val="6A648F"/>
                </a:solidFill>
                <a:latin typeface="Verdana"/>
                <a:cs typeface="Verdana"/>
              </a:rPr>
              <a:t>heart</a:t>
            </a:r>
            <a:r>
              <a:rPr dirty="0" sz="15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rate</a:t>
            </a:r>
            <a:endParaRPr sz="15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dirty="0" sz="1500" spc="-80">
                <a:solidFill>
                  <a:srgbClr val="6A648F"/>
                </a:solidFill>
                <a:latin typeface="Verdana"/>
                <a:cs typeface="Verdana"/>
              </a:rPr>
              <a:t>73.4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80">
                <a:solidFill>
                  <a:srgbClr val="6A648F"/>
                </a:solidFill>
                <a:latin typeface="Verdana"/>
                <a:cs typeface="Verdana"/>
              </a:rPr>
              <a:t>bpm</a:t>
            </a:r>
            <a:r>
              <a:rPr dirty="0" sz="15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6A648F"/>
                </a:solidFill>
                <a:latin typeface="Verdana"/>
                <a:cs typeface="Verdana"/>
              </a:rPr>
              <a:t>and</a:t>
            </a:r>
            <a:r>
              <a:rPr dirty="0" sz="15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50">
                <a:solidFill>
                  <a:srgbClr val="6A648F"/>
                </a:solidFill>
                <a:latin typeface="Verdana"/>
                <a:cs typeface="Verdana"/>
              </a:rPr>
              <a:t>respiratory </a:t>
            </a:r>
            <a:r>
              <a:rPr dirty="0" sz="1500" spc="-75">
                <a:solidFill>
                  <a:srgbClr val="6A648F"/>
                </a:solidFill>
                <a:latin typeface="Verdana"/>
                <a:cs typeface="Verdana"/>
              </a:rPr>
              <a:t>rate</a:t>
            </a:r>
            <a:r>
              <a:rPr dirty="0" sz="15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35">
                <a:solidFill>
                  <a:srgbClr val="6A648F"/>
                </a:solidFill>
                <a:latin typeface="Verdana"/>
                <a:cs typeface="Verdana"/>
              </a:rPr>
              <a:t>16.8/min,</a:t>
            </a:r>
            <a:r>
              <a:rPr dirty="0" sz="15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each</a:t>
            </a:r>
            <a:r>
              <a:rPr dirty="0" sz="15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with </a:t>
            </a:r>
            <a:r>
              <a:rPr dirty="0" sz="1500" spc="-60">
                <a:solidFill>
                  <a:srgbClr val="6A648F"/>
                </a:solidFill>
                <a:latin typeface="Verdana"/>
                <a:cs typeface="Verdana"/>
              </a:rPr>
              <a:t>its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40">
                <a:solidFill>
                  <a:srgbClr val="6A648F"/>
                </a:solidFill>
                <a:latin typeface="Verdana"/>
                <a:cs typeface="Verdana"/>
              </a:rPr>
              <a:t>own</a:t>
            </a:r>
            <a:r>
              <a:rPr dirty="0" sz="15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6A648F"/>
                </a:solidFill>
                <a:latin typeface="Verdana"/>
                <a:cs typeface="Verdana"/>
              </a:rPr>
              <a:t>source</a:t>
            </a:r>
            <a:r>
              <a:rPr dirty="0" sz="1500" spc="-9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stream </a:t>
            </a:r>
            <a:r>
              <a:rPr dirty="0" sz="1500" spc="-60">
                <a:solidFill>
                  <a:srgbClr val="6A648F"/>
                </a:solidFill>
                <a:latin typeface="Verdana"/>
                <a:cs typeface="Verdana"/>
              </a:rPr>
              <a:t>and</a:t>
            </a:r>
            <a:r>
              <a:rPr dirty="0" sz="1500" spc="-11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age.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956084" y="3835444"/>
            <a:ext cx="2707640" cy="2159000"/>
            <a:chOff x="8956084" y="3835444"/>
            <a:chExt cx="2707640" cy="2159000"/>
          </a:xfrm>
        </p:grpSpPr>
        <p:sp>
          <p:nvSpPr>
            <p:cNvPr id="17" name="object 17"/>
            <p:cNvSpPr/>
            <p:nvPr/>
          </p:nvSpPr>
          <p:spPr>
            <a:xfrm>
              <a:off x="8960764" y="3840124"/>
              <a:ext cx="2698115" cy="2149475"/>
            </a:xfrm>
            <a:custGeom>
              <a:avLst/>
              <a:gdLst/>
              <a:ahLst/>
              <a:cxnLst/>
              <a:rect l="l" t="t" r="r" b="b"/>
              <a:pathLst>
                <a:path w="2698115" h="21494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057755"/>
                  </a:lnTo>
                  <a:lnTo>
                    <a:pt x="798" y="2069760"/>
                  </a:lnTo>
                  <a:lnTo>
                    <a:pt x="18830" y="2113519"/>
                  </a:lnTo>
                  <a:lnTo>
                    <a:pt x="56505" y="2142209"/>
                  </a:lnTo>
                  <a:lnTo>
                    <a:pt x="91440" y="2149195"/>
                  </a:lnTo>
                  <a:lnTo>
                    <a:pt x="2606395" y="2149195"/>
                  </a:lnTo>
                  <a:lnTo>
                    <a:pt x="2652115" y="2136952"/>
                  </a:lnTo>
                  <a:lnTo>
                    <a:pt x="2685592" y="2103475"/>
                  </a:lnTo>
                  <a:lnTo>
                    <a:pt x="2697835" y="2057755"/>
                  </a:lnTo>
                  <a:lnTo>
                    <a:pt x="2697811" y="91439"/>
                  </a:lnTo>
                  <a:lnTo>
                    <a:pt x="2685592" y="46075"/>
                  </a:lnTo>
                  <a:lnTo>
                    <a:pt x="2652115" y="12598"/>
                  </a:lnTo>
                  <a:lnTo>
                    <a:pt x="26063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960764" y="3840124"/>
              <a:ext cx="2698115" cy="2149475"/>
            </a:xfrm>
            <a:custGeom>
              <a:avLst/>
              <a:gdLst/>
              <a:ahLst/>
              <a:cxnLst/>
              <a:rect l="l" t="t" r="r" b="b"/>
              <a:pathLst>
                <a:path w="2698115" h="214947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2606395" y="355"/>
                  </a:lnTo>
                  <a:lnTo>
                    <a:pt x="2652115" y="12598"/>
                  </a:lnTo>
                  <a:lnTo>
                    <a:pt x="2685592" y="46075"/>
                  </a:lnTo>
                  <a:lnTo>
                    <a:pt x="2697835" y="91795"/>
                  </a:lnTo>
                  <a:lnTo>
                    <a:pt x="2697835" y="2057755"/>
                  </a:lnTo>
                  <a:lnTo>
                    <a:pt x="2697037" y="2069760"/>
                  </a:lnTo>
                  <a:lnTo>
                    <a:pt x="2694686" y="2081425"/>
                  </a:lnTo>
                  <a:lnTo>
                    <a:pt x="2671154" y="2122514"/>
                  </a:lnTo>
                  <a:lnTo>
                    <a:pt x="2630065" y="2146046"/>
                  </a:lnTo>
                  <a:lnTo>
                    <a:pt x="2606395" y="2149195"/>
                  </a:lnTo>
                  <a:lnTo>
                    <a:pt x="91440" y="2149195"/>
                  </a:lnTo>
                  <a:lnTo>
                    <a:pt x="45720" y="2136952"/>
                  </a:lnTo>
                  <a:lnTo>
                    <a:pt x="12230" y="2103475"/>
                  </a:lnTo>
                  <a:lnTo>
                    <a:pt x="0" y="2057755"/>
                  </a:lnTo>
                  <a:lnTo>
                    <a:pt x="355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62364" y="406007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2" y="50584"/>
                  </a:lnTo>
                  <a:lnTo>
                    <a:pt x="23393" y="86766"/>
                  </a:lnTo>
                  <a:lnTo>
                    <a:pt x="5891" y="128523"/>
                  </a:lnTo>
                  <a:lnTo>
                    <a:pt x="0" y="173520"/>
                  </a:lnTo>
                  <a:lnTo>
                    <a:pt x="1478" y="196294"/>
                  </a:lnTo>
                  <a:lnTo>
                    <a:pt x="13207" y="239948"/>
                  </a:lnTo>
                  <a:lnTo>
                    <a:pt x="35979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0" y="279352"/>
                  </a:lnTo>
                  <a:lnTo>
                    <a:pt x="334178" y="239948"/>
                  </a:lnTo>
                  <a:lnTo>
                    <a:pt x="345915" y="196294"/>
                  </a:lnTo>
                  <a:lnTo>
                    <a:pt x="347395" y="173520"/>
                  </a:lnTo>
                  <a:lnTo>
                    <a:pt x="345915" y="150752"/>
                  </a:lnTo>
                  <a:lnTo>
                    <a:pt x="334178" y="107104"/>
                  </a:lnTo>
                  <a:lnTo>
                    <a:pt x="311410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162364" y="406007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520"/>
                  </a:moveTo>
                  <a:lnTo>
                    <a:pt x="1478" y="150752"/>
                  </a:lnTo>
                  <a:lnTo>
                    <a:pt x="5891" y="128523"/>
                  </a:lnTo>
                  <a:lnTo>
                    <a:pt x="23393" y="86766"/>
                  </a:lnTo>
                  <a:lnTo>
                    <a:pt x="50892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2" y="50584"/>
                  </a:lnTo>
                  <a:lnTo>
                    <a:pt x="323989" y="86766"/>
                  </a:lnTo>
                  <a:lnTo>
                    <a:pt x="341498" y="128523"/>
                  </a:lnTo>
                  <a:lnTo>
                    <a:pt x="347395" y="173520"/>
                  </a:lnTo>
                  <a:lnTo>
                    <a:pt x="345915" y="196294"/>
                  </a:lnTo>
                  <a:lnTo>
                    <a:pt x="341498" y="218527"/>
                  </a:lnTo>
                  <a:lnTo>
                    <a:pt x="323989" y="260286"/>
                  </a:lnTo>
                  <a:lnTo>
                    <a:pt x="296502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2" y="296464"/>
                  </a:lnTo>
                  <a:lnTo>
                    <a:pt x="23393" y="260286"/>
                  </a:lnTo>
                  <a:lnTo>
                    <a:pt x="5891" y="218527"/>
                  </a:lnTo>
                  <a:lnTo>
                    <a:pt x="1478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271698" y="4121899"/>
            <a:ext cx="12953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5" b="1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33864" y="3975734"/>
            <a:ext cx="112395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423A67"/>
                </a:solidFill>
                <a:latin typeface="Verdana"/>
                <a:cs typeface="Verdana"/>
              </a:rPr>
              <a:t>Explicit </a:t>
            </a:r>
            <a:r>
              <a:rPr dirty="0" sz="1700" spc="-160" b="1">
                <a:solidFill>
                  <a:srgbClr val="423A67"/>
                </a:solidFill>
                <a:latin typeface="Verdana"/>
                <a:cs typeface="Verdana"/>
              </a:rPr>
              <a:t>unknowns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9663" y="4540580"/>
            <a:ext cx="229489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Sleep,</a:t>
            </a:r>
            <a:r>
              <a:rPr dirty="0" sz="1500" spc="-10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65">
                <a:solidFill>
                  <a:srgbClr val="6A648F"/>
                </a:solidFill>
                <a:latin typeface="Verdana"/>
                <a:cs typeface="Verdana"/>
              </a:rPr>
              <a:t>gait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6A648F"/>
                </a:solidFill>
                <a:latin typeface="Verdana"/>
                <a:cs typeface="Verdana"/>
              </a:rPr>
              <a:t>and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6A648F"/>
                </a:solidFill>
                <a:latin typeface="Verdana"/>
                <a:cs typeface="Verdana"/>
              </a:rPr>
              <a:t>air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45">
                <a:solidFill>
                  <a:srgbClr val="6A648F"/>
                </a:solidFill>
                <a:latin typeface="Verdana"/>
                <a:cs typeface="Verdana"/>
              </a:rPr>
              <a:t>quality </a:t>
            </a:r>
            <a:r>
              <a:rPr dirty="0" sz="1500" spc="-65">
                <a:solidFill>
                  <a:srgbClr val="6A648F"/>
                </a:solidFill>
                <a:latin typeface="Verdana"/>
                <a:cs typeface="Verdana"/>
              </a:rPr>
              <a:t>are</a:t>
            </a:r>
            <a:r>
              <a:rPr dirty="0" sz="15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6A648F"/>
                </a:solidFill>
                <a:latin typeface="Verdana"/>
                <a:cs typeface="Verdana"/>
              </a:rPr>
              <a:t>not</a:t>
            </a:r>
            <a:r>
              <a:rPr dirty="0" sz="15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40">
                <a:solidFill>
                  <a:srgbClr val="6A648F"/>
                </a:solidFill>
                <a:latin typeface="Verdana"/>
                <a:cs typeface="Verdana"/>
              </a:rPr>
              <a:t>observed</a:t>
            </a:r>
            <a:r>
              <a:rPr dirty="0" sz="15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65">
                <a:solidFill>
                  <a:srgbClr val="6A648F"/>
                </a:solidFill>
                <a:latin typeface="Verdana"/>
                <a:cs typeface="Verdana"/>
              </a:rPr>
              <a:t>by</a:t>
            </a:r>
            <a:r>
              <a:rPr dirty="0" sz="1500" spc="-9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this </a:t>
            </a:r>
            <a:r>
              <a:rPr dirty="0" sz="1500" spc="-25">
                <a:solidFill>
                  <a:srgbClr val="6A648F"/>
                </a:solidFill>
                <a:latin typeface="Verdana"/>
                <a:cs typeface="Verdana"/>
              </a:rPr>
              <a:t>decision</a:t>
            </a:r>
            <a:r>
              <a:rPr dirty="0" sz="1500" spc="-10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95">
                <a:solidFill>
                  <a:srgbClr val="6A648F"/>
                </a:solidFill>
                <a:latin typeface="Verdana"/>
                <a:cs typeface="Verdana"/>
              </a:rPr>
              <a:t>time,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>
                <a:solidFill>
                  <a:srgbClr val="6A648F"/>
                </a:solidFill>
                <a:latin typeface="Verdana"/>
                <a:cs typeface="Verdana"/>
              </a:rPr>
              <a:t>so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they </a:t>
            </a:r>
            <a:r>
              <a:rPr dirty="0" sz="1500" spc="-60">
                <a:solidFill>
                  <a:srgbClr val="6A648F"/>
                </a:solidFill>
                <a:latin typeface="Verdana"/>
                <a:cs typeface="Verdana"/>
              </a:rPr>
              <a:t>stay</a:t>
            </a:r>
            <a:r>
              <a:rPr dirty="0" sz="1500" spc="-11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unknown.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5584" y="5262016"/>
            <a:ext cx="8138159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Fictional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profile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at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a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historical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6A648F"/>
                </a:solidFill>
                <a:latin typeface="Verdana"/>
                <a:cs typeface="Verdana"/>
              </a:rPr>
              <a:t>decision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85">
                <a:solidFill>
                  <a:srgbClr val="6A648F"/>
                </a:solidFill>
                <a:latin typeface="Verdana"/>
                <a:cs typeface="Verdana"/>
              </a:rPr>
              <a:t>time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15">
                <a:solidFill>
                  <a:srgbClr val="6A648F"/>
                </a:solidFill>
                <a:latin typeface="Verdana"/>
                <a:cs typeface="Verdana"/>
              </a:rPr>
              <a:t>(1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6A648F"/>
                </a:solidFill>
                <a:latin typeface="Verdana"/>
                <a:cs typeface="Verdana"/>
              </a:rPr>
              <a:t>Mar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2025).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6A648F"/>
                </a:solidFill>
                <a:latin typeface="Verdana"/>
                <a:cs typeface="Verdana"/>
              </a:rPr>
              <a:t>The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lung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illustration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6A648F"/>
                </a:solidFill>
                <a:latin typeface="Verdana"/>
                <a:cs typeface="Verdana"/>
              </a:rPr>
              <a:t>is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decorative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85">
                <a:solidFill>
                  <a:srgbClr val="6A648F"/>
                </a:solidFill>
                <a:latin typeface="Verdana"/>
                <a:cs typeface="Verdana"/>
              </a:rPr>
              <a:t>anatomy,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6A648F"/>
                </a:solidFill>
                <a:latin typeface="Verdana"/>
                <a:cs typeface="Verdana"/>
              </a:rPr>
              <a:t>not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a</a:t>
            </a:r>
            <a:r>
              <a:rPr dirty="0" sz="13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patient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6A648F"/>
                </a:solidFill>
                <a:latin typeface="Verdana"/>
                <a:cs typeface="Verdana"/>
              </a:rPr>
              <a:t>scan.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935258" y="6475954"/>
            <a:ext cx="737235" cy="17970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Pulmira</a:t>
            </a:r>
            <a:r>
              <a:rPr dirty="0" sz="10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85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6A648F"/>
                </a:solidFill>
                <a:latin typeface="Verdana"/>
                <a:cs typeface="Verdana"/>
              </a:rPr>
              <a:t>05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1568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40" b="1">
                <a:solidFill>
                  <a:srgbClr val="7B5BFF"/>
                </a:solidFill>
                <a:latin typeface="Verdana"/>
                <a:cs typeface="Verdana"/>
              </a:rPr>
              <a:t>D</a:t>
            </a:r>
            <a:r>
              <a:rPr dirty="0" sz="1200" spc="-16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22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22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47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Q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U</a:t>
            </a:r>
            <a:r>
              <a:rPr dirty="0" sz="1200" spc="-13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0" b="1">
                <a:solidFill>
                  <a:srgbClr val="7B5BFF"/>
                </a:solidFill>
                <a:latin typeface="Verdana"/>
                <a:cs typeface="Verdana"/>
              </a:rPr>
              <a:t>L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4"/>
              <a:t>Coverage</a:t>
            </a:r>
            <a:r>
              <a:rPr dirty="0" spc="-340"/>
              <a:t> </a:t>
            </a:r>
            <a:r>
              <a:rPr dirty="0" spc="-265"/>
              <a:t>before</a:t>
            </a:r>
            <a:r>
              <a:rPr dirty="0" spc="-335"/>
              <a:t> </a:t>
            </a:r>
            <a:r>
              <a:rPr dirty="0" spc="-310"/>
              <a:t>interpretation</a:t>
            </a:r>
          </a:p>
        </p:txBody>
      </p:sp>
      <p:grpSp>
        <p:nvGrpSpPr>
          <p:cNvPr id="4" name="object 4" descr="preencoded.png"/>
          <p:cNvGrpSpPr/>
          <p:nvPr/>
        </p:nvGrpSpPr>
        <p:grpSpPr>
          <a:xfrm>
            <a:off x="507244" y="1467364"/>
            <a:ext cx="8220709" cy="4290695"/>
            <a:chOff x="507244" y="1467364"/>
            <a:chExt cx="8220709" cy="4290695"/>
          </a:xfrm>
        </p:grpSpPr>
        <p:sp>
          <p:nvSpPr>
            <p:cNvPr id="5" name="object 5"/>
            <p:cNvSpPr/>
            <p:nvPr/>
          </p:nvSpPr>
          <p:spPr>
            <a:xfrm>
              <a:off x="511924" y="1472044"/>
              <a:ext cx="8211820" cy="4281170"/>
            </a:xfrm>
            <a:custGeom>
              <a:avLst/>
              <a:gdLst/>
              <a:ahLst/>
              <a:cxnLst/>
              <a:rect l="l" t="t" r="r" b="b"/>
              <a:pathLst>
                <a:path w="8211820" h="4281170">
                  <a:moveTo>
                    <a:pt x="8137791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207675"/>
                  </a:lnTo>
                  <a:lnTo>
                    <a:pt x="15041" y="4252052"/>
                  </a:lnTo>
                  <a:lnTo>
                    <a:pt x="54041" y="4278322"/>
                  </a:lnTo>
                  <a:lnTo>
                    <a:pt x="73075" y="4280750"/>
                  </a:lnTo>
                  <a:lnTo>
                    <a:pt x="8138160" y="4280395"/>
                  </a:lnTo>
                  <a:lnTo>
                    <a:pt x="8182530" y="4265348"/>
                  </a:lnTo>
                  <a:lnTo>
                    <a:pt x="8208792" y="4226393"/>
                  </a:lnTo>
                  <a:lnTo>
                    <a:pt x="8211213" y="4207675"/>
                  </a:lnTo>
                  <a:lnTo>
                    <a:pt x="8211235" y="4207319"/>
                  </a:lnTo>
                  <a:lnTo>
                    <a:pt x="8210880" y="73075"/>
                  </a:lnTo>
                  <a:lnTo>
                    <a:pt x="8195826" y="28698"/>
                  </a:lnTo>
                  <a:lnTo>
                    <a:pt x="8156832" y="2428"/>
                  </a:lnTo>
                  <a:lnTo>
                    <a:pt x="8147431" y="607"/>
                  </a:lnTo>
                  <a:lnTo>
                    <a:pt x="81377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11924" y="1472044"/>
              <a:ext cx="8211820" cy="4281170"/>
            </a:xfrm>
            <a:custGeom>
              <a:avLst/>
              <a:gdLst/>
              <a:ahLst/>
              <a:cxnLst/>
              <a:rect l="l" t="t" r="r" b="b"/>
              <a:pathLst>
                <a:path w="8211820" h="428117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8137791" y="0"/>
                  </a:lnTo>
                  <a:lnTo>
                    <a:pt x="8182474" y="15096"/>
                  </a:lnTo>
                  <a:lnTo>
                    <a:pt x="8208449" y="54357"/>
                  </a:lnTo>
                  <a:lnTo>
                    <a:pt x="8210880" y="73075"/>
                  </a:lnTo>
                  <a:lnTo>
                    <a:pt x="8211235" y="4207319"/>
                  </a:lnTo>
                  <a:lnTo>
                    <a:pt x="8210628" y="4216951"/>
                  </a:lnTo>
                  <a:lnTo>
                    <a:pt x="8208806" y="4226348"/>
                  </a:lnTo>
                  <a:lnTo>
                    <a:pt x="8182530" y="4265348"/>
                  </a:lnTo>
                  <a:lnTo>
                    <a:pt x="8138160" y="4280395"/>
                  </a:lnTo>
                  <a:lnTo>
                    <a:pt x="73075" y="4280750"/>
                  </a:lnTo>
                  <a:lnTo>
                    <a:pt x="28398" y="4265653"/>
                  </a:lnTo>
                  <a:lnTo>
                    <a:pt x="2428" y="4226393"/>
                  </a:lnTo>
                  <a:lnTo>
                    <a:pt x="0" y="4207675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508391"/>
              <a:ext cx="8137804" cy="4206963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956440" y="1503724"/>
            <a:ext cx="2707005" cy="2204085"/>
            <a:chOff x="8956440" y="1503724"/>
            <a:chExt cx="2707005" cy="2204085"/>
          </a:xfrm>
        </p:grpSpPr>
        <p:sp>
          <p:nvSpPr>
            <p:cNvPr id="9" name="object 9"/>
            <p:cNvSpPr/>
            <p:nvPr/>
          </p:nvSpPr>
          <p:spPr>
            <a:xfrm>
              <a:off x="8961120" y="1508404"/>
              <a:ext cx="2697480" cy="2194560"/>
            </a:xfrm>
            <a:custGeom>
              <a:avLst/>
              <a:gdLst/>
              <a:ahLst/>
              <a:cxnLst/>
              <a:rect l="l" t="t" r="r" b="b"/>
              <a:pathLst>
                <a:path w="2697479" h="2194560">
                  <a:moveTo>
                    <a:pt x="260568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2103120"/>
                  </a:lnTo>
                  <a:lnTo>
                    <a:pt x="12242" y="2148840"/>
                  </a:lnTo>
                  <a:lnTo>
                    <a:pt x="45720" y="2182317"/>
                  </a:lnTo>
                  <a:lnTo>
                    <a:pt x="91439" y="2194560"/>
                  </a:lnTo>
                  <a:lnTo>
                    <a:pt x="2606039" y="2194191"/>
                  </a:lnTo>
                  <a:lnTo>
                    <a:pt x="2651759" y="2181961"/>
                  </a:lnTo>
                  <a:lnTo>
                    <a:pt x="2685237" y="2148471"/>
                  </a:lnTo>
                  <a:lnTo>
                    <a:pt x="2697455" y="2103120"/>
                  </a:lnTo>
                  <a:lnTo>
                    <a:pt x="2697479" y="2102751"/>
                  </a:lnTo>
                  <a:lnTo>
                    <a:pt x="2697124" y="91439"/>
                  </a:lnTo>
                  <a:lnTo>
                    <a:pt x="2684881" y="45720"/>
                  </a:lnTo>
                  <a:lnTo>
                    <a:pt x="2651404" y="12230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961120" y="1508404"/>
              <a:ext cx="2697480" cy="2194560"/>
            </a:xfrm>
            <a:custGeom>
              <a:avLst/>
              <a:gdLst/>
              <a:ahLst/>
              <a:cxnLst/>
              <a:rect l="l" t="t" r="r" b="b"/>
              <a:pathLst>
                <a:path w="2697479" h="219456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2605684" y="0"/>
                  </a:lnTo>
                  <a:lnTo>
                    <a:pt x="2651404" y="12230"/>
                  </a:lnTo>
                  <a:lnTo>
                    <a:pt x="2684881" y="45720"/>
                  </a:lnTo>
                  <a:lnTo>
                    <a:pt x="2697124" y="91439"/>
                  </a:lnTo>
                  <a:lnTo>
                    <a:pt x="2697479" y="2102751"/>
                  </a:lnTo>
                  <a:lnTo>
                    <a:pt x="2696681" y="2114758"/>
                  </a:lnTo>
                  <a:lnTo>
                    <a:pt x="2694330" y="2126426"/>
                  </a:lnTo>
                  <a:lnTo>
                    <a:pt x="2670798" y="2167512"/>
                  </a:lnTo>
                  <a:lnTo>
                    <a:pt x="2629709" y="2191043"/>
                  </a:lnTo>
                  <a:lnTo>
                    <a:pt x="91439" y="2194560"/>
                  </a:lnTo>
                  <a:lnTo>
                    <a:pt x="45720" y="2182317"/>
                  </a:lnTo>
                  <a:lnTo>
                    <a:pt x="12242" y="2148840"/>
                  </a:lnTo>
                  <a:lnTo>
                    <a:pt x="0" y="2103120"/>
                  </a:lnTo>
                  <a:lnTo>
                    <a:pt x="0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162364" y="172835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2" y="50584"/>
                  </a:lnTo>
                  <a:lnTo>
                    <a:pt x="23393" y="86766"/>
                  </a:lnTo>
                  <a:lnTo>
                    <a:pt x="5891" y="128524"/>
                  </a:lnTo>
                  <a:lnTo>
                    <a:pt x="0" y="173520"/>
                  </a:lnTo>
                  <a:lnTo>
                    <a:pt x="1478" y="196294"/>
                  </a:lnTo>
                  <a:lnTo>
                    <a:pt x="13207" y="239948"/>
                  </a:lnTo>
                  <a:lnTo>
                    <a:pt x="35979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0" y="279352"/>
                  </a:lnTo>
                  <a:lnTo>
                    <a:pt x="334178" y="239948"/>
                  </a:lnTo>
                  <a:lnTo>
                    <a:pt x="345915" y="196294"/>
                  </a:lnTo>
                  <a:lnTo>
                    <a:pt x="347395" y="173520"/>
                  </a:lnTo>
                  <a:lnTo>
                    <a:pt x="345915" y="150752"/>
                  </a:lnTo>
                  <a:lnTo>
                    <a:pt x="334178" y="107104"/>
                  </a:lnTo>
                  <a:lnTo>
                    <a:pt x="311410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162364" y="172835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520"/>
                  </a:moveTo>
                  <a:lnTo>
                    <a:pt x="1478" y="150752"/>
                  </a:lnTo>
                  <a:lnTo>
                    <a:pt x="5891" y="128524"/>
                  </a:lnTo>
                  <a:lnTo>
                    <a:pt x="23393" y="86766"/>
                  </a:lnTo>
                  <a:lnTo>
                    <a:pt x="50892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2" y="50584"/>
                  </a:lnTo>
                  <a:lnTo>
                    <a:pt x="323989" y="86766"/>
                  </a:lnTo>
                  <a:lnTo>
                    <a:pt x="341498" y="128524"/>
                  </a:lnTo>
                  <a:lnTo>
                    <a:pt x="347395" y="173520"/>
                  </a:lnTo>
                  <a:lnTo>
                    <a:pt x="345915" y="196294"/>
                  </a:lnTo>
                  <a:lnTo>
                    <a:pt x="341498" y="218527"/>
                  </a:lnTo>
                  <a:lnTo>
                    <a:pt x="323989" y="260286"/>
                  </a:lnTo>
                  <a:lnTo>
                    <a:pt x="296502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2" y="296464"/>
                  </a:lnTo>
                  <a:lnTo>
                    <a:pt x="23393" y="260286"/>
                  </a:lnTo>
                  <a:lnTo>
                    <a:pt x="5891" y="218527"/>
                  </a:lnTo>
                  <a:lnTo>
                    <a:pt x="1478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287903" y="1790179"/>
            <a:ext cx="971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420" b="1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33864" y="1644015"/>
            <a:ext cx="101346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423A67"/>
                </a:solidFill>
                <a:latin typeface="Verdana"/>
                <a:cs typeface="Verdana"/>
              </a:rPr>
              <a:t>Channel </a:t>
            </a:r>
            <a:r>
              <a:rPr dirty="0" sz="1700" spc="-120" b="1">
                <a:solidFill>
                  <a:srgbClr val="423A67"/>
                </a:solidFill>
                <a:latin typeface="Verdana"/>
                <a:cs typeface="Verdana"/>
              </a:rPr>
              <a:t>presence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9663" y="2209228"/>
            <a:ext cx="2114550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200">
                <a:solidFill>
                  <a:srgbClr val="6A648F"/>
                </a:solidFill>
                <a:latin typeface="Verdana"/>
                <a:cs typeface="Verdana"/>
              </a:rPr>
              <a:t>21</a:t>
            </a:r>
            <a:r>
              <a:rPr dirty="0" sz="15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>
                <a:solidFill>
                  <a:srgbClr val="6A648F"/>
                </a:solidFill>
                <a:latin typeface="Verdana"/>
                <a:cs typeface="Verdana"/>
              </a:rPr>
              <a:t>of</a:t>
            </a:r>
            <a:r>
              <a:rPr dirty="0" sz="15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42</a:t>
            </a:r>
            <a:r>
              <a:rPr dirty="0" sz="15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45">
                <a:solidFill>
                  <a:srgbClr val="6A648F"/>
                </a:solidFill>
                <a:latin typeface="Verdana"/>
                <a:cs typeface="Verdana"/>
              </a:rPr>
              <a:t>channel-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days </a:t>
            </a:r>
            <a:r>
              <a:rPr dirty="0" sz="1500" spc="-50">
                <a:solidFill>
                  <a:srgbClr val="6A648F"/>
                </a:solidFill>
                <a:latin typeface="Verdana"/>
                <a:cs typeface="Verdana"/>
              </a:rPr>
              <a:t>observed.</a:t>
            </a:r>
            <a:r>
              <a:rPr dirty="0" sz="15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>
                <a:solidFill>
                  <a:srgbClr val="6A648F"/>
                </a:solidFill>
                <a:latin typeface="Verdana"/>
                <a:cs typeface="Verdana"/>
              </a:rPr>
              <a:t>A</a:t>
            </a:r>
            <a:r>
              <a:rPr dirty="0" sz="15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40">
                <a:solidFill>
                  <a:srgbClr val="6A648F"/>
                </a:solidFill>
                <a:latin typeface="Verdana"/>
                <a:cs typeface="Verdana"/>
              </a:rPr>
              <a:t>filled</a:t>
            </a:r>
            <a:r>
              <a:rPr dirty="0" sz="15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cell </a:t>
            </a:r>
            <a:r>
              <a:rPr dirty="0" sz="1500" spc="-65">
                <a:solidFill>
                  <a:srgbClr val="6A648F"/>
                </a:solidFill>
                <a:latin typeface="Verdana"/>
                <a:cs typeface="Verdana"/>
              </a:rPr>
              <a:t>means</a:t>
            </a:r>
            <a:r>
              <a:rPr dirty="0" sz="1500" spc="-11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6A648F"/>
                </a:solidFill>
                <a:latin typeface="Verdana"/>
                <a:cs typeface="Verdana"/>
              </a:rPr>
              <a:t>a</a:t>
            </a:r>
            <a:r>
              <a:rPr dirty="0" sz="1500" spc="-11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6A648F"/>
                </a:solidFill>
                <a:latin typeface="Verdana"/>
                <a:cs typeface="Verdana"/>
              </a:rPr>
              <a:t>valid,</a:t>
            </a:r>
            <a:r>
              <a:rPr dirty="0" sz="1500" spc="-11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45">
                <a:solidFill>
                  <a:srgbClr val="6A648F"/>
                </a:solidFill>
                <a:latin typeface="Verdana"/>
                <a:cs typeface="Verdana"/>
              </a:rPr>
              <a:t>already-</a:t>
            </a:r>
            <a:r>
              <a:rPr dirty="0" sz="1500" spc="-60">
                <a:solidFill>
                  <a:srgbClr val="6A648F"/>
                </a:solidFill>
                <a:latin typeface="Verdana"/>
                <a:cs typeface="Verdana"/>
              </a:rPr>
              <a:t>available</a:t>
            </a:r>
            <a:r>
              <a:rPr dirty="0" sz="15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6A648F"/>
                </a:solidFill>
                <a:latin typeface="Verdana"/>
                <a:cs typeface="Verdana"/>
              </a:rPr>
              <a:t>reading</a:t>
            </a:r>
            <a:r>
              <a:rPr dirty="0" sz="15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that </a:t>
            </a:r>
            <a:r>
              <a:rPr dirty="0" sz="1500">
                <a:solidFill>
                  <a:srgbClr val="6A648F"/>
                </a:solidFill>
                <a:latin typeface="Verdana"/>
                <a:cs typeface="Verdana"/>
              </a:rPr>
              <a:t>UTC</a:t>
            </a:r>
            <a:r>
              <a:rPr dirty="0" sz="15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day.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956084" y="3881164"/>
            <a:ext cx="2707640" cy="1976120"/>
            <a:chOff x="8956084" y="3881164"/>
            <a:chExt cx="2707640" cy="1976120"/>
          </a:xfrm>
        </p:grpSpPr>
        <p:sp>
          <p:nvSpPr>
            <p:cNvPr id="17" name="object 17"/>
            <p:cNvSpPr/>
            <p:nvPr/>
          </p:nvSpPr>
          <p:spPr>
            <a:xfrm>
              <a:off x="8960764" y="3885844"/>
              <a:ext cx="2698115" cy="1966595"/>
            </a:xfrm>
            <a:custGeom>
              <a:avLst/>
              <a:gdLst/>
              <a:ahLst/>
              <a:cxnLst/>
              <a:rect l="l" t="t" r="r" b="b"/>
              <a:pathLst>
                <a:path w="2698115" h="1966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874875"/>
                  </a:lnTo>
                  <a:lnTo>
                    <a:pt x="798" y="1886880"/>
                  </a:lnTo>
                  <a:lnTo>
                    <a:pt x="18830" y="1930639"/>
                  </a:lnTo>
                  <a:lnTo>
                    <a:pt x="56505" y="1959329"/>
                  </a:lnTo>
                  <a:lnTo>
                    <a:pt x="91440" y="1966315"/>
                  </a:lnTo>
                  <a:lnTo>
                    <a:pt x="2606395" y="1966315"/>
                  </a:lnTo>
                  <a:lnTo>
                    <a:pt x="2652115" y="1954072"/>
                  </a:lnTo>
                  <a:lnTo>
                    <a:pt x="2685592" y="1920595"/>
                  </a:lnTo>
                  <a:lnTo>
                    <a:pt x="2697835" y="1874875"/>
                  </a:lnTo>
                  <a:lnTo>
                    <a:pt x="2697811" y="91440"/>
                  </a:lnTo>
                  <a:lnTo>
                    <a:pt x="2685592" y="46075"/>
                  </a:lnTo>
                  <a:lnTo>
                    <a:pt x="2652115" y="12598"/>
                  </a:lnTo>
                  <a:lnTo>
                    <a:pt x="26063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960764" y="3885844"/>
              <a:ext cx="2698115" cy="1966595"/>
            </a:xfrm>
            <a:custGeom>
              <a:avLst/>
              <a:gdLst/>
              <a:ahLst/>
              <a:cxnLst/>
              <a:rect l="l" t="t" r="r" b="b"/>
              <a:pathLst>
                <a:path w="2698115" h="196659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2606395" y="355"/>
                  </a:lnTo>
                  <a:lnTo>
                    <a:pt x="2652115" y="12598"/>
                  </a:lnTo>
                  <a:lnTo>
                    <a:pt x="2685592" y="46075"/>
                  </a:lnTo>
                  <a:lnTo>
                    <a:pt x="2697835" y="91795"/>
                  </a:lnTo>
                  <a:lnTo>
                    <a:pt x="2697835" y="1874875"/>
                  </a:lnTo>
                  <a:lnTo>
                    <a:pt x="2697037" y="1886880"/>
                  </a:lnTo>
                  <a:lnTo>
                    <a:pt x="2694686" y="1898545"/>
                  </a:lnTo>
                  <a:lnTo>
                    <a:pt x="2671154" y="1939634"/>
                  </a:lnTo>
                  <a:lnTo>
                    <a:pt x="2630065" y="1963166"/>
                  </a:lnTo>
                  <a:lnTo>
                    <a:pt x="2606395" y="1966315"/>
                  </a:lnTo>
                  <a:lnTo>
                    <a:pt x="91440" y="1966315"/>
                  </a:lnTo>
                  <a:lnTo>
                    <a:pt x="45720" y="1954072"/>
                  </a:lnTo>
                  <a:lnTo>
                    <a:pt x="12230" y="1920595"/>
                  </a:lnTo>
                  <a:lnTo>
                    <a:pt x="0" y="1874875"/>
                  </a:lnTo>
                  <a:lnTo>
                    <a:pt x="355" y="91440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62364" y="410579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2" y="50584"/>
                  </a:lnTo>
                  <a:lnTo>
                    <a:pt x="23393" y="86766"/>
                  </a:lnTo>
                  <a:lnTo>
                    <a:pt x="5891" y="128524"/>
                  </a:lnTo>
                  <a:lnTo>
                    <a:pt x="0" y="173520"/>
                  </a:lnTo>
                  <a:lnTo>
                    <a:pt x="1478" y="196294"/>
                  </a:lnTo>
                  <a:lnTo>
                    <a:pt x="13207" y="239948"/>
                  </a:lnTo>
                  <a:lnTo>
                    <a:pt x="35979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0" y="279352"/>
                  </a:lnTo>
                  <a:lnTo>
                    <a:pt x="334178" y="239948"/>
                  </a:lnTo>
                  <a:lnTo>
                    <a:pt x="345915" y="196294"/>
                  </a:lnTo>
                  <a:lnTo>
                    <a:pt x="347395" y="173520"/>
                  </a:lnTo>
                  <a:lnTo>
                    <a:pt x="345915" y="150752"/>
                  </a:lnTo>
                  <a:lnTo>
                    <a:pt x="334178" y="107104"/>
                  </a:lnTo>
                  <a:lnTo>
                    <a:pt x="311410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162364" y="410579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520"/>
                  </a:moveTo>
                  <a:lnTo>
                    <a:pt x="1478" y="150752"/>
                  </a:lnTo>
                  <a:lnTo>
                    <a:pt x="5891" y="128524"/>
                  </a:lnTo>
                  <a:lnTo>
                    <a:pt x="23393" y="86766"/>
                  </a:lnTo>
                  <a:lnTo>
                    <a:pt x="50892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2" y="50584"/>
                  </a:lnTo>
                  <a:lnTo>
                    <a:pt x="323989" y="86766"/>
                  </a:lnTo>
                  <a:lnTo>
                    <a:pt x="341498" y="128524"/>
                  </a:lnTo>
                  <a:lnTo>
                    <a:pt x="347395" y="173520"/>
                  </a:lnTo>
                  <a:lnTo>
                    <a:pt x="345915" y="196294"/>
                  </a:lnTo>
                  <a:lnTo>
                    <a:pt x="341498" y="218527"/>
                  </a:lnTo>
                  <a:lnTo>
                    <a:pt x="323989" y="260286"/>
                  </a:lnTo>
                  <a:lnTo>
                    <a:pt x="296502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2" y="296464"/>
                  </a:lnTo>
                  <a:lnTo>
                    <a:pt x="23393" y="260286"/>
                  </a:lnTo>
                  <a:lnTo>
                    <a:pt x="5891" y="218527"/>
                  </a:lnTo>
                  <a:lnTo>
                    <a:pt x="1478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271698" y="4167619"/>
            <a:ext cx="12953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5" b="1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33864" y="4151058"/>
            <a:ext cx="160782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29" b="1">
                <a:solidFill>
                  <a:srgbClr val="423A67"/>
                </a:solidFill>
                <a:latin typeface="Verdana"/>
                <a:cs typeface="Verdana"/>
              </a:rPr>
              <a:t>API</a:t>
            </a:r>
            <a:r>
              <a:rPr dirty="0" sz="1700" spc="-17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325" b="1">
                <a:solidFill>
                  <a:srgbClr val="423A67"/>
                </a:solidFill>
                <a:latin typeface="Verdana"/>
                <a:cs typeface="Verdana"/>
              </a:rPr>
              <a:t>≠</a:t>
            </a:r>
            <a:r>
              <a:rPr dirty="0" sz="1700" spc="-16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40" b="1">
                <a:solidFill>
                  <a:srgbClr val="423A67"/>
                </a:solidFill>
                <a:latin typeface="Verdana"/>
                <a:cs typeface="Verdana"/>
              </a:rPr>
              <a:t>wearable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5584" y="4586300"/>
            <a:ext cx="10466705" cy="1703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626475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6A648F"/>
                </a:solidFill>
                <a:latin typeface="Verdana"/>
                <a:cs typeface="Verdana"/>
              </a:rPr>
              <a:t>The</a:t>
            </a:r>
            <a:r>
              <a:rPr dirty="0" sz="1500" spc="-10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6A648F"/>
                </a:solidFill>
                <a:latin typeface="Verdana"/>
                <a:cs typeface="Verdana"/>
              </a:rPr>
              <a:t>local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65">
                <a:solidFill>
                  <a:srgbClr val="6A648F"/>
                </a:solidFill>
                <a:latin typeface="Verdana"/>
                <a:cs typeface="Verdana"/>
              </a:rPr>
              <a:t>data</a:t>
            </a:r>
            <a:r>
              <a:rPr dirty="0" sz="1500" spc="-10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65">
                <a:solidFill>
                  <a:srgbClr val="6A648F"/>
                </a:solidFill>
                <a:latin typeface="Verdana"/>
                <a:cs typeface="Verdana"/>
              </a:rPr>
              <a:t>API</a:t>
            </a:r>
            <a:r>
              <a:rPr dirty="0" sz="1500" spc="-10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6A648F"/>
                </a:solidFill>
                <a:latin typeface="Verdana"/>
                <a:cs typeface="Verdana"/>
              </a:rPr>
              <a:t>is </a:t>
            </a:r>
            <a:r>
              <a:rPr dirty="0" sz="1500" spc="-40">
                <a:solidFill>
                  <a:srgbClr val="6A648F"/>
                </a:solidFill>
                <a:latin typeface="Verdana"/>
                <a:cs typeface="Verdana"/>
              </a:rPr>
              <a:t>connected.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Physical </a:t>
            </a:r>
            <a:r>
              <a:rPr dirty="0" sz="1500" spc="-45">
                <a:solidFill>
                  <a:srgbClr val="6A648F"/>
                </a:solidFill>
                <a:latin typeface="Verdana"/>
                <a:cs typeface="Verdana"/>
              </a:rPr>
              <a:t>wearable</a:t>
            </a:r>
            <a:r>
              <a:rPr dirty="0" sz="15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55">
                <a:solidFill>
                  <a:srgbClr val="6A648F"/>
                </a:solidFill>
                <a:latin typeface="Verdana"/>
                <a:cs typeface="Verdana"/>
              </a:rPr>
              <a:t>pairing</a:t>
            </a:r>
            <a:r>
              <a:rPr dirty="0" sz="15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6A648F"/>
                </a:solidFill>
                <a:latin typeface="Verdana"/>
                <a:cs typeface="Verdana"/>
              </a:rPr>
              <a:t>is </a:t>
            </a:r>
            <a:r>
              <a:rPr dirty="0" sz="1500" spc="-10">
                <a:solidFill>
                  <a:srgbClr val="6A648F"/>
                </a:solidFill>
                <a:latin typeface="Verdana"/>
                <a:cs typeface="Verdana"/>
              </a:rPr>
              <a:t>unavailable.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500">
              <a:latin typeface="Verdana"/>
              <a:cs typeface="Verdana"/>
            </a:endParaRPr>
          </a:p>
          <a:p>
            <a:pPr marL="12700" marR="2313305">
              <a:lnSpc>
                <a:spcPct val="100000"/>
              </a:lnSpc>
              <a:spcBef>
                <a:spcPts val="5"/>
              </a:spcBef>
            </a:pPr>
            <a:r>
              <a:rPr dirty="0" sz="1300" spc="-25">
                <a:solidFill>
                  <a:srgbClr val="6A648F"/>
                </a:solidFill>
                <a:latin typeface="Verdana"/>
                <a:cs typeface="Verdana"/>
              </a:rPr>
              <a:t>Missing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observations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remain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unknown;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they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are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never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treated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as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normal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values.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Channel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presence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6A648F"/>
                </a:solidFill>
                <a:latin typeface="Verdana"/>
                <a:cs typeface="Verdana"/>
              </a:rPr>
              <a:t>is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6A648F"/>
                </a:solidFill>
                <a:latin typeface="Verdana"/>
                <a:cs typeface="Verdana"/>
              </a:rPr>
              <a:t>not 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wear-</a:t>
            </a:r>
            <a:r>
              <a:rPr dirty="0" sz="1300" spc="-85">
                <a:solidFill>
                  <a:srgbClr val="6A648F"/>
                </a:solidFill>
                <a:latin typeface="Verdana"/>
                <a:cs typeface="Verdana"/>
              </a:rPr>
              <a:t>time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adherence.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933824" y="6475954"/>
            <a:ext cx="738505" cy="17970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Pulmira</a:t>
            </a:r>
            <a:r>
              <a:rPr dirty="0" sz="10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85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6A648F"/>
                </a:solidFill>
                <a:latin typeface="Verdana"/>
                <a:cs typeface="Verdana"/>
              </a:rPr>
              <a:t>06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2327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7B5BFF"/>
                </a:solidFill>
                <a:latin typeface="Verdana"/>
                <a:cs typeface="Verdana"/>
              </a:rPr>
              <a:t>S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V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N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-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40" b="1">
                <a:solidFill>
                  <a:srgbClr val="7B5BFF"/>
                </a:solidFill>
                <a:latin typeface="Verdana"/>
                <a:cs typeface="Verdana"/>
              </a:rPr>
              <a:t>D</a:t>
            </a:r>
            <a:r>
              <a:rPr dirty="0" sz="1200" spc="-16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20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Y</a:t>
            </a:r>
            <a:r>
              <a:rPr dirty="0" sz="1200" spc="48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U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0" b="1">
                <a:solidFill>
                  <a:srgbClr val="7B5BFF"/>
                </a:solidFill>
                <a:latin typeface="Verdana"/>
                <a:cs typeface="Verdana"/>
              </a:rPr>
              <a:t>L</a:t>
            </a:r>
            <a:r>
              <a:rPr dirty="0" sz="1200" spc="-14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 O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K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4"/>
              <a:t>A</a:t>
            </a:r>
            <a:r>
              <a:rPr dirty="0" spc="-340"/>
              <a:t> </a:t>
            </a:r>
            <a:r>
              <a:rPr dirty="0" spc="-300"/>
              <a:t>transparent</a:t>
            </a:r>
            <a:r>
              <a:rPr dirty="0" spc="-335"/>
              <a:t> </a:t>
            </a:r>
            <a:r>
              <a:rPr dirty="0" spc="-235"/>
              <a:t>seven-</a:t>
            </a:r>
            <a:r>
              <a:rPr dirty="0" spc="-250"/>
              <a:t>day</a:t>
            </a:r>
            <a:r>
              <a:rPr dirty="0" spc="-335"/>
              <a:t> </a:t>
            </a:r>
            <a:r>
              <a:rPr dirty="0" spc="-295"/>
              <a:t>outlook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1984" y="1456384"/>
            <a:ext cx="3030220" cy="341630"/>
            <a:chOff x="541984" y="1456384"/>
            <a:chExt cx="3030220" cy="341630"/>
          </a:xfrm>
        </p:grpSpPr>
        <p:sp>
          <p:nvSpPr>
            <p:cNvPr id="5" name="object 5"/>
            <p:cNvSpPr/>
            <p:nvPr/>
          </p:nvSpPr>
          <p:spPr>
            <a:xfrm>
              <a:off x="548284" y="1462684"/>
              <a:ext cx="3017520" cy="329565"/>
            </a:xfrm>
            <a:custGeom>
              <a:avLst/>
              <a:gdLst/>
              <a:ahLst/>
              <a:cxnLst/>
              <a:rect l="l" t="t" r="r" b="b"/>
              <a:pathLst>
                <a:path w="3017520" h="329564">
                  <a:moveTo>
                    <a:pt x="2852991" y="0"/>
                  </a:moveTo>
                  <a:lnTo>
                    <a:pt x="164515" y="0"/>
                  </a:lnTo>
                  <a:lnTo>
                    <a:pt x="143032" y="1405"/>
                  </a:lnTo>
                  <a:lnTo>
                    <a:pt x="101690" y="12451"/>
                  </a:lnTo>
                  <a:lnTo>
                    <a:pt x="64381" y="33940"/>
                  </a:lnTo>
                  <a:lnTo>
                    <a:pt x="33940" y="64381"/>
                  </a:lnTo>
                  <a:lnTo>
                    <a:pt x="12451" y="101690"/>
                  </a:lnTo>
                  <a:lnTo>
                    <a:pt x="1405" y="143032"/>
                  </a:lnTo>
                  <a:lnTo>
                    <a:pt x="0" y="164515"/>
                  </a:lnTo>
                  <a:lnTo>
                    <a:pt x="1405" y="186004"/>
                  </a:lnTo>
                  <a:lnTo>
                    <a:pt x="12451" y="227491"/>
                  </a:lnTo>
                  <a:lnTo>
                    <a:pt x="33940" y="264800"/>
                  </a:lnTo>
                  <a:lnTo>
                    <a:pt x="64381" y="295096"/>
                  </a:lnTo>
                  <a:lnTo>
                    <a:pt x="101690" y="316580"/>
                  </a:lnTo>
                  <a:lnTo>
                    <a:pt x="143032" y="327625"/>
                  </a:lnTo>
                  <a:lnTo>
                    <a:pt x="164515" y="329031"/>
                  </a:lnTo>
                  <a:lnTo>
                    <a:pt x="2852991" y="329031"/>
                  </a:lnTo>
                  <a:lnTo>
                    <a:pt x="2895563" y="323453"/>
                  </a:lnTo>
                  <a:lnTo>
                    <a:pt x="2935439" y="307073"/>
                  </a:lnTo>
                  <a:lnTo>
                    <a:pt x="2969415" y="280927"/>
                  </a:lnTo>
                  <a:lnTo>
                    <a:pt x="2995561" y="246951"/>
                  </a:lnTo>
                  <a:lnTo>
                    <a:pt x="3011936" y="207086"/>
                  </a:lnTo>
                  <a:lnTo>
                    <a:pt x="3017520" y="164515"/>
                  </a:lnTo>
                  <a:lnTo>
                    <a:pt x="3016112" y="143032"/>
                  </a:lnTo>
                  <a:lnTo>
                    <a:pt x="3005063" y="101690"/>
                  </a:lnTo>
                  <a:lnTo>
                    <a:pt x="2983585" y="64381"/>
                  </a:lnTo>
                  <a:lnTo>
                    <a:pt x="2953288" y="33940"/>
                  </a:lnTo>
                  <a:lnTo>
                    <a:pt x="2915972" y="12451"/>
                  </a:lnTo>
                  <a:lnTo>
                    <a:pt x="2874480" y="1405"/>
                  </a:lnTo>
                  <a:lnTo>
                    <a:pt x="2852991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8284" y="1462684"/>
              <a:ext cx="3017520" cy="329565"/>
            </a:xfrm>
            <a:custGeom>
              <a:avLst/>
              <a:gdLst/>
              <a:ahLst/>
              <a:cxnLst/>
              <a:rect l="l" t="t" r="r" b="b"/>
              <a:pathLst>
                <a:path w="3017520" h="329564">
                  <a:moveTo>
                    <a:pt x="0" y="164515"/>
                  </a:moveTo>
                  <a:lnTo>
                    <a:pt x="1405" y="143032"/>
                  </a:lnTo>
                  <a:lnTo>
                    <a:pt x="5578" y="121989"/>
                  </a:lnTo>
                  <a:lnTo>
                    <a:pt x="21958" y="82435"/>
                  </a:lnTo>
                  <a:lnTo>
                    <a:pt x="48148" y="48148"/>
                  </a:lnTo>
                  <a:lnTo>
                    <a:pt x="82435" y="21958"/>
                  </a:lnTo>
                  <a:lnTo>
                    <a:pt x="121989" y="5578"/>
                  </a:lnTo>
                  <a:lnTo>
                    <a:pt x="164515" y="0"/>
                  </a:lnTo>
                  <a:lnTo>
                    <a:pt x="2852991" y="0"/>
                  </a:lnTo>
                  <a:lnTo>
                    <a:pt x="2895563" y="5578"/>
                  </a:lnTo>
                  <a:lnTo>
                    <a:pt x="2935439" y="21958"/>
                  </a:lnTo>
                  <a:lnTo>
                    <a:pt x="2969415" y="48148"/>
                  </a:lnTo>
                  <a:lnTo>
                    <a:pt x="2995561" y="82435"/>
                  </a:lnTo>
                  <a:lnTo>
                    <a:pt x="3011936" y="121989"/>
                  </a:lnTo>
                  <a:lnTo>
                    <a:pt x="3017520" y="164515"/>
                  </a:lnTo>
                  <a:lnTo>
                    <a:pt x="3016112" y="186004"/>
                  </a:lnTo>
                  <a:lnTo>
                    <a:pt x="3011936" y="207086"/>
                  </a:lnTo>
                  <a:lnTo>
                    <a:pt x="2995561" y="246951"/>
                  </a:lnTo>
                  <a:lnTo>
                    <a:pt x="2969415" y="280927"/>
                  </a:lnTo>
                  <a:lnTo>
                    <a:pt x="2935439" y="307073"/>
                  </a:lnTo>
                  <a:lnTo>
                    <a:pt x="2895563" y="323453"/>
                  </a:lnTo>
                  <a:lnTo>
                    <a:pt x="2852991" y="329031"/>
                  </a:lnTo>
                  <a:lnTo>
                    <a:pt x="164515" y="329031"/>
                  </a:lnTo>
                  <a:lnTo>
                    <a:pt x="121989" y="323453"/>
                  </a:lnTo>
                  <a:lnTo>
                    <a:pt x="82435" y="307073"/>
                  </a:lnTo>
                  <a:lnTo>
                    <a:pt x="48148" y="280927"/>
                  </a:lnTo>
                  <a:lnTo>
                    <a:pt x="21958" y="246951"/>
                  </a:lnTo>
                  <a:lnTo>
                    <a:pt x="5578" y="207086"/>
                  </a:lnTo>
                  <a:lnTo>
                    <a:pt x="1405" y="186004"/>
                  </a:lnTo>
                  <a:lnTo>
                    <a:pt x="0" y="164515"/>
                  </a:lnTo>
                  <a:close/>
                </a:path>
              </a:pathLst>
            </a:custGeom>
            <a:ln w="1259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93495" y="1523060"/>
            <a:ext cx="2124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 b="1">
                <a:solidFill>
                  <a:srgbClr val="FFFFFF"/>
                </a:solidFill>
                <a:latin typeface="Verdana"/>
                <a:cs typeface="Verdana"/>
              </a:rPr>
              <a:t>Unvalidated</a:t>
            </a:r>
            <a:r>
              <a:rPr dirty="0" sz="1200" spc="-6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14" b="1">
                <a:solidFill>
                  <a:srgbClr val="FFFFFF"/>
                </a:solidFill>
                <a:latin typeface="Verdana"/>
                <a:cs typeface="Verdana"/>
              </a:rPr>
              <a:t>formula</a:t>
            </a:r>
            <a:r>
              <a:rPr dirty="0" sz="1200" spc="-6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75" b="1">
                <a:solidFill>
                  <a:srgbClr val="FFFFFF"/>
                </a:solidFill>
                <a:latin typeface="Verdana"/>
                <a:cs typeface="Verdana"/>
              </a:rPr>
              <a:t>outlook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36384" y="1998624"/>
            <a:ext cx="2947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0" b="1">
                <a:solidFill>
                  <a:srgbClr val="423A67"/>
                </a:solidFill>
                <a:latin typeface="Verdana"/>
                <a:cs typeface="Verdana"/>
              </a:rPr>
              <a:t>Observation</a:t>
            </a:r>
            <a:r>
              <a:rPr dirty="0" sz="1800" spc="-11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150" b="1">
                <a:solidFill>
                  <a:srgbClr val="423A67"/>
                </a:solidFill>
                <a:latin typeface="Verdana"/>
                <a:cs typeface="Verdana"/>
              </a:rPr>
              <a:t>requirements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93316" y="2171928"/>
            <a:ext cx="33559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0">
                <a:solidFill>
                  <a:srgbClr val="6A648F"/>
                </a:solidFill>
                <a:latin typeface="Verdana"/>
                <a:cs typeface="Verdana"/>
              </a:rPr>
              <a:t>Maximum</a:t>
            </a:r>
            <a:r>
              <a:rPr dirty="0" sz="1400" spc="-40">
                <a:solidFill>
                  <a:srgbClr val="6A648F"/>
                </a:solidFill>
                <a:latin typeface="Verdana"/>
                <a:cs typeface="Verdana"/>
              </a:rPr>
              <a:t> contribution </a:t>
            </a:r>
            <a:r>
              <a:rPr dirty="0" sz="1400" spc="-30">
                <a:solidFill>
                  <a:srgbClr val="6A648F"/>
                </a:solidFill>
                <a:latin typeface="Verdana"/>
                <a:cs typeface="Verdana"/>
              </a:rPr>
              <a:t>weights</a:t>
            </a:r>
            <a:r>
              <a:rPr dirty="0" sz="14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6A648F"/>
                </a:solidFill>
                <a:latin typeface="Verdana"/>
                <a:cs typeface="Verdana"/>
              </a:rPr>
              <a:t>(points)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9987" y="2688488"/>
            <a:ext cx="23431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423A67"/>
                </a:solidFill>
                <a:latin typeface="Verdana"/>
                <a:cs typeface="Verdana"/>
              </a:rPr>
              <a:t>40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70963" y="4779721"/>
            <a:ext cx="622300" cy="372110"/>
          </a:xfrm>
          <a:custGeom>
            <a:avLst/>
            <a:gdLst/>
            <a:ahLst/>
            <a:cxnLst/>
            <a:rect l="l" t="t" r="r" b="b"/>
            <a:pathLst>
              <a:path w="622300" h="372110">
                <a:moveTo>
                  <a:pt x="622071" y="0"/>
                </a:moveTo>
                <a:lnTo>
                  <a:pt x="0" y="0"/>
                </a:lnTo>
                <a:lnTo>
                  <a:pt x="0" y="371881"/>
                </a:lnTo>
                <a:lnTo>
                  <a:pt x="622071" y="371881"/>
                </a:lnTo>
                <a:lnTo>
                  <a:pt x="622071" y="0"/>
                </a:lnTo>
                <a:close/>
              </a:path>
            </a:pathLst>
          </a:custGeom>
          <a:solidFill>
            <a:srgbClr val="7B5B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46379" y="2622956"/>
          <a:ext cx="5456555" cy="3063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4355"/>
                <a:gridCol w="532765"/>
                <a:gridCol w="533400"/>
                <a:gridCol w="266064"/>
                <a:gridCol w="444500"/>
                <a:gridCol w="1777999"/>
              </a:tblGrid>
              <a:tr h="371475">
                <a:tc>
                  <a:txBody>
                    <a:bodyPr/>
                    <a:lstStyle/>
                    <a:p>
                      <a:pPr algn="r" marR="8064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300" spc="-2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SpO₂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105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algn="r" marR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300" spc="-65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Respiratory</a:t>
                      </a:r>
                      <a:r>
                        <a:rPr dirty="0" sz="1300" spc="-55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2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rate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1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300" spc="-25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105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algn="r" marR="800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300" spc="-65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Heart</a:t>
                      </a:r>
                      <a:r>
                        <a:rPr dirty="0" sz="1300" spc="-9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2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rate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1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300" spc="-25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1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algn="r" marR="79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45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Worse</a:t>
                      </a:r>
                      <a:r>
                        <a:rPr dirty="0" sz="1300" spc="-8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3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breathlessness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7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300" spc="-25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1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algn="r" marR="79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9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Sputum </a:t>
                      </a:r>
                      <a:r>
                        <a:rPr dirty="0" sz="1300" spc="-1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change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7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5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7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7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algn="r" marR="8001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45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Worse</a:t>
                      </a:r>
                      <a:r>
                        <a:rPr dirty="0" sz="1300" spc="-8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1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cough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7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7B5BFF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50">
                          <a:solidFill>
                            <a:srgbClr val="423A67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87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6910984" y="2455824"/>
            <a:ext cx="4373880" cy="1153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marR="30480" indent="-2032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-130">
                <a:solidFill>
                  <a:srgbClr val="423A67"/>
                </a:solidFill>
                <a:latin typeface="Verdana"/>
                <a:cs typeface="Verdana"/>
              </a:rPr>
              <a:t>≥4</a:t>
            </a:r>
            <a:r>
              <a:rPr dirty="0" sz="16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55">
                <a:solidFill>
                  <a:srgbClr val="423A67"/>
                </a:solidFill>
                <a:latin typeface="Verdana"/>
                <a:cs typeface="Verdana"/>
              </a:rPr>
              <a:t>daily</a:t>
            </a:r>
            <a:r>
              <a:rPr dirty="0" sz="16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55">
                <a:solidFill>
                  <a:srgbClr val="423A67"/>
                </a:solidFill>
                <a:latin typeface="Verdana"/>
                <a:cs typeface="Verdana"/>
              </a:rPr>
              <a:t>observations</a:t>
            </a:r>
            <a:r>
              <a:rPr dirty="0" sz="16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55">
                <a:solidFill>
                  <a:srgbClr val="423A67"/>
                </a:solidFill>
                <a:latin typeface="Verdana"/>
                <a:cs typeface="Verdana"/>
              </a:rPr>
              <a:t>spanning</a:t>
            </a:r>
            <a:r>
              <a:rPr dirty="0" sz="16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40">
                <a:solidFill>
                  <a:srgbClr val="423A67"/>
                </a:solidFill>
                <a:latin typeface="Verdana"/>
                <a:cs typeface="Verdana"/>
              </a:rPr>
              <a:t>3</a:t>
            </a:r>
            <a:r>
              <a:rPr dirty="0" sz="16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50">
                <a:solidFill>
                  <a:srgbClr val="423A67"/>
                </a:solidFill>
                <a:latin typeface="Verdana"/>
                <a:cs typeface="Verdana"/>
              </a:rPr>
              <a:t>days</a:t>
            </a:r>
            <a:r>
              <a:rPr dirty="0" sz="16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75">
                <a:solidFill>
                  <a:srgbClr val="423A67"/>
                </a:solidFill>
                <a:latin typeface="Verdana"/>
                <a:cs typeface="Verdana"/>
              </a:rPr>
              <a:t>in</a:t>
            </a:r>
            <a:r>
              <a:rPr dirty="0" sz="16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50">
                <a:solidFill>
                  <a:srgbClr val="423A67"/>
                </a:solidFill>
                <a:latin typeface="Verdana"/>
                <a:cs typeface="Verdana"/>
              </a:rPr>
              <a:t>a </a:t>
            </a:r>
            <a:r>
              <a:rPr dirty="0" sz="1600" spc="-130">
                <a:solidFill>
                  <a:srgbClr val="423A67"/>
                </a:solidFill>
                <a:latin typeface="Verdana"/>
                <a:cs typeface="Verdana"/>
              </a:rPr>
              <a:t>14-</a:t>
            </a:r>
            <a:r>
              <a:rPr dirty="0" sz="1600" spc="-55">
                <a:solidFill>
                  <a:srgbClr val="423A67"/>
                </a:solidFill>
                <a:latin typeface="Verdana"/>
                <a:cs typeface="Verdana"/>
              </a:rPr>
              <a:t>day</a:t>
            </a:r>
            <a:r>
              <a:rPr dirty="0" sz="16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423A67"/>
                </a:solidFill>
                <a:latin typeface="Verdana"/>
                <a:cs typeface="Verdana"/>
              </a:rPr>
              <a:t>lookback</a:t>
            </a:r>
            <a:endParaRPr sz="1600">
              <a:latin typeface="Verdana"/>
              <a:cs typeface="Verdana"/>
            </a:endParaRPr>
          </a:p>
          <a:p>
            <a:pPr marL="241935" indent="-20383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41935" algn="l"/>
              </a:tabLst>
            </a:pPr>
            <a:r>
              <a:rPr dirty="0" sz="1600" spc="-50">
                <a:solidFill>
                  <a:srgbClr val="423A67"/>
                </a:solidFill>
                <a:latin typeface="Verdana"/>
                <a:cs typeface="Verdana"/>
              </a:rPr>
              <a:t>Eligible</a:t>
            </a:r>
            <a:r>
              <a:rPr dirty="0" sz="16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55">
                <a:solidFill>
                  <a:srgbClr val="423A67"/>
                </a:solidFill>
                <a:latin typeface="Verdana"/>
                <a:cs typeface="Verdana"/>
              </a:rPr>
              <a:t>readings</a:t>
            </a:r>
            <a:r>
              <a:rPr dirty="0" sz="16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70">
                <a:solidFill>
                  <a:srgbClr val="423A67"/>
                </a:solidFill>
                <a:latin typeface="Verdana"/>
                <a:cs typeface="Verdana"/>
              </a:rPr>
              <a:t>within</a:t>
            </a:r>
            <a:r>
              <a:rPr dirty="0" sz="16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23A67"/>
                </a:solidFill>
                <a:latin typeface="Verdana"/>
                <a:cs typeface="Verdana"/>
              </a:rPr>
              <a:t>48</a:t>
            </a:r>
            <a:r>
              <a:rPr dirty="0" sz="16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20">
                <a:solidFill>
                  <a:srgbClr val="423A67"/>
                </a:solidFill>
                <a:latin typeface="Verdana"/>
                <a:cs typeface="Verdana"/>
              </a:rPr>
              <a:t>hours</a:t>
            </a:r>
            <a:endParaRPr sz="1600">
              <a:latin typeface="Verdana"/>
              <a:cs typeface="Verdana"/>
            </a:endParaRPr>
          </a:p>
          <a:p>
            <a:pPr marL="241935" indent="-20383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41935" algn="l"/>
              </a:tabLst>
            </a:pPr>
            <a:r>
              <a:rPr dirty="0" sz="1600" spc="-105">
                <a:solidFill>
                  <a:srgbClr val="423A67"/>
                </a:solidFill>
                <a:latin typeface="Verdana"/>
                <a:cs typeface="Verdana"/>
              </a:rPr>
              <a:t>SpO₂</a:t>
            </a:r>
            <a:r>
              <a:rPr dirty="0" sz="16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45">
                <a:solidFill>
                  <a:srgbClr val="423A67"/>
                </a:solidFill>
                <a:latin typeface="Verdana"/>
                <a:cs typeface="Verdana"/>
              </a:rPr>
              <a:t>plus</a:t>
            </a:r>
            <a:r>
              <a:rPr dirty="0" sz="16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75">
                <a:solidFill>
                  <a:srgbClr val="423A67"/>
                </a:solidFill>
                <a:latin typeface="Verdana"/>
                <a:cs typeface="Verdana"/>
              </a:rPr>
              <a:t>another</a:t>
            </a:r>
            <a:r>
              <a:rPr dirty="0" sz="16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45">
                <a:solidFill>
                  <a:srgbClr val="423A67"/>
                </a:solidFill>
                <a:latin typeface="Verdana"/>
                <a:cs typeface="Verdana"/>
              </a:rPr>
              <a:t>eligible</a:t>
            </a:r>
            <a:r>
              <a:rPr dirty="0" sz="16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75">
                <a:solidFill>
                  <a:srgbClr val="423A67"/>
                </a:solidFill>
                <a:latin typeface="Verdana"/>
                <a:cs typeface="Verdana"/>
              </a:rPr>
              <a:t>vital</a:t>
            </a:r>
            <a:r>
              <a:rPr dirty="0" sz="16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423A67"/>
                </a:solidFill>
                <a:latin typeface="Verdana"/>
                <a:cs typeface="Verdana"/>
              </a:rPr>
              <a:t>signal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942416" y="4062424"/>
            <a:ext cx="4676775" cy="1796414"/>
            <a:chOff x="6942416" y="4062424"/>
            <a:chExt cx="4676775" cy="1796414"/>
          </a:xfrm>
        </p:grpSpPr>
        <p:sp>
          <p:nvSpPr>
            <p:cNvPr id="15" name="object 15"/>
            <p:cNvSpPr/>
            <p:nvPr/>
          </p:nvSpPr>
          <p:spPr>
            <a:xfrm>
              <a:off x="6948716" y="4068724"/>
              <a:ext cx="4664075" cy="1783714"/>
            </a:xfrm>
            <a:custGeom>
              <a:avLst/>
              <a:gdLst/>
              <a:ahLst/>
              <a:cxnLst/>
              <a:rect l="l" t="t" r="r" b="b"/>
              <a:pathLst>
                <a:path w="4664075" h="1783714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691995"/>
                  </a:lnTo>
                  <a:lnTo>
                    <a:pt x="798" y="1704000"/>
                  </a:lnTo>
                  <a:lnTo>
                    <a:pt x="18843" y="1747759"/>
                  </a:lnTo>
                  <a:lnTo>
                    <a:pt x="56512" y="1776449"/>
                  </a:lnTo>
                  <a:lnTo>
                    <a:pt x="91439" y="1783435"/>
                  </a:lnTo>
                  <a:lnTo>
                    <a:pt x="4572368" y="1783435"/>
                  </a:lnTo>
                  <a:lnTo>
                    <a:pt x="4618088" y="1771192"/>
                  </a:lnTo>
                  <a:lnTo>
                    <a:pt x="4651565" y="1737715"/>
                  </a:lnTo>
                  <a:lnTo>
                    <a:pt x="4663808" y="1691995"/>
                  </a:lnTo>
                  <a:lnTo>
                    <a:pt x="4663784" y="91439"/>
                  </a:lnTo>
                  <a:lnTo>
                    <a:pt x="4651565" y="46075"/>
                  </a:lnTo>
                  <a:lnTo>
                    <a:pt x="4618088" y="12598"/>
                  </a:lnTo>
                  <a:lnTo>
                    <a:pt x="457236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E9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948716" y="4068724"/>
              <a:ext cx="4664075" cy="1783714"/>
            </a:xfrm>
            <a:custGeom>
              <a:avLst/>
              <a:gdLst/>
              <a:ahLst/>
              <a:cxnLst/>
              <a:rect l="l" t="t" r="r" b="b"/>
              <a:pathLst>
                <a:path w="4664075" h="1783714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572368" y="355"/>
                  </a:lnTo>
                  <a:lnTo>
                    <a:pt x="4618088" y="12598"/>
                  </a:lnTo>
                  <a:lnTo>
                    <a:pt x="4651565" y="46075"/>
                  </a:lnTo>
                  <a:lnTo>
                    <a:pt x="4663808" y="91795"/>
                  </a:lnTo>
                  <a:lnTo>
                    <a:pt x="4663808" y="1691995"/>
                  </a:lnTo>
                  <a:lnTo>
                    <a:pt x="4663008" y="1704000"/>
                  </a:lnTo>
                  <a:lnTo>
                    <a:pt x="4660653" y="1715665"/>
                  </a:lnTo>
                  <a:lnTo>
                    <a:pt x="4637117" y="1756754"/>
                  </a:lnTo>
                  <a:lnTo>
                    <a:pt x="4596033" y="1780286"/>
                  </a:lnTo>
                  <a:lnTo>
                    <a:pt x="4572368" y="1783435"/>
                  </a:lnTo>
                  <a:lnTo>
                    <a:pt x="91439" y="1783435"/>
                  </a:lnTo>
                  <a:lnTo>
                    <a:pt x="45720" y="1771192"/>
                  </a:lnTo>
                  <a:lnTo>
                    <a:pt x="12242" y="1737715"/>
                  </a:lnTo>
                  <a:lnTo>
                    <a:pt x="0" y="1691995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E9E5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164984" y="4211548"/>
            <a:ext cx="415417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>
                <a:solidFill>
                  <a:srgbClr val="423A67"/>
                </a:solidFill>
                <a:latin typeface="Verdana"/>
                <a:cs typeface="Verdana"/>
              </a:rPr>
              <a:t>Example</a:t>
            </a:r>
            <a:r>
              <a:rPr dirty="0" sz="1500" spc="-9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85">
                <a:solidFill>
                  <a:srgbClr val="423A67"/>
                </a:solidFill>
                <a:latin typeface="Verdana"/>
                <a:cs typeface="Verdana"/>
              </a:rPr>
              <a:t>peak: </a:t>
            </a:r>
            <a:r>
              <a:rPr dirty="0" sz="1500" spc="-150">
                <a:solidFill>
                  <a:srgbClr val="423A67"/>
                </a:solidFill>
                <a:latin typeface="Verdana"/>
                <a:cs typeface="Verdana"/>
              </a:rPr>
              <a:t>21.8–</a:t>
            </a:r>
            <a:r>
              <a:rPr dirty="0" sz="1500" spc="-95">
                <a:solidFill>
                  <a:srgbClr val="423A67"/>
                </a:solidFill>
                <a:latin typeface="Verdana"/>
                <a:cs typeface="Verdana"/>
              </a:rPr>
              <a:t>28.8</a:t>
            </a:r>
            <a:r>
              <a:rPr dirty="0" sz="1500" spc="-9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35">
                <a:solidFill>
                  <a:srgbClr val="423A67"/>
                </a:solidFill>
                <a:latin typeface="Verdana"/>
                <a:cs typeface="Verdana"/>
              </a:rPr>
              <a:t>change</a:t>
            </a:r>
            <a:r>
              <a:rPr dirty="0" sz="1500" spc="-8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50">
                <a:solidFill>
                  <a:srgbClr val="423A67"/>
                </a:solidFill>
                <a:latin typeface="Verdana"/>
                <a:cs typeface="Verdana"/>
              </a:rPr>
              <a:t>points</a:t>
            </a:r>
            <a:r>
              <a:rPr dirty="0" sz="1500" spc="-9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423A67"/>
                </a:solidFill>
                <a:latin typeface="Verdana"/>
                <a:cs typeface="Verdana"/>
              </a:rPr>
              <a:t>out</a:t>
            </a:r>
            <a:r>
              <a:rPr dirty="0" sz="1500" spc="-8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423A67"/>
                </a:solidFill>
                <a:latin typeface="Verdana"/>
                <a:cs typeface="Verdana"/>
              </a:rPr>
              <a:t>of</a:t>
            </a:r>
            <a:endParaRPr sz="1500">
              <a:latin typeface="Verdana"/>
              <a:cs typeface="Verdana"/>
            </a:endParaRPr>
          </a:p>
          <a:p>
            <a:pPr marL="12700" marR="135255">
              <a:lnSpc>
                <a:spcPct val="100000"/>
              </a:lnSpc>
            </a:pPr>
            <a:r>
              <a:rPr dirty="0" sz="1500" spc="-140">
                <a:solidFill>
                  <a:srgbClr val="423A67"/>
                </a:solidFill>
                <a:latin typeface="Verdana"/>
                <a:cs typeface="Verdana"/>
              </a:rPr>
              <a:t>100.</a:t>
            </a:r>
            <a:r>
              <a:rPr dirty="0" sz="15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423A67"/>
                </a:solidFill>
                <a:latin typeface="Verdana"/>
                <a:cs typeface="Verdana"/>
              </a:rPr>
              <a:t>The</a:t>
            </a:r>
            <a:r>
              <a:rPr dirty="0" sz="15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55">
                <a:solidFill>
                  <a:srgbClr val="423A67"/>
                </a:solidFill>
                <a:latin typeface="Verdana"/>
                <a:cs typeface="Verdana"/>
              </a:rPr>
              <a:t>range</a:t>
            </a:r>
            <a:r>
              <a:rPr dirty="0" sz="15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35">
                <a:solidFill>
                  <a:srgbClr val="423A67"/>
                </a:solidFill>
                <a:latin typeface="Verdana"/>
                <a:cs typeface="Verdana"/>
              </a:rPr>
              <a:t>comes</a:t>
            </a:r>
            <a:r>
              <a:rPr dirty="0" sz="15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65">
                <a:solidFill>
                  <a:srgbClr val="423A67"/>
                </a:solidFill>
                <a:latin typeface="Verdana"/>
                <a:cs typeface="Verdana"/>
              </a:rPr>
              <a:t>from</a:t>
            </a:r>
            <a:r>
              <a:rPr dirty="0" sz="15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423A67"/>
                </a:solidFill>
                <a:latin typeface="Verdana"/>
                <a:cs typeface="Verdana"/>
              </a:rPr>
              <a:t>unknown</a:t>
            </a:r>
            <a:r>
              <a:rPr dirty="0" sz="15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40">
                <a:solidFill>
                  <a:srgbClr val="423A67"/>
                </a:solidFill>
                <a:latin typeface="Verdana"/>
                <a:cs typeface="Verdana"/>
              </a:rPr>
              <a:t>inputs, </a:t>
            </a:r>
            <a:r>
              <a:rPr dirty="0" sz="1500" spc="-70">
                <a:solidFill>
                  <a:srgbClr val="423A67"/>
                </a:solidFill>
                <a:latin typeface="Verdana"/>
                <a:cs typeface="Verdana"/>
              </a:rPr>
              <a:t>not</a:t>
            </a:r>
            <a:r>
              <a:rPr dirty="0" sz="1500" spc="-9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55">
                <a:solidFill>
                  <a:srgbClr val="423A67"/>
                </a:solidFill>
                <a:latin typeface="Verdana"/>
                <a:cs typeface="Verdana"/>
              </a:rPr>
              <a:t>statistical</a:t>
            </a:r>
            <a:r>
              <a:rPr dirty="0" sz="1500" spc="-9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423A67"/>
                </a:solidFill>
                <a:latin typeface="Verdana"/>
                <a:cs typeface="Verdana"/>
              </a:rPr>
              <a:t>confidence.</a:t>
            </a:r>
            <a:r>
              <a:rPr dirty="0" sz="1500" spc="-8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40">
                <a:solidFill>
                  <a:srgbClr val="423A67"/>
                </a:solidFill>
                <a:latin typeface="Verdana"/>
                <a:cs typeface="Verdana"/>
              </a:rPr>
              <a:t>Not</a:t>
            </a:r>
            <a:r>
              <a:rPr dirty="0" sz="1500" spc="-9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423A67"/>
                </a:solidFill>
                <a:latin typeface="Verdana"/>
                <a:cs typeface="Verdana"/>
              </a:rPr>
              <a:t>a</a:t>
            </a:r>
            <a:r>
              <a:rPr dirty="0" sz="1500" spc="-9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423A67"/>
                </a:solidFill>
                <a:latin typeface="Verdana"/>
                <a:cs typeface="Verdana"/>
              </a:rPr>
              <a:t>probability; </a:t>
            </a:r>
            <a:r>
              <a:rPr dirty="0" sz="1500" spc="-45">
                <a:solidFill>
                  <a:srgbClr val="423A67"/>
                </a:solidFill>
                <a:latin typeface="Verdana"/>
                <a:cs typeface="Verdana"/>
              </a:rPr>
              <a:t>predictive</a:t>
            </a:r>
            <a:r>
              <a:rPr dirty="0" sz="15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423A67"/>
                </a:solidFill>
                <a:latin typeface="Verdana"/>
                <a:cs typeface="Verdana"/>
              </a:rPr>
              <a:t>accuracy</a:t>
            </a:r>
            <a:r>
              <a:rPr dirty="0" sz="1500" spc="-75">
                <a:solidFill>
                  <a:srgbClr val="423A67"/>
                </a:solidFill>
                <a:latin typeface="Verdana"/>
                <a:cs typeface="Verdana"/>
              </a:rPr>
              <a:t> not </a:t>
            </a:r>
            <a:r>
              <a:rPr dirty="0" sz="1500" spc="-10">
                <a:solidFill>
                  <a:srgbClr val="423A67"/>
                </a:solidFill>
                <a:latin typeface="Verdana"/>
                <a:cs typeface="Verdana"/>
              </a:rPr>
              <a:t>established.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584" y="5976264"/>
            <a:ext cx="50971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6A648F"/>
                </a:solidFill>
                <a:latin typeface="Verdana"/>
                <a:cs typeface="Verdana"/>
              </a:rPr>
              <a:t>The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historical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reference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6A648F"/>
                </a:solidFill>
                <a:latin typeface="Verdana"/>
                <a:cs typeface="Verdana"/>
              </a:rPr>
              <a:t>is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not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a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clinically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verified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stable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baseline.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43183" y="6475954"/>
            <a:ext cx="728980" cy="17970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Pulmira</a:t>
            </a:r>
            <a:r>
              <a:rPr dirty="0" sz="10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85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6A648F"/>
                </a:solidFill>
                <a:latin typeface="Verdana"/>
                <a:cs typeface="Verdana"/>
              </a:rPr>
              <a:t>07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3463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7B5BFF"/>
                </a:solidFill>
                <a:latin typeface="Verdana"/>
                <a:cs typeface="Verdana"/>
              </a:rPr>
              <a:t>S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V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N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-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40" b="1">
                <a:solidFill>
                  <a:srgbClr val="7B5BFF"/>
                </a:solidFill>
                <a:latin typeface="Verdana"/>
                <a:cs typeface="Verdana"/>
              </a:rPr>
              <a:t>D</a:t>
            </a:r>
            <a:r>
              <a:rPr dirty="0" sz="1200" spc="-16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2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Y</a:t>
            </a:r>
            <a:r>
              <a:rPr dirty="0" sz="1200" spc="47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U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0" b="1">
                <a:solidFill>
                  <a:srgbClr val="7B5BFF"/>
                </a:solidFill>
                <a:latin typeface="Verdana"/>
                <a:cs typeface="Verdana"/>
              </a:rPr>
              <a:t>L</a:t>
            </a: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K</a:t>
            </a:r>
            <a:r>
              <a:rPr dirty="0" sz="1200" spc="47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·</a:t>
            </a:r>
            <a:r>
              <a:rPr dirty="0" sz="1200" spc="47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40" b="1">
                <a:solidFill>
                  <a:srgbClr val="7B5BFF"/>
                </a:solidFill>
                <a:latin typeface="Verdana"/>
                <a:cs typeface="Verdana"/>
              </a:rPr>
              <a:t>D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22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0" b="1">
                <a:solidFill>
                  <a:srgbClr val="7B5BFF"/>
                </a:solidFill>
                <a:latin typeface="Verdana"/>
                <a:cs typeface="Verdana"/>
              </a:rPr>
              <a:t>L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75"/>
              <a:t>Seven</a:t>
            </a:r>
            <a:r>
              <a:rPr dirty="0" spc="-325"/>
              <a:t> </a:t>
            </a:r>
            <a:r>
              <a:rPr dirty="0" spc="-235"/>
              <a:t>dates,</a:t>
            </a:r>
            <a:r>
              <a:rPr dirty="0" spc="-434"/>
              <a:t> </a:t>
            </a:r>
            <a:r>
              <a:rPr dirty="0" spc="-229"/>
              <a:t>visible</a:t>
            </a:r>
            <a:r>
              <a:rPr dirty="0" spc="-320"/>
              <a:t> </a:t>
            </a:r>
            <a:r>
              <a:rPr dirty="0" spc="-280"/>
              <a:t>assumptions</a:t>
            </a:r>
          </a:p>
        </p:txBody>
      </p:sp>
      <p:grpSp>
        <p:nvGrpSpPr>
          <p:cNvPr id="4" name="object 4" descr="preencoded.png"/>
          <p:cNvGrpSpPr/>
          <p:nvPr/>
        </p:nvGrpSpPr>
        <p:grpSpPr>
          <a:xfrm>
            <a:off x="507244" y="1467364"/>
            <a:ext cx="6117590" cy="3896995"/>
            <a:chOff x="507244" y="1467364"/>
            <a:chExt cx="6117590" cy="3896995"/>
          </a:xfrm>
        </p:grpSpPr>
        <p:sp>
          <p:nvSpPr>
            <p:cNvPr id="5" name="object 5"/>
            <p:cNvSpPr/>
            <p:nvPr/>
          </p:nvSpPr>
          <p:spPr>
            <a:xfrm>
              <a:off x="511924" y="1472044"/>
              <a:ext cx="6108700" cy="3888104"/>
            </a:xfrm>
            <a:custGeom>
              <a:avLst/>
              <a:gdLst/>
              <a:ahLst/>
              <a:cxnLst/>
              <a:rect l="l" t="t" r="r" b="b"/>
              <a:pathLst>
                <a:path w="6108700" h="3888104">
                  <a:moveTo>
                    <a:pt x="6034671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814559"/>
                  </a:lnTo>
                  <a:lnTo>
                    <a:pt x="15041" y="3858929"/>
                  </a:lnTo>
                  <a:lnTo>
                    <a:pt x="54041" y="3885206"/>
                  </a:lnTo>
                  <a:lnTo>
                    <a:pt x="73075" y="3887635"/>
                  </a:lnTo>
                  <a:lnTo>
                    <a:pt x="6035040" y="3887279"/>
                  </a:lnTo>
                  <a:lnTo>
                    <a:pt x="6079410" y="3872225"/>
                  </a:lnTo>
                  <a:lnTo>
                    <a:pt x="6105671" y="3833277"/>
                  </a:lnTo>
                  <a:lnTo>
                    <a:pt x="6108092" y="3814559"/>
                  </a:lnTo>
                  <a:lnTo>
                    <a:pt x="6108115" y="3814191"/>
                  </a:lnTo>
                  <a:lnTo>
                    <a:pt x="6107760" y="73075"/>
                  </a:lnTo>
                  <a:lnTo>
                    <a:pt x="6092706" y="28698"/>
                  </a:lnTo>
                  <a:lnTo>
                    <a:pt x="6053712" y="2428"/>
                  </a:lnTo>
                  <a:lnTo>
                    <a:pt x="6044311" y="607"/>
                  </a:lnTo>
                  <a:lnTo>
                    <a:pt x="60346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11924" y="1472044"/>
              <a:ext cx="6108700" cy="3888104"/>
            </a:xfrm>
            <a:custGeom>
              <a:avLst/>
              <a:gdLst/>
              <a:ahLst/>
              <a:cxnLst/>
              <a:rect l="l" t="t" r="r" b="b"/>
              <a:pathLst>
                <a:path w="6108700" h="3888104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6034671" y="0"/>
                  </a:lnTo>
                  <a:lnTo>
                    <a:pt x="6079354" y="15096"/>
                  </a:lnTo>
                  <a:lnTo>
                    <a:pt x="6105329" y="54357"/>
                  </a:lnTo>
                  <a:lnTo>
                    <a:pt x="6107760" y="73075"/>
                  </a:lnTo>
                  <a:lnTo>
                    <a:pt x="6108115" y="3814191"/>
                  </a:lnTo>
                  <a:lnTo>
                    <a:pt x="6107508" y="3823830"/>
                  </a:lnTo>
                  <a:lnTo>
                    <a:pt x="6105686" y="3833231"/>
                  </a:lnTo>
                  <a:lnTo>
                    <a:pt x="6079410" y="3872225"/>
                  </a:lnTo>
                  <a:lnTo>
                    <a:pt x="6035040" y="3887279"/>
                  </a:lnTo>
                  <a:lnTo>
                    <a:pt x="73075" y="3887635"/>
                  </a:lnTo>
                  <a:lnTo>
                    <a:pt x="28398" y="3872531"/>
                  </a:lnTo>
                  <a:lnTo>
                    <a:pt x="2428" y="3833277"/>
                  </a:lnTo>
                  <a:lnTo>
                    <a:pt x="0" y="3814559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508391"/>
              <a:ext cx="6034684" cy="381420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342644" y="1525066"/>
            <a:ext cx="201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6A648F"/>
                </a:solidFill>
                <a:latin typeface="Verdana"/>
                <a:cs typeface="Verdana"/>
              </a:rPr>
              <a:t>30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12630" y="2274759"/>
            <a:ext cx="210185" cy="1942464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35">
                <a:solidFill>
                  <a:srgbClr val="6A648F"/>
                </a:solidFill>
                <a:latin typeface="Verdana"/>
                <a:cs typeface="Verdana"/>
              </a:rPr>
              <a:t>Change</a:t>
            </a:r>
            <a:r>
              <a:rPr dirty="0" sz="12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points</a:t>
            </a: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 (out </a:t>
            </a:r>
            <a:r>
              <a:rPr dirty="0" sz="1200">
                <a:solidFill>
                  <a:srgbClr val="6A648F"/>
                </a:solidFill>
                <a:latin typeface="Verdana"/>
                <a:cs typeface="Verdana"/>
              </a:rPr>
              <a:t>of</a:t>
            </a: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 100)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47331" y="2290356"/>
            <a:ext cx="1974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6A648F"/>
                </a:solidFill>
                <a:latin typeface="Verdana"/>
                <a:cs typeface="Verdana"/>
              </a:rPr>
              <a:t>25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44079" y="3055632"/>
            <a:ext cx="2006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6A648F"/>
                </a:solidFill>
                <a:latin typeface="Verdana"/>
                <a:cs typeface="Verdana"/>
              </a:rPr>
              <a:t>20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392486" y="3155403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 h="0">
                <a:moveTo>
                  <a:pt x="0" y="0"/>
                </a:moveTo>
                <a:lnTo>
                  <a:pt x="215633" y="0"/>
                </a:lnTo>
              </a:path>
            </a:pathLst>
          </a:custGeom>
          <a:ln w="6479">
            <a:solidFill>
              <a:srgbClr val="E5E1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967758" y="3155403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 h="0">
                <a:moveTo>
                  <a:pt x="0" y="0"/>
                </a:moveTo>
                <a:lnTo>
                  <a:pt x="215646" y="0"/>
                </a:lnTo>
              </a:path>
            </a:pathLst>
          </a:custGeom>
          <a:ln w="6479">
            <a:solidFill>
              <a:srgbClr val="E5E1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543042" y="3155403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4" h="0">
                <a:moveTo>
                  <a:pt x="0" y="0"/>
                </a:moveTo>
                <a:lnTo>
                  <a:pt x="108000" y="0"/>
                </a:lnTo>
              </a:path>
            </a:pathLst>
          </a:custGeom>
          <a:ln w="6479">
            <a:solidFill>
              <a:srgbClr val="E5E1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376121" y="3820921"/>
            <a:ext cx="1682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20">
                <a:solidFill>
                  <a:srgbClr val="6A648F"/>
                </a:solidFill>
                <a:latin typeface="Verdana"/>
                <a:cs typeface="Verdana"/>
              </a:rPr>
              <a:t>15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91360" y="3920401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 h="0">
                <a:moveTo>
                  <a:pt x="0" y="0"/>
                </a:moveTo>
                <a:lnTo>
                  <a:pt x="215633" y="0"/>
                </a:lnTo>
              </a:path>
            </a:pathLst>
          </a:custGeom>
          <a:ln w="6479">
            <a:solidFill>
              <a:srgbClr val="E5E1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666645" y="3920401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 h="0">
                <a:moveTo>
                  <a:pt x="0" y="0"/>
                </a:moveTo>
                <a:lnTo>
                  <a:pt x="215633" y="0"/>
                </a:lnTo>
              </a:path>
            </a:pathLst>
          </a:custGeom>
          <a:ln w="6479">
            <a:solidFill>
              <a:srgbClr val="E5E1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241917" y="3920401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 h="0">
                <a:moveTo>
                  <a:pt x="0" y="0"/>
                </a:moveTo>
                <a:lnTo>
                  <a:pt x="215646" y="0"/>
                </a:lnTo>
              </a:path>
            </a:pathLst>
          </a:custGeom>
          <a:ln w="6479">
            <a:solidFill>
              <a:srgbClr val="E5E1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816845" y="3920401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4" h="0">
                <a:moveTo>
                  <a:pt x="0" y="0"/>
                </a:moveTo>
                <a:lnTo>
                  <a:pt x="215988" y="0"/>
                </a:lnTo>
              </a:path>
            </a:pathLst>
          </a:custGeom>
          <a:ln w="6479">
            <a:solidFill>
              <a:srgbClr val="E5E1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392486" y="3920401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 h="0">
                <a:moveTo>
                  <a:pt x="0" y="0"/>
                </a:moveTo>
                <a:lnTo>
                  <a:pt x="215633" y="0"/>
                </a:lnTo>
              </a:path>
            </a:pathLst>
          </a:custGeom>
          <a:ln w="6479">
            <a:solidFill>
              <a:srgbClr val="E5E1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967758" y="3920401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 h="0">
                <a:moveTo>
                  <a:pt x="0" y="0"/>
                </a:moveTo>
                <a:lnTo>
                  <a:pt x="215646" y="0"/>
                </a:lnTo>
              </a:path>
            </a:pathLst>
          </a:custGeom>
          <a:ln w="6479">
            <a:solidFill>
              <a:srgbClr val="E5E1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543042" y="3920401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4" h="0">
                <a:moveTo>
                  <a:pt x="0" y="0"/>
                </a:moveTo>
                <a:lnTo>
                  <a:pt x="108000" y="0"/>
                </a:lnTo>
              </a:path>
            </a:pathLst>
          </a:custGeom>
          <a:ln w="6479">
            <a:solidFill>
              <a:srgbClr val="E5E1F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7570075" y="1618386"/>
            <a:ext cx="4087495" cy="3122295"/>
            <a:chOff x="7570075" y="1618386"/>
            <a:chExt cx="4087495" cy="3122295"/>
          </a:xfrm>
        </p:grpSpPr>
        <p:sp>
          <p:nvSpPr>
            <p:cNvPr id="19" name="object 19"/>
            <p:cNvSpPr/>
            <p:nvPr/>
          </p:nvSpPr>
          <p:spPr>
            <a:xfrm>
              <a:off x="7624076" y="4686122"/>
              <a:ext cx="4027170" cy="0"/>
            </a:xfrm>
            <a:custGeom>
              <a:avLst/>
              <a:gdLst/>
              <a:ahLst/>
              <a:cxnLst/>
              <a:rect l="l" t="t" r="r" b="b"/>
              <a:pathLst>
                <a:path w="4027170" h="0">
                  <a:moveTo>
                    <a:pt x="4026966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5E1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624076" y="3920401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645" y="0"/>
                  </a:lnTo>
                </a:path>
              </a:pathLst>
            </a:custGeom>
            <a:ln w="6479">
              <a:solidFill>
                <a:srgbClr val="E5E1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624076" y="2390038"/>
              <a:ext cx="4027170" cy="765810"/>
            </a:xfrm>
            <a:custGeom>
              <a:avLst/>
              <a:gdLst/>
              <a:ahLst/>
              <a:cxnLst/>
              <a:rect l="l" t="t" r="r" b="b"/>
              <a:pathLst>
                <a:path w="4027170" h="765810">
                  <a:moveTo>
                    <a:pt x="2192769" y="765365"/>
                  </a:moveTo>
                  <a:lnTo>
                    <a:pt x="2408758" y="765365"/>
                  </a:lnTo>
                </a:path>
                <a:path w="4027170" h="765810">
                  <a:moveTo>
                    <a:pt x="1042568" y="765365"/>
                  </a:moveTo>
                  <a:lnTo>
                    <a:pt x="1258201" y="765365"/>
                  </a:lnTo>
                </a:path>
                <a:path w="4027170" h="765810">
                  <a:moveTo>
                    <a:pt x="467283" y="765365"/>
                  </a:moveTo>
                  <a:lnTo>
                    <a:pt x="682917" y="765365"/>
                  </a:lnTo>
                </a:path>
                <a:path w="4027170" h="765810">
                  <a:moveTo>
                    <a:pt x="1617840" y="765365"/>
                  </a:moveTo>
                  <a:lnTo>
                    <a:pt x="1833486" y="765365"/>
                  </a:lnTo>
                </a:path>
                <a:path w="4027170" h="765810">
                  <a:moveTo>
                    <a:pt x="0" y="765365"/>
                  </a:moveTo>
                  <a:lnTo>
                    <a:pt x="107645" y="765365"/>
                  </a:lnTo>
                </a:path>
                <a:path w="4027170" h="765810">
                  <a:moveTo>
                    <a:pt x="3918965" y="0"/>
                  </a:moveTo>
                  <a:lnTo>
                    <a:pt x="4026966" y="0"/>
                  </a:lnTo>
                </a:path>
                <a:path w="4027170" h="765810">
                  <a:moveTo>
                    <a:pt x="1617840" y="0"/>
                  </a:moveTo>
                  <a:lnTo>
                    <a:pt x="1833486" y="0"/>
                  </a:lnTo>
                </a:path>
                <a:path w="4027170" h="765810">
                  <a:moveTo>
                    <a:pt x="2768409" y="0"/>
                  </a:moveTo>
                  <a:lnTo>
                    <a:pt x="2984042" y="0"/>
                  </a:lnTo>
                </a:path>
                <a:path w="4027170" h="765810">
                  <a:moveTo>
                    <a:pt x="2192769" y="0"/>
                  </a:moveTo>
                  <a:lnTo>
                    <a:pt x="2408758" y="0"/>
                  </a:lnTo>
                </a:path>
                <a:path w="4027170" h="765810">
                  <a:moveTo>
                    <a:pt x="3343681" y="0"/>
                  </a:moveTo>
                  <a:lnTo>
                    <a:pt x="3559327" y="0"/>
                  </a:lnTo>
                </a:path>
                <a:path w="4027170" h="765810">
                  <a:moveTo>
                    <a:pt x="1042568" y="0"/>
                  </a:moveTo>
                  <a:lnTo>
                    <a:pt x="1258201" y="0"/>
                  </a:lnTo>
                </a:path>
                <a:path w="4027170" h="765810">
                  <a:moveTo>
                    <a:pt x="0" y="0"/>
                  </a:moveTo>
                  <a:lnTo>
                    <a:pt x="682917" y="0"/>
                  </a:lnTo>
                </a:path>
              </a:pathLst>
            </a:custGeom>
            <a:ln w="6479">
              <a:solidFill>
                <a:srgbClr val="E5E1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624076" y="1624685"/>
              <a:ext cx="4027170" cy="0"/>
            </a:xfrm>
            <a:custGeom>
              <a:avLst/>
              <a:gdLst/>
              <a:ahLst/>
              <a:cxnLst/>
              <a:rect l="l" t="t" r="r" b="b"/>
              <a:pathLst>
                <a:path w="4027170" h="0">
                  <a:moveTo>
                    <a:pt x="4026966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5E1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570075" y="1624685"/>
              <a:ext cx="4081145" cy="3115945"/>
            </a:xfrm>
            <a:custGeom>
              <a:avLst/>
              <a:gdLst/>
              <a:ahLst/>
              <a:cxnLst/>
              <a:rect l="l" t="t" r="r" b="b"/>
              <a:pathLst>
                <a:path w="4081145" h="3115945">
                  <a:moveTo>
                    <a:pt x="54000" y="3115437"/>
                  </a:moveTo>
                  <a:lnTo>
                    <a:pt x="54000" y="3061436"/>
                  </a:lnTo>
                </a:path>
                <a:path w="4081145" h="3115945">
                  <a:moveTo>
                    <a:pt x="629285" y="3115437"/>
                  </a:moveTo>
                  <a:lnTo>
                    <a:pt x="629285" y="3061436"/>
                  </a:lnTo>
                </a:path>
                <a:path w="4081145" h="3115945">
                  <a:moveTo>
                    <a:pt x="1204569" y="3115437"/>
                  </a:moveTo>
                  <a:lnTo>
                    <a:pt x="1204569" y="3061436"/>
                  </a:lnTo>
                </a:path>
                <a:path w="4081145" h="3115945">
                  <a:moveTo>
                    <a:pt x="1779485" y="3115437"/>
                  </a:moveTo>
                  <a:lnTo>
                    <a:pt x="1779485" y="3061436"/>
                  </a:lnTo>
                </a:path>
                <a:path w="4081145" h="3115945">
                  <a:moveTo>
                    <a:pt x="2354757" y="3115437"/>
                  </a:moveTo>
                  <a:lnTo>
                    <a:pt x="2354757" y="3061436"/>
                  </a:lnTo>
                </a:path>
                <a:path w="4081145" h="3115945">
                  <a:moveTo>
                    <a:pt x="2930042" y="3115437"/>
                  </a:moveTo>
                  <a:lnTo>
                    <a:pt x="2930042" y="3061436"/>
                  </a:lnTo>
                </a:path>
                <a:path w="4081145" h="3115945">
                  <a:moveTo>
                    <a:pt x="3505327" y="3115437"/>
                  </a:moveTo>
                  <a:lnTo>
                    <a:pt x="3505327" y="3061436"/>
                  </a:lnTo>
                </a:path>
                <a:path w="4081145" h="3115945">
                  <a:moveTo>
                    <a:pt x="4080967" y="3115437"/>
                  </a:moveTo>
                  <a:lnTo>
                    <a:pt x="4080967" y="3061436"/>
                  </a:lnTo>
                </a:path>
                <a:path w="4081145" h="3115945">
                  <a:moveTo>
                    <a:pt x="54000" y="3061436"/>
                  </a:moveTo>
                  <a:lnTo>
                    <a:pt x="4080967" y="3061436"/>
                  </a:lnTo>
                </a:path>
                <a:path w="4081145" h="3115945">
                  <a:moveTo>
                    <a:pt x="0" y="3061436"/>
                  </a:moveTo>
                  <a:lnTo>
                    <a:pt x="54000" y="3061436"/>
                  </a:lnTo>
                </a:path>
                <a:path w="4081145" h="3115945">
                  <a:moveTo>
                    <a:pt x="0" y="2295715"/>
                  </a:moveTo>
                  <a:lnTo>
                    <a:pt x="54000" y="2295715"/>
                  </a:lnTo>
                </a:path>
                <a:path w="4081145" h="3115945">
                  <a:moveTo>
                    <a:pt x="0" y="1530718"/>
                  </a:moveTo>
                  <a:lnTo>
                    <a:pt x="54000" y="1530718"/>
                  </a:lnTo>
                </a:path>
                <a:path w="4081145" h="3115945">
                  <a:moveTo>
                    <a:pt x="0" y="765352"/>
                  </a:moveTo>
                  <a:lnTo>
                    <a:pt x="54000" y="765352"/>
                  </a:lnTo>
                </a:path>
                <a:path w="4081145" h="3115945">
                  <a:moveTo>
                    <a:pt x="0" y="0"/>
                  </a:moveTo>
                  <a:lnTo>
                    <a:pt x="54000" y="0"/>
                  </a:lnTo>
                </a:path>
                <a:path w="4081145" h="3115945">
                  <a:moveTo>
                    <a:pt x="54000" y="3061436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731721" y="1808276"/>
              <a:ext cx="3811904" cy="1714500"/>
            </a:xfrm>
            <a:custGeom>
              <a:avLst/>
              <a:gdLst/>
              <a:ahLst/>
              <a:cxnLst/>
              <a:rect l="l" t="t" r="r" b="b"/>
              <a:pathLst>
                <a:path w="3811904" h="1714500">
                  <a:moveTo>
                    <a:pt x="359638" y="642962"/>
                  </a:moveTo>
                  <a:lnTo>
                    <a:pt x="0" y="642962"/>
                  </a:lnTo>
                  <a:lnTo>
                    <a:pt x="0" y="1714322"/>
                  </a:lnTo>
                  <a:lnTo>
                    <a:pt x="359638" y="1714322"/>
                  </a:lnTo>
                  <a:lnTo>
                    <a:pt x="359638" y="642962"/>
                  </a:lnTo>
                  <a:close/>
                </a:path>
                <a:path w="3811904" h="1714500">
                  <a:moveTo>
                    <a:pt x="934923" y="535686"/>
                  </a:moveTo>
                  <a:lnTo>
                    <a:pt x="575271" y="535686"/>
                  </a:lnTo>
                  <a:lnTo>
                    <a:pt x="575271" y="1607045"/>
                  </a:lnTo>
                  <a:lnTo>
                    <a:pt x="934923" y="1607045"/>
                  </a:lnTo>
                  <a:lnTo>
                    <a:pt x="934923" y="535686"/>
                  </a:lnTo>
                  <a:close/>
                </a:path>
                <a:path w="3811904" h="1714500">
                  <a:moveTo>
                    <a:pt x="1510195" y="428764"/>
                  </a:moveTo>
                  <a:lnTo>
                    <a:pt x="1150556" y="428764"/>
                  </a:lnTo>
                  <a:lnTo>
                    <a:pt x="1150556" y="1499768"/>
                  </a:lnTo>
                  <a:lnTo>
                    <a:pt x="1510195" y="1499768"/>
                  </a:lnTo>
                  <a:lnTo>
                    <a:pt x="1510195" y="428764"/>
                  </a:lnTo>
                  <a:close/>
                </a:path>
                <a:path w="3811904" h="1714500">
                  <a:moveTo>
                    <a:pt x="2085124" y="321487"/>
                  </a:moveTo>
                  <a:lnTo>
                    <a:pt x="1725841" y="321487"/>
                  </a:lnTo>
                  <a:lnTo>
                    <a:pt x="1725841" y="1393202"/>
                  </a:lnTo>
                  <a:lnTo>
                    <a:pt x="2085124" y="1393202"/>
                  </a:lnTo>
                  <a:lnTo>
                    <a:pt x="2085124" y="321487"/>
                  </a:lnTo>
                  <a:close/>
                </a:path>
                <a:path w="3811904" h="1714500">
                  <a:moveTo>
                    <a:pt x="2660764" y="214198"/>
                  </a:moveTo>
                  <a:lnTo>
                    <a:pt x="2301113" y="214198"/>
                  </a:lnTo>
                  <a:lnTo>
                    <a:pt x="2301113" y="1285925"/>
                  </a:lnTo>
                  <a:lnTo>
                    <a:pt x="2660764" y="1285925"/>
                  </a:lnTo>
                  <a:lnTo>
                    <a:pt x="2660764" y="214198"/>
                  </a:lnTo>
                  <a:close/>
                </a:path>
                <a:path w="3811904" h="1714500">
                  <a:moveTo>
                    <a:pt x="3236036" y="106921"/>
                  </a:moveTo>
                  <a:lnTo>
                    <a:pt x="2876397" y="106921"/>
                  </a:lnTo>
                  <a:lnTo>
                    <a:pt x="2876397" y="1178648"/>
                  </a:lnTo>
                  <a:lnTo>
                    <a:pt x="3236036" y="1178648"/>
                  </a:lnTo>
                  <a:lnTo>
                    <a:pt x="3236036" y="106921"/>
                  </a:lnTo>
                  <a:close/>
                </a:path>
                <a:path w="3811904" h="1714500">
                  <a:moveTo>
                    <a:pt x="3811320" y="0"/>
                  </a:moveTo>
                  <a:lnTo>
                    <a:pt x="3451682" y="0"/>
                  </a:lnTo>
                  <a:lnTo>
                    <a:pt x="3451682" y="1071727"/>
                  </a:lnTo>
                  <a:lnTo>
                    <a:pt x="3811320" y="1071727"/>
                  </a:lnTo>
                  <a:lnTo>
                    <a:pt x="3811320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890664" y="4574164"/>
            <a:ext cx="4679315" cy="91059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494665">
              <a:lnSpc>
                <a:spcPct val="100000"/>
              </a:lnSpc>
              <a:spcBef>
                <a:spcPts val="195"/>
              </a:spcBef>
            </a:pPr>
            <a:r>
              <a:rPr dirty="0" sz="1100" spc="-25">
                <a:solidFill>
                  <a:srgbClr val="6A648F"/>
                </a:solidFill>
                <a:latin typeface="Verdana"/>
                <a:cs typeface="Verdana"/>
              </a:rPr>
              <a:t>10</a:t>
            </a:r>
            <a:endParaRPr sz="1100">
              <a:latin typeface="Verdana"/>
              <a:cs typeface="Verdana"/>
            </a:endParaRPr>
          </a:p>
          <a:p>
            <a:pPr marL="825500">
              <a:lnSpc>
                <a:spcPct val="100000"/>
              </a:lnSpc>
              <a:spcBef>
                <a:spcPts val="100"/>
              </a:spcBef>
              <a:tabLst>
                <a:tab pos="1400175" algn="l"/>
                <a:tab pos="1973580" algn="l"/>
                <a:tab pos="2551430" algn="l"/>
                <a:tab pos="3126105" algn="l"/>
                <a:tab pos="3704590" algn="l"/>
                <a:tab pos="4276725" algn="l"/>
              </a:tabLst>
            </a:pPr>
            <a:r>
              <a:rPr dirty="0" sz="1100">
                <a:solidFill>
                  <a:srgbClr val="423A67"/>
                </a:solidFill>
                <a:latin typeface="Verdana"/>
                <a:cs typeface="Verdana"/>
              </a:rPr>
              <a:t>2</a:t>
            </a:r>
            <a:r>
              <a:rPr dirty="0" sz="11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23A67"/>
                </a:solidFill>
                <a:latin typeface="Verdana"/>
                <a:cs typeface="Verdana"/>
              </a:rPr>
              <a:t>Mar</a:t>
            </a:r>
            <a:r>
              <a:rPr dirty="0" sz="1100">
                <a:solidFill>
                  <a:srgbClr val="423A67"/>
                </a:solidFill>
                <a:latin typeface="Verdana"/>
                <a:cs typeface="Verdana"/>
              </a:rPr>
              <a:t>	3</a:t>
            </a:r>
            <a:r>
              <a:rPr dirty="0" sz="1100" spc="-8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23A67"/>
                </a:solidFill>
                <a:latin typeface="Verdana"/>
                <a:cs typeface="Verdana"/>
              </a:rPr>
              <a:t>Mar</a:t>
            </a:r>
            <a:r>
              <a:rPr dirty="0" sz="1100">
                <a:solidFill>
                  <a:srgbClr val="423A67"/>
                </a:solidFill>
                <a:latin typeface="Verdana"/>
                <a:cs typeface="Verdana"/>
              </a:rPr>
              <a:t>	4</a:t>
            </a:r>
            <a:r>
              <a:rPr dirty="0" sz="1100" spc="-5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23A67"/>
                </a:solidFill>
                <a:latin typeface="Verdana"/>
                <a:cs typeface="Verdana"/>
              </a:rPr>
              <a:t>Mar</a:t>
            </a:r>
            <a:r>
              <a:rPr dirty="0" sz="1100">
                <a:solidFill>
                  <a:srgbClr val="423A67"/>
                </a:solidFill>
                <a:latin typeface="Verdana"/>
                <a:cs typeface="Verdana"/>
              </a:rPr>
              <a:t>	5</a:t>
            </a:r>
            <a:r>
              <a:rPr dirty="0" sz="11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23A67"/>
                </a:solidFill>
                <a:latin typeface="Verdana"/>
                <a:cs typeface="Verdana"/>
              </a:rPr>
              <a:t>Mar</a:t>
            </a:r>
            <a:r>
              <a:rPr dirty="0" sz="1100">
                <a:solidFill>
                  <a:srgbClr val="423A67"/>
                </a:solidFill>
                <a:latin typeface="Verdana"/>
                <a:cs typeface="Verdana"/>
              </a:rPr>
              <a:t>	6</a:t>
            </a:r>
            <a:r>
              <a:rPr dirty="0" sz="1100" spc="-8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23A67"/>
                </a:solidFill>
                <a:latin typeface="Verdana"/>
                <a:cs typeface="Verdana"/>
              </a:rPr>
              <a:t>Mar</a:t>
            </a:r>
            <a:r>
              <a:rPr dirty="0" sz="1100">
                <a:solidFill>
                  <a:srgbClr val="423A67"/>
                </a:solidFill>
                <a:latin typeface="Verdana"/>
                <a:cs typeface="Verdana"/>
              </a:rPr>
              <a:t>	</a:t>
            </a:r>
            <a:r>
              <a:rPr dirty="0" sz="1100" spc="-90">
                <a:solidFill>
                  <a:srgbClr val="423A67"/>
                </a:solidFill>
                <a:latin typeface="Verdana"/>
                <a:cs typeface="Verdana"/>
              </a:rPr>
              <a:t>7</a:t>
            </a:r>
            <a:r>
              <a:rPr dirty="0" sz="1100" spc="-5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23A67"/>
                </a:solidFill>
                <a:latin typeface="Verdana"/>
                <a:cs typeface="Verdana"/>
              </a:rPr>
              <a:t>Mar</a:t>
            </a:r>
            <a:r>
              <a:rPr dirty="0" sz="1100">
                <a:solidFill>
                  <a:srgbClr val="423A67"/>
                </a:solidFill>
                <a:latin typeface="Verdana"/>
                <a:cs typeface="Verdana"/>
              </a:rPr>
              <a:t>	8</a:t>
            </a:r>
            <a:r>
              <a:rPr dirty="0" sz="1100" spc="-8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23A67"/>
                </a:solidFill>
                <a:latin typeface="Verdana"/>
                <a:cs typeface="Verdana"/>
              </a:rPr>
              <a:t>Mar</a:t>
            </a:r>
            <a:endParaRPr sz="1100">
              <a:latin typeface="Verdana"/>
              <a:cs typeface="Verdana"/>
            </a:endParaRPr>
          </a:p>
          <a:p>
            <a:pPr marL="12700" marR="219710">
              <a:lnSpc>
                <a:spcPct val="100000"/>
              </a:lnSpc>
              <a:spcBef>
                <a:spcPts val="1010"/>
              </a:spcBef>
            </a:pP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Projected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ranges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from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a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0">
                <a:solidFill>
                  <a:srgbClr val="6A648F"/>
                </a:solidFill>
                <a:latin typeface="Verdana"/>
                <a:cs typeface="Verdana"/>
              </a:rPr>
              <a:t>1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6A648F"/>
                </a:solidFill>
                <a:latin typeface="Verdana"/>
                <a:cs typeface="Verdana"/>
              </a:rPr>
              <a:t>Mar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2025,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6A648F"/>
                </a:solidFill>
                <a:latin typeface="Verdana"/>
                <a:cs typeface="Verdana"/>
              </a:rPr>
              <a:t>13:00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>
                <a:solidFill>
                  <a:srgbClr val="6A648F"/>
                </a:solidFill>
                <a:latin typeface="Verdana"/>
                <a:cs typeface="Verdana"/>
              </a:rPr>
              <a:t>UTC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6A648F"/>
                </a:solidFill>
                <a:latin typeface="Verdana"/>
                <a:cs typeface="Verdana"/>
              </a:rPr>
              <a:t>decision.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Historical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fictional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example.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584" y="5447423"/>
            <a:ext cx="44754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Future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values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are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projections,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not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recorded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observations.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897064" y="5571540"/>
            <a:ext cx="4767580" cy="698500"/>
            <a:chOff x="6897064" y="5571540"/>
            <a:chExt cx="4767580" cy="698500"/>
          </a:xfrm>
        </p:grpSpPr>
        <p:sp>
          <p:nvSpPr>
            <p:cNvPr id="32" name="object 32"/>
            <p:cNvSpPr/>
            <p:nvPr/>
          </p:nvSpPr>
          <p:spPr>
            <a:xfrm>
              <a:off x="6903364" y="5577840"/>
              <a:ext cx="4754880" cy="685800"/>
            </a:xfrm>
            <a:custGeom>
              <a:avLst/>
              <a:gdLst/>
              <a:ahLst/>
              <a:cxnLst/>
              <a:rect l="l" t="t" r="r" b="b"/>
              <a:pathLst>
                <a:path w="4754880" h="685800">
                  <a:moveTo>
                    <a:pt x="46814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12724"/>
                  </a:lnTo>
                  <a:lnTo>
                    <a:pt x="594" y="621995"/>
                  </a:lnTo>
                  <a:lnTo>
                    <a:pt x="607" y="622200"/>
                  </a:lnTo>
                  <a:lnTo>
                    <a:pt x="2394" y="631396"/>
                  </a:lnTo>
                  <a:lnTo>
                    <a:pt x="2428" y="631575"/>
                  </a:lnTo>
                  <a:lnTo>
                    <a:pt x="5412" y="640459"/>
                  </a:lnTo>
                  <a:lnTo>
                    <a:pt x="36360" y="676084"/>
                  </a:lnTo>
                  <a:lnTo>
                    <a:pt x="73075" y="685800"/>
                  </a:lnTo>
                  <a:lnTo>
                    <a:pt x="4681791" y="685444"/>
                  </a:lnTo>
                  <a:lnTo>
                    <a:pt x="4726169" y="670340"/>
                  </a:lnTo>
                  <a:lnTo>
                    <a:pt x="4749332" y="640615"/>
                  </a:lnTo>
                  <a:lnTo>
                    <a:pt x="4749409" y="640459"/>
                  </a:lnTo>
                  <a:lnTo>
                    <a:pt x="4754856" y="612724"/>
                  </a:lnTo>
                  <a:lnTo>
                    <a:pt x="4754880" y="612355"/>
                  </a:lnTo>
                  <a:lnTo>
                    <a:pt x="4754511" y="73075"/>
                  </a:lnTo>
                  <a:lnTo>
                    <a:pt x="4739420" y="28705"/>
                  </a:lnTo>
                  <a:lnTo>
                    <a:pt x="4700470" y="2428"/>
                  </a:lnTo>
                  <a:lnTo>
                    <a:pt x="4691069" y="607"/>
                  </a:lnTo>
                  <a:lnTo>
                    <a:pt x="4681435" y="0"/>
                  </a:lnTo>
                  <a:close/>
                </a:path>
              </a:pathLst>
            </a:custGeom>
            <a:solidFill>
              <a:srgbClr val="E9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903364" y="5577840"/>
              <a:ext cx="4754880" cy="685800"/>
            </a:xfrm>
            <a:custGeom>
              <a:avLst/>
              <a:gdLst/>
              <a:ahLst/>
              <a:cxnLst/>
              <a:rect l="l" t="t" r="r" b="b"/>
              <a:pathLst>
                <a:path w="4754880" h="6858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4681435" y="0"/>
                  </a:lnTo>
                  <a:lnTo>
                    <a:pt x="4725963" y="15104"/>
                  </a:lnTo>
                  <a:lnTo>
                    <a:pt x="4752082" y="54224"/>
                  </a:lnTo>
                  <a:lnTo>
                    <a:pt x="4754511" y="73075"/>
                  </a:lnTo>
                  <a:lnTo>
                    <a:pt x="4754880" y="612355"/>
                  </a:lnTo>
                  <a:lnTo>
                    <a:pt x="4754272" y="621995"/>
                  </a:lnTo>
                  <a:lnTo>
                    <a:pt x="4752449" y="631396"/>
                  </a:lnTo>
                  <a:lnTo>
                    <a:pt x="4726169" y="670340"/>
                  </a:lnTo>
                  <a:lnTo>
                    <a:pt x="4681791" y="685444"/>
                  </a:lnTo>
                  <a:lnTo>
                    <a:pt x="73075" y="685800"/>
                  </a:lnTo>
                  <a:lnTo>
                    <a:pt x="28548" y="670695"/>
                  </a:lnTo>
                  <a:lnTo>
                    <a:pt x="2428" y="631575"/>
                  </a:lnTo>
                  <a:lnTo>
                    <a:pt x="0" y="61272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E9E5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073544" y="5694743"/>
            <a:ext cx="409575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423A67"/>
                </a:solidFill>
                <a:latin typeface="Verdana"/>
                <a:cs typeface="Verdana"/>
              </a:rPr>
              <a:t>The</a:t>
            </a:r>
            <a:r>
              <a:rPr dirty="0" sz="14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423A67"/>
                </a:solidFill>
                <a:latin typeface="Verdana"/>
                <a:cs typeface="Verdana"/>
              </a:rPr>
              <a:t>7-point</a:t>
            </a:r>
            <a:r>
              <a:rPr dirty="0" sz="14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423A67"/>
                </a:solidFill>
                <a:latin typeface="Verdana"/>
                <a:cs typeface="Verdana"/>
              </a:rPr>
              <a:t>width</a:t>
            </a:r>
            <a:r>
              <a:rPr dirty="0" sz="14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423A67"/>
                </a:solidFill>
                <a:latin typeface="Verdana"/>
                <a:cs typeface="Verdana"/>
              </a:rPr>
              <a:t>reflects</a:t>
            </a:r>
            <a:r>
              <a:rPr dirty="0" sz="14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423A67"/>
                </a:solidFill>
                <a:latin typeface="Verdana"/>
                <a:cs typeface="Verdana"/>
              </a:rPr>
              <a:t>the</a:t>
            </a:r>
            <a:r>
              <a:rPr dirty="0" sz="14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423A67"/>
                </a:solidFill>
                <a:latin typeface="Verdana"/>
                <a:cs typeface="Verdana"/>
              </a:rPr>
              <a:t>unknown</a:t>
            </a:r>
            <a:r>
              <a:rPr dirty="0" sz="14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423A67"/>
                </a:solidFill>
                <a:latin typeface="Verdana"/>
                <a:cs typeface="Verdana"/>
              </a:rPr>
              <a:t>sputum-</a:t>
            </a:r>
            <a:r>
              <a:rPr dirty="0" sz="1400" spc="-30">
                <a:solidFill>
                  <a:srgbClr val="423A67"/>
                </a:solidFill>
                <a:latin typeface="Verdana"/>
                <a:cs typeface="Verdana"/>
              </a:rPr>
              <a:t>change</a:t>
            </a:r>
            <a:r>
              <a:rPr dirty="0" sz="1400" spc="-9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23A67"/>
                </a:solidFill>
                <a:latin typeface="Verdana"/>
                <a:cs typeface="Verdana"/>
              </a:rPr>
              <a:t>answer.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33824" y="6475954"/>
            <a:ext cx="738505" cy="17970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Pulmira</a:t>
            </a:r>
            <a:r>
              <a:rPr dirty="0" sz="10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85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6A648F"/>
                </a:solidFill>
                <a:latin typeface="Verdana"/>
                <a:cs typeface="Verdana"/>
              </a:rPr>
              <a:t>08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2533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7B5BFF"/>
                </a:solidFill>
                <a:latin typeface="Verdana"/>
                <a:cs typeface="Verdana"/>
              </a:rPr>
              <a:t>S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Y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N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H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E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C</a:t>
            </a:r>
            <a:r>
              <a:rPr dirty="0" sz="1200" spc="49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75" b="1">
                <a:solidFill>
                  <a:srgbClr val="7B5BFF"/>
                </a:solidFill>
                <a:latin typeface="Verdana"/>
                <a:cs typeface="Verdana"/>
              </a:rPr>
              <a:t>S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0" b="1">
                <a:solidFill>
                  <a:srgbClr val="7B5BFF"/>
                </a:solidFill>
                <a:latin typeface="Verdana"/>
                <a:cs typeface="Verdana"/>
              </a:rPr>
              <a:t>M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U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0" b="1">
                <a:solidFill>
                  <a:srgbClr val="7B5BFF"/>
                </a:solidFill>
                <a:latin typeface="Verdana"/>
                <a:cs typeface="Verdana"/>
              </a:rPr>
              <a:t>L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21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4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65"/>
              <a:t>Testing</a:t>
            </a:r>
            <a:r>
              <a:rPr dirty="0" spc="-320"/>
              <a:t> </a:t>
            </a:r>
            <a:r>
              <a:rPr dirty="0" spc="-235"/>
              <a:t>fictional</a:t>
            </a:r>
            <a:r>
              <a:rPr dirty="0" spc="-315"/>
              <a:t> </a:t>
            </a:r>
            <a:r>
              <a:rPr dirty="0" spc="-195"/>
              <a:t>scenarios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584" y="1587144"/>
            <a:ext cx="5474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0" b="1">
                <a:solidFill>
                  <a:srgbClr val="423A67"/>
                </a:solidFill>
                <a:latin typeface="Verdana"/>
                <a:cs typeface="Verdana"/>
              </a:rPr>
              <a:t>Observed</a:t>
            </a:r>
            <a:r>
              <a:rPr dirty="0" sz="1800" spc="-16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130" b="1">
                <a:solidFill>
                  <a:srgbClr val="423A67"/>
                </a:solidFill>
                <a:latin typeface="Verdana"/>
                <a:cs typeface="Verdana"/>
              </a:rPr>
              <a:t>days</a:t>
            </a:r>
            <a:r>
              <a:rPr dirty="0" sz="1800" spc="-16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160" b="1">
                <a:solidFill>
                  <a:srgbClr val="423A67"/>
                </a:solidFill>
                <a:latin typeface="Verdana"/>
                <a:cs typeface="Verdana"/>
              </a:rPr>
              <a:t>in</a:t>
            </a:r>
            <a:r>
              <a:rPr dirty="0" sz="1800" spc="-15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165" b="1">
                <a:solidFill>
                  <a:srgbClr val="423A67"/>
                </a:solidFill>
                <a:latin typeface="Verdana"/>
                <a:cs typeface="Verdana"/>
              </a:rPr>
              <a:t>a </a:t>
            </a:r>
            <a:r>
              <a:rPr dirty="0" sz="1800" spc="-175" b="1">
                <a:solidFill>
                  <a:srgbClr val="423A67"/>
                </a:solidFill>
                <a:latin typeface="Verdana"/>
                <a:cs typeface="Verdana"/>
              </a:rPr>
              <a:t>180-</a:t>
            </a:r>
            <a:r>
              <a:rPr dirty="0" sz="1800" spc="-165" b="1">
                <a:solidFill>
                  <a:srgbClr val="423A67"/>
                </a:solidFill>
                <a:latin typeface="Verdana"/>
                <a:cs typeface="Verdana"/>
              </a:rPr>
              <a:t>day </a:t>
            </a:r>
            <a:r>
              <a:rPr dirty="0" sz="1800" spc="-130" b="1">
                <a:solidFill>
                  <a:srgbClr val="423A67"/>
                </a:solidFill>
                <a:latin typeface="Verdana"/>
                <a:cs typeface="Verdana"/>
              </a:rPr>
              <a:t>fictional</a:t>
            </a:r>
            <a:r>
              <a:rPr dirty="0" sz="1800" spc="-16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100" b="1">
                <a:solidFill>
                  <a:srgbClr val="423A67"/>
                </a:solidFill>
                <a:latin typeface="Verdana"/>
                <a:cs typeface="Verdana"/>
              </a:rPr>
              <a:t>comparison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584" y="2334145"/>
            <a:ext cx="27584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423A67"/>
                </a:solidFill>
                <a:latin typeface="Verdana"/>
                <a:cs typeface="Verdana"/>
              </a:rPr>
              <a:t>Sparse</a:t>
            </a:r>
            <a:r>
              <a:rPr dirty="0" sz="1600" spc="-9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45">
                <a:solidFill>
                  <a:srgbClr val="423A67"/>
                </a:solidFill>
                <a:latin typeface="Verdana"/>
                <a:cs typeface="Verdana"/>
              </a:rPr>
              <a:t>reference</a:t>
            </a:r>
            <a:r>
              <a:rPr dirty="0" sz="1600" spc="-9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60">
                <a:solidFill>
                  <a:srgbClr val="423A67"/>
                </a:solidFill>
                <a:latin typeface="Verdana"/>
                <a:cs typeface="Verdana"/>
              </a:rPr>
              <a:t>monitoring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76624" y="2279344"/>
            <a:ext cx="6596380" cy="378460"/>
            <a:chOff x="3376624" y="2279344"/>
            <a:chExt cx="6596380" cy="378460"/>
          </a:xfrm>
        </p:grpSpPr>
        <p:sp>
          <p:nvSpPr>
            <p:cNvPr id="7" name="object 7"/>
            <p:cNvSpPr/>
            <p:nvPr/>
          </p:nvSpPr>
          <p:spPr>
            <a:xfrm>
              <a:off x="3382924" y="2285644"/>
              <a:ext cx="6583680" cy="365760"/>
            </a:xfrm>
            <a:custGeom>
              <a:avLst/>
              <a:gdLst/>
              <a:ahLst/>
              <a:cxnLst/>
              <a:rect l="l" t="t" r="r" b="b"/>
              <a:pathLst>
                <a:path w="6583680" h="365760">
                  <a:moveTo>
                    <a:pt x="6400799" y="0"/>
                  </a:moveTo>
                  <a:lnTo>
                    <a:pt x="182879" y="0"/>
                  </a:lnTo>
                  <a:lnTo>
                    <a:pt x="158971" y="1546"/>
                  </a:lnTo>
                  <a:lnTo>
                    <a:pt x="112912" y="13817"/>
                  </a:lnTo>
                  <a:lnTo>
                    <a:pt x="71559" y="37874"/>
                  </a:lnTo>
                  <a:lnTo>
                    <a:pt x="37874" y="71559"/>
                  </a:lnTo>
                  <a:lnTo>
                    <a:pt x="13817" y="112912"/>
                  </a:lnTo>
                  <a:lnTo>
                    <a:pt x="1546" y="158971"/>
                  </a:lnTo>
                  <a:lnTo>
                    <a:pt x="0" y="182880"/>
                  </a:lnTo>
                  <a:lnTo>
                    <a:pt x="1546" y="206781"/>
                  </a:lnTo>
                  <a:lnTo>
                    <a:pt x="13817" y="252840"/>
                  </a:lnTo>
                  <a:lnTo>
                    <a:pt x="37874" y="294195"/>
                  </a:lnTo>
                  <a:lnTo>
                    <a:pt x="71559" y="327878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79" y="365760"/>
                  </a:lnTo>
                  <a:lnTo>
                    <a:pt x="6400799" y="365760"/>
                  </a:lnTo>
                  <a:lnTo>
                    <a:pt x="6448134" y="359594"/>
                  </a:lnTo>
                  <a:lnTo>
                    <a:pt x="6492240" y="341274"/>
                  </a:lnTo>
                  <a:lnTo>
                    <a:pt x="6530036" y="312116"/>
                  </a:lnTo>
                  <a:lnTo>
                    <a:pt x="6559194" y="274320"/>
                  </a:lnTo>
                  <a:lnTo>
                    <a:pt x="6577514" y="230214"/>
                  </a:lnTo>
                  <a:lnTo>
                    <a:pt x="6583680" y="182880"/>
                  </a:lnTo>
                  <a:lnTo>
                    <a:pt x="6582132" y="158971"/>
                  </a:lnTo>
                  <a:lnTo>
                    <a:pt x="6569856" y="112912"/>
                  </a:lnTo>
                  <a:lnTo>
                    <a:pt x="6545798" y="71559"/>
                  </a:lnTo>
                  <a:lnTo>
                    <a:pt x="6512115" y="37874"/>
                  </a:lnTo>
                  <a:lnTo>
                    <a:pt x="6470760" y="13817"/>
                  </a:lnTo>
                  <a:lnTo>
                    <a:pt x="6424701" y="1546"/>
                  </a:lnTo>
                  <a:lnTo>
                    <a:pt x="6400799" y="0"/>
                  </a:lnTo>
                  <a:close/>
                </a:path>
              </a:pathLst>
            </a:custGeom>
            <a:solidFill>
              <a:srgbClr val="E5E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382924" y="2285644"/>
              <a:ext cx="6583680" cy="365760"/>
            </a:xfrm>
            <a:custGeom>
              <a:avLst/>
              <a:gdLst/>
              <a:ahLst/>
              <a:cxnLst/>
              <a:rect l="l" t="t" r="r" b="b"/>
              <a:pathLst>
                <a:path w="6583680" h="365760">
                  <a:moveTo>
                    <a:pt x="0" y="182880"/>
                  </a:moveTo>
                  <a:lnTo>
                    <a:pt x="1546" y="158971"/>
                  </a:lnTo>
                  <a:lnTo>
                    <a:pt x="6164" y="135535"/>
                  </a:lnTo>
                  <a:lnTo>
                    <a:pt x="24472" y="91440"/>
                  </a:lnTo>
                  <a:lnTo>
                    <a:pt x="53636" y="53636"/>
                  </a:lnTo>
                  <a:lnTo>
                    <a:pt x="91439" y="24472"/>
                  </a:lnTo>
                  <a:lnTo>
                    <a:pt x="135535" y="6164"/>
                  </a:lnTo>
                  <a:lnTo>
                    <a:pt x="182879" y="0"/>
                  </a:lnTo>
                  <a:lnTo>
                    <a:pt x="6400799" y="0"/>
                  </a:lnTo>
                  <a:lnTo>
                    <a:pt x="6448134" y="6164"/>
                  </a:lnTo>
                  <a:lnTo>
                    <a:pt x="6492240" y="24472"/>
                  </a:lnTo>
                  <a:lnTo>
                    <a:pt x="6530036" y="53636"/>
                  </a:lnTo>
                  <a:lnTo>
                    <a:pt x="6559194" y="91440"/>
                  </a:lnTo>
                  <a:lnTo>
                    <a:pt x="6577514" y="135535"/>
                  </a:lnTo>
                  <a:lnTo>
                    <a:pt x="6583680" y="182880"/>
                  </a:lnTo>
                  <a:lnTo>
                    <a:pt x="6582132" y="206781"/>
                  </a:lnTo>
                  <a:lnTo>
                    <a:pt x="6577514" y="230214"/>
                  </a:lnTo>
                  <a:lnTo>
                    <a:pt x="6559194" y="274320"/>
                  </a:lnTo>
                  <a:lnTo>
                    <a:pt x="6530036" y="312116"/>
                  </a:lnTo>
                  <a:lnTo>
                    <a:pt x="6492240" y="341274"/>
                  </a:lnTo>
                  <a:lnTo>
                    <a:pt x="6448134" y="359594"/>
                  </a:lnTo>
                  <a:lnTo>
                    <a:pt x="6400799" y="365760"/>
                  </a:lnTo>
                  <a:lnTo>
                    <a:pt x="182879" y="365760"/>
                  </a:lnTo>
                  <a:lnTo>
                    <a:pt x="135535" y="359594"/>
                  </a:lnTo>
                  <a:lnTo>
                    <a:pt x="91439" y="341274"/>
                  </a:lnTo>
                  <a:lnTo>
                    <a:pt x="53636" y="312116"/>
                  </a:lnTo>
                  <a:lnTo>
                    <a:pt x="24472" y="274320"/>
                  </a:lnTo>
                  <a:lnTo>
                    <a:pt x="6164" y="230214"/>
                  </a:lnTo>
                  <a:lnTo>
                    <a:pt x="1546" y="206781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E5E1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83280" y="2285644"/>
              <a:ext cx="658495" cy="365760"/>
            </a:xfrm>
            <a:custGeom>
              <a:avLst/>
              <a:gdLst/>
              <a:ahLst/>
              <a:cxnLst/>
              <a:rect l="l" t="t" r="r" b="b"/>
              <a:pathLst>
                <a:path w="658495" h="365760">
                  <a:moveTo>
                    <a:pt x="475564" y="0"/>
                  </a:moveTo>
                  <a:lnTo>
                    <a:pt x="182880" y="0"/>
                  </a:lnTo>
                  <a:lnTo>
                    <a:pt x="158973" y="1546"/>
                  </a:lnTo>
                  <a:lnTo>
                    <a:pt x="112917" y="13817"/>
                  </a:lnTo>
                  <a:lnTo>
                    <a:pt x="71559" y="37874"/>
                  </a:lnTo>
                  <a:lnTo>
                    <a:pt x="37879" y="71559"/>
                  </a:lnTo>
                  <a:lnTo>
                    <a:pt x="13823" y="112912"/>
                  </a:lnTo>
                  <a:lnTo>
                    <a:pt x="1547" y="158971"/>
                  </a:lnTo>
                  <a:lnTo>
                    <a:pt x="0" y="182880"/>
                  </a:lnTo>
                  <a:lnTo>
                    <a:pt x="1547" y="206781"/>
                  </a:lnTo>
                  <a:lnTo>
                    <a:pt x="13823" y="252840"/>
                  </a:lnTo>
                  <a:lnTo>
                    <a:pt x="37879" y="294195"/>
                  </a:lnTo>
                  <a:lnTo>
                    <a:pt x="71559" y="327878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80" y="365760"/>
                  </a:lnTo>
                  <a:lnTo>
                    <a:pt x="475564" y="365760"/>
                  </a:lnTo>
                  <a:lnTo>
                    <a:pt x="522903" y="359594"/>
                  </a:lnTo>
                  <a:lnTo>
                    <a:pt x="567004" y="341274"/>
                  </a:lnTo>
                  <a:lnTo>
                    <a:pt x="604800" y="312116"/>
                  </a:lnTo>
                  <a:lnTo>
                    <a:pt x="633958" y="274320"/>
                  </a:lnTo>
                  <a:lnTo>
                    <a:pt x="652278" y="230214"/>
                  </a:lnTo>
                  <a:lnTo>
                    <a:pt x="658444" y="182880"/>
                  </a:lnTo>
                  <a:lnTo>
                    <a:pt x="656897" y="158971"/>
                  </a:lnTo>
                  <a:lnTo>
                    <a:pt x="644621" y="112912"/>
                  </a:lnTo>
                  <a:lnTo>
                    <a:pt x="620562" y="71559"/>
                  </a:lnTo>
                  <a:lnTo>
                    <a:pt x="586879" y="37874"/>
                  </a:lnTo>
                  <a:lnTo>
                    <a:pt x="545526" y="13817"/>
                  </a:lnTo>
                  <a:lnTo>
                    <a:pt x="499470" y="1546"/>
                  </a:lnTo>
                  <a:lnTo>
                    <a:pt x="475564" y="0"/>
                  </a:lnTo>
                  <a:close/>
                </a:path>
              </a:pathLst>
            </a:custGeom>
            <a:solidFill>
              <a:srgbClr val="B8A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83280" y="2285644"/>
              <a:ext cx="658495" cy="365760"/>
            </a:xfrm>
            <a:custGeom>
              <a:avLst/>
              <a:gdLst/>
              <a:ahLst/>
              <a:cxnLst/>
              <a:rect l="l" t="t" r="r" b="b"/>
              <a:pathLst>
                <a:path w="658495" h="365760">
                  <a:moveTo>
                    <a:pt x="0" y="182880"/>
                  </a:moveTo>
                  <a:lnTo>
                    <a:pt x="1547" y="158971"/>
                  </a:lnTo>
                  <a:lnTo>
                    <a:pt x="6165" y="135535"/>
                  </a:lnTo>
                  <a:lnTo>
                    <a:pt x="24485" y="91440"/>
                  </a:lnTo>
                  <a:lnTo>
                    <a:pt x="53638" y="53636"/>
                  </a:lnTo>
                  <a:lnTo>
                    <a:pt x="91440" y="24472"/>
                  </a:lnTo>
                  <a:lnTo>
                    <a:pt x="135540" y="6164"/>
                  </a:lnTo>
                  <a:lnTo>
                    <a:pt x="182880" y="0"/>
                  </a:lnTo>
                  <a:lnTo>
                    <a:pt x="475564" y="0"/>
                  </a:lnTo>
                  <a:lnTo>
                    <a:pt x="522903" y="6164"/>
                  </a:lnTo>
                  <a:lnTo>
                    <a:pt x="567004" y="24472"/>
                  </a:lnTo>
                  <a:lnTo>
                    <a:pt x="604800" y="53636"/>
                  </a:lnTo>
                  <a:lnTo>
                    <a:pt x="633958" y="91440"/>
                  </a:lnTo>
                  <a:lnTo>
                    <a:pt x="652278" y="135535"/>
                  </a:lnTo>
                  <a:lnTo>
                    <a:pt x="658444" y="182880"/>
                  </a:lnTo>
                  <a:lnTo>
                    <a:pt x="656897" y="206781"/>
                  </a:lnTo>
                  <a:lnTo>
                    <a:pt x="652278" y="230214"/>
                  </a:lnTo>
                  <a:lnTo>
                    <a:pt x="633958" y="274320"/>
                  </a:lnTo>
                  <a:lnTo>
                    <a:pt x="604800" y="312116"/>
                  </a:lnTo>
                  <a:lnTo>
                    <a:pt x="567004" y="341274"/>
                  </a:lnTo>
                  <a:lnTo>
                    <a:pt x="522903" y="359594"/>
                  </a:lnTo>
                  <a:lnTo>
                    <a:pt x="475564" y="365760"/>
                  </a:lnTo>
                  <a:lnTo>
                    <a:pt x="182880" y="365760"/>
                  </a:lnTo>
                  <a:lnTo>
                    <a:pt x="135540" y="359594"/>
                  </a:lnTo>
                  <a:lnTo>
                    <a:pt x="91440" y="341274"/>
                  </a:lnTo>
                  <a:lnTo>
                    <a:pt x="53638" y="312116"/>
                  </a:lnTo>
                  <a:lnTo>
                    <a:pt x="24485" y="274320"/>
                  </a:lnTo>
                  <a:lnTo>
                    <a:pt x="6165" y="230214"/>
                  </a:lnTo>
                  <a:lnTo>
                    <a:pt x="1547" y="206781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B8A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136784" y="2318664"/>
            <a:ext cx="870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15" b="1">
                <a:solidFill>
                  <a:srgbClr val="423A67"/>
                </a:solidFill>
                <a:latin typeface="Verdana"/>
                <a:cs typeface="Verdana"/>
              </a:rPr>
              <a:t>18</a:t>
            </a:r>
            <a:r>
              <a:rPr dirty="0" sz="1800" spc="-19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545" b="1">
                <a:solidFill>
                  <a:srgbClr val="423A67"/>
                </a:solidFill>
                <a:latin typeface="Verdana"/>
                <a:cs typeface="Verdana"/>
              </a:rPr>
              <a:t>/</a:t>
            </a:r>
            <a:r>
              <a:rPr dirty="0" sz="1800" spc="-195" b="1">
                <a:solidFill>
                  <a:srgbClr val="423A67"/>
                </a:solidFill>
                <a:latin typeface="Verdana"/>
                <a:cs typeface="Verdana"/>
              </a:rPr>
              <a:t> 180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584" y="3019945"/>
            <a:ext cx="27158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5">
                <a:solidFill>
                  <a:srgbClr val="423A67"/>
                </a:solidFill>
                <a:latin typeface="Verdana"/>
                <a:cs typeface="Verdana"/>
              </a:rPr>
              <a:t>Denser</a:t>
            </a:r>
            <a:r>
              <a:rPr dirty="0" sz="16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60">
                <a:solidFill>
                  <a:srgbClr val="423A67"/>
                </a:solidFill>
                <a:latin typeface="Verdana"/>
                <a:cs typeface="Verdana"/>
              </a:rPr>
              <a:t>assumed</a:t>
            </a:r>
            <a:r>
              <a:rPr dirty="0" sz="16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60">
                <a:solidFill>
                  <a:srgbClr val="423A67"/>
                </a:solidFill>
                <a:latin typeface="Verdana"/>
                <a:cs typeface="Verdana"/>
              </a:rPr>
              <a:t>monitoring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376624" y="2965144"/>
            <a:ext cx="6596380" cy="378460"/>
            <a:chOff x="3376624" y="2965144"/>
            <a:chExt cx="6596380" cy="378460"/>
          </a:xfrm>
        </p:grpSpPr>
        <p:sp>
          <p:nvSpPr>
            <p:cNvPr id="14" name="object 14"/>
            <p:cNvSpPr/>
            <p:nvPr/>
          </p:nvSpPr>
          <p:spPr>
            <a:xfrm>
              <a:off x="3382924" y="2971444"/>
              <a:ext cx="6583680" cy="365760"/>
            </a:xfrm>
            <a:custGeom>
              <a:avLst/>
              <a:gdLst/>
              <a:ahLst/>
              <a:cxnLst/>
              <a:rect l="l" t="t" r="r" b="b"/>
              <a:pathLst>
                <a:path w="6583680" h="365760">
                  <a:moveTo>
                    <a:pt x="6400799" y="0"/>
                  </a:moveTo>
                  <a:lnTo>
                    <a:pt x="182879" y="0"/>
                  </a:lnTo>
                  <a:lnTo>
                    <a:pt x="158971" y="1546"/>
                  </a:lnTo>
                  <a:lnTo>
                    <a:pt x="112912" y="13817"/>
                  </a:lnTo>
                  <a:lnTo>
                    <a:pt x="71559" y="37874"/>
                  </a:lnTo>
                  <a:lnTo>
                    <a:pt x="37874" y="71559"/>
                  </a:lnTo>
                  <a:lnTo>
                    <a:pt x="13817" y="112912"/>
                  </a:lnTo>
                  <a:lnTo>
                    <a:pt x="1546" y="158971"/>
                  </a:lnTo>
                  <a:lnTo>
                    <a:pt x="0" y="182880"/>
                  </a:lnTo>
                  <a:lnTo>
                    <a:pt x="1546" y="206781"/>
                  </a:lnTo>
                  <a:lnTo>
                    <a:pt x="13817" y="252840"/>
                  </a:lnTo>
                  <a:lnTo>
                    <a:pt x="37874" y="294195"/>
                  </a:lnTo>
                  <a:lnTo>
                    <a:pt x="71559" y="327878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79" y="365760"/>
                  </a:lnTo>
                  <a:lnTo>
                    <a:pt x="6400799" y="365760"/>
                  </a:lnTo>
                  <a:lnTo>
                    <a:pt x="6448134" y="359594"/>
                  </a:lnTo>
                  <a:lnTo>
                    <a:pt x="6492240" y="341274"/>
                  </a:lnTo>
                  <a:lnTo>
                    <a:pt x="6530036" y="312116"/>
                  </a:lnTo>
                  <a:lnTo>
                    <a:pt x="6559194" y="274320"/>
                  </a:lnTo>
                  <a:lnTo>
                    <a:pt x="6577514" y="230214"/>
                  </a:lnTo>
                  <a:lnTo>
                    <a:pt x="6583680" y="182880"/>
                  </a:lnTo>
                  <a:lnTo>
                    <a:pt x="6582132" y="158971"/>
                  </a:lnTo>
                  <a:lnTo>
                    <a:pt x="6569856" y="112912"/>
                  </a:lnTo>
                  <a:lnTo>
                    <a:pt x="6545798" y="71559"/>
                  </a:lnTo>
                  <a:lnTo>
                    <a:pt x="6512115" y="37874"/>
                  </a:lnTo>
                  <a:lnTo>
                    <a:pt x="6470760" y="13817"/>
                  </a:lnTo>
                  <a:lnTo>
                    <a:pt x="6424701" y="1546"/>
                  </a:lnTo>
                  <a:lnTo>
                    <a:pt x="6400799" y="0"/>
                  </a:lnTo>
                  <a:close/>
                </a:path>
              </a:pathLst>
            </a:custGeom>
            <a:solidFill>
              <a:srgbClr val="E5E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82924" y="2971444"/>
              <a:ext cx="6583680" cy="365760"/>
            </a:xfrm>
            <a:custGeom>
              <a:avLst/>
              <a:gdLst/>
              <a:ahLst/>
              <a:cxnLst/>
              <a:rect l="l" t="t" r="r" b="b"/>
              <a:pathLst>
                <a:path w="6583680" h="365760">
                  <a:moveTo>
                    <a:pt x="0" y="182880"/>
                  </a:moveTo>
                  <a:lnTo>
                    <a:pt x="1546" y="158971"/>
                  </a:lnTo>
                  <a:lnTo>
                    <a:pt x="6164" y="135535"/>
                  </a:lnTo>
                  <a:lnTo>
                    <a:pt x="24472" y="91440"/>
                  </a:lnTo>
                  <a:lnTo>
                    <a:pt x="53636" y="53636"/>
                  </a:lnTo>
                  <a:lnTo>
                    <a:pt x="91439" y="24472"/>
                  </a:lnTo>
                  <a:lnTo>
                    <a:pt x="135535" y="6164"/>
                  </a:lnTo>
                  <a:lnTo>
                    <a:pt x="182879" y="0"/>
                  </a:lnTo>
                  <a:lnTo>
                    <a:pt x="6400799" y="0"/>
                  </a:lnTo>
                  <a:lnTo>
                    <a:pt x="6448134" y="6164"/>
                  </a:lnTo>
                  <a:lnTo>
                    <a:pt x="6492240" y="24472"/>
                  </a:lnTo>
                  <a:lnTo>
                    <a:pt x="6530036" y="53636"/>
                  </a:lnTo>
                  <a:lnTo>
                    <a:pt x="6559194" y="91440"/>
                  </a:lnTo>
                  <a:lnTo>
                    <a:pt x="6577514" y="135535"/>
                  </a:lnTo>
                  <a:lnTo>
                    <a:pt x="6583680" y="182880"/>
                  </a:lnTo>
                  <a:lnTo>
                    <a:pt x="6582132" y="206781"/>
                  </a:lnTo>
                  <a:lnTo>
                    <a:pt x="6577514" y="230214"/>
                  </a:lnTo>
                  <a:lnTo>
                    <a:pt x="6559194" y="274320"/>
                  </a:lnTo>
                  <a:lnTo>
                    <a:pt x="6530036" y="312116"/>
                  </a:lnTo>
                  <a:lnTo>
                    <a:pt x="6492240" y="341274"/>
                  </a:lnTo>
                  <a:lnTo>
                    <a:pt x="6448134" y="359594"/>
                  </a:lnTo>
                  <a:lnTo>
                    <a:pt x="6400799" y="365760"/>
                  </a:lnTo>
                  <a:lnTo>
                    <a:pt x="182879" y="365760"/>
                  </a:lnTo>
                  <a:lnTo>
                    <a:pt x="135535" y="359594"/>
                  </a:lnTo>
                  <a:lnTo>
                    <a:pt x="91439" y="341274"/>
                  </a:lnTo>
                  <a:lnTo>
                    <a:pt x="53636" y="312116"/>
                  </a:lnTo>
                  <a:lnTo>
                    <a:pt x="24472" y="274320"/>
                  </a:lnTo>
                  <a:lnTo>
                    <a:pt x="6164" y="230214"/>
                  </a:lnTo>
                  <a:lnTo>
                    <a:pt x="1546" y="206781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E5E1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82924" y="2971444"/>
              <a:ext cx="5852160" cy="365760"/>
            </a:xfrm>
            <a:custGeom>
              <a:avLst/>
              <a:gdLst/>
              <a:ahLst/>
              <a:cxnLst/>
              <a:rect l="l" t="t" r="r" b="b"/>
              <a:pathLst>
                <a:path w="5852159" h="365760">
                  <a:moveTo>
                    <a:pt x="5669280" y="0"/>
                  </a:moveTo>
                  <a:lnTo>
                    <a:pt x="182879" y="0"/>
                  </a:lnTo>
                  <a:lnTo>
                    <a:pt x="158971" y="1546"/>
                  </a:lnTo>
                  <a:lnTo>
                    <a:pt x="112912" y="13817"/>
                  </a:lnTo>
                  <a:lnTo>
                    <a:pt x="71559" y="37874"/>
                  </a:lnTo>
                  <a:lnTo>
                    <a:pt x="37874" y="71559"/>
                  </a:lnTo>
                  <a:lnTo>
                    <a:pt x="13817" y="112912"/>
                  </a:lnTo>
                  <a:lnTo>
                    <a:pt x="1546" y="158971"/>
                  </a:lnTo>
                  <a:lnTo>
                    <a:pt x="0" y="182880"/>
                  </a:lnTo>
                  <a:lnTo>
                    <a:pt x="1546" y="206781"/>
                  </a:lnTo>
                  <a:lnTo>
                    <a:pt x="13817" y="252840"/>
                  </a:lnTo>
                  <a:lnTo>
                    <a:pt x="37874" y="294195"/>
                  </a:lnTo>
                  <a:lnTo>
                    <a:pt x="71559" y="327878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79" y="365760"/>
                  </a:lnTo>
                  <a:lnTo>
                    <a:pt x="5669280" y="365760"/>
                  </a:lnTo>
                  <a:lnTo>
                    <a:pt x="5716614" y="359594"/>
                  </a:lnTo>
                  <a:lnTo>
                    <a:pt x="5760720" y="341274"/>
                  </a:lnTo>
                  <a:lnTo>
                    <a:pt x="5798516" y="312116"/>
                  </a:lnTo>
                  <a:lnTo>
                    <a:pt x="5827674" y="274320"/>
                  </a:lnTo>
                  <a:lnTo>
                    <a:pt x="5845994" y="230214"/>
                  </a:lnTo>
                  <a:lnTo>
                    <a:pt x="5852160" y="182880"/>
                  </a:lnTo>
                  <a:lnTo>
                    <a:pt x="5850612" y="158971"/>
                  </a:lnTo>
                  <a:lnTo>
                    <a:pt x="5838336" y="112912"/>
                  </a:lnTo>
                  <a:lnTo>
                    <a:pt x="5814278" y="71559"/>
                  </a:lnTo>
                  <a:lnTo>
                    <a:pt x="5780595" y="37874"/>
                  </a:lnTo>
                  <a:lnTo>
                    <a:pt x="5739240" y="13817"/>
                  </a:lnTo>
                  <a:lnTo>
                    <a:pt x="5693181" y="1546"/>
                  </a:lnTo>
                  <a:lnTo>
                    <a:pt x="5669280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82924" y="2971444"/>
              <a:ext cx="5852160" cy="365760"/>
            </a:xfrm>
            <a:custGeom>
              <a:avLst/>
              <a:gdLst/>
              <a:ahLst/>
              <a:cxnLst/>
              <a:rect l="l" t="t" r="r" b="b"/>
              <a:pathLst>
                <a:path w="5852159" h="365760">
                  <a:moveTo>
                    <a:pt x="0" y="182880"/>
                  </a:moveTo>
                  <a:lnTo>
                    <a:pt x="1546" y="158971"/>
                  </a:lnTo>
                  <a:lnTo>
                    <a:pt x="6164" y="135535"/>
                  </a:lnTo>
                  <a:lnTo>
                    <a:pt x="24472" y="91440"/>
                  </a:lnTo>
                  <a:lnTo>
                    <a:pt x="53636" y="53636"/>
                  </a:lnTo>
                  <a:lnTo>
                    <a:pt x="91439" y="24472"/>
                  </a:lnTo>
                  <a:lnTo>
                    <a:pt x="135535" y="6164"/>
                  </a:lnTo>
                  <a:lnTo>
                    <a:pt x="182879" y="0"/>
                  </a:lnTo>
                  <a:lnTo>
                    <a:pt x="5669280" y="0"/>
                  </a:lnTo>
                  <a:lnTo>
                    <a:pt x="5716614" y="6164"/>
                  </a:lnTo>
                  <a:lnTo>
                    <a:pt x="5760720" y="24472"/>
                  </a:lnTo>
                  <a:lnTo>
                    <a:pt x="5798516" y="53636"/>
                  </a:lnTo>
                  <a:lnTo>
                    <a:pt x="5827674" y="91440"/>
                  </a:lnTo>
                  <a:lnTo>
                    <a:pt x="5845994" y="135535"/>
                  </a:lnTo>
                  <a:lnTo>
                    <a:pt x="5852160" y="182880"/>
                  </a:lnTo>
                  <a:lnTo>
                    <a:pt x="5850612" y="206781"/>
                  </a:lnTo>
                  <a:lnTo>
                    <a:pt x="5845994" y="230214"/>
                  </a:lnTo>
                  <a:lnTo>
                    <a:pt x="5827674" y="274320"/>
                  </a:lnTo>
                  <a:lnTo>
                    <a:pt x="5798516" y="312116"/>
                  </a:lnTo>
                  <a:lnTo>
                    <a:pt x="5760720" y="341274"/>
                  </a:lnTo>
                  <a:lnTo>
                    <a:pt x="5716614" y="359594"/>
                  </a:lnTo>
                  <a:lnTo>
                    <a:pt x="5669280" y="365760"/>
                  </a:lnTo>
                  <a:lnTo>
                    <a:pt x="182879" y="365760"/>
                  </a:lnTo>
                  <a:lnTo>
                    <a:pt x="135535" y="359594"/>
                  </a:lnTo>
                  <a:lnTo>
                    <a:pt x="91439" y="341274"/>
                  </a:lnTo>
                  <a:lnTo>
                    <a:pt x="53636" y="312116"/>
                  </a:lnTo>
                  <a:lnTo>
                    <a:pt x="24472" y="274320"/>
                  </a:lnTo>
                  <a:lnTo>
                    <a:pt x="6164" y="230214"/>
                  </a:lnTo>
                  <a:lnTo>
                    <a:pt x="1546" y="206781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136784" y="3004464"/>
            <a:ext cx="1024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40" b="1">
                <a:solidFill>
                  <a:srgbClr val="423A67"/>
                </a:solidFill>
                <a:latin typeface="Verdana"/>
                <a:cs typeface="Verdana"/>
              </a:rPr>
              <a:t>160</a:t>
            </a:r>
            <a:r>
              <a:rPr dirty="0" sz="1800" spc="-18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545" b="1">
                <a:solidFill>
                  <a:srgbClr val="423A67"/>
                </a:solidFill>
                <a:latin typeface="Verdana"/>
                <a:cs typeface="Verdana"/>
              </a:rPr>
              <a:t>/</a:t>
            </a:r>
            <a:r>
              <a:rPr dirty="0" sz="1800" spc="-18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195" b="1">
                <a:solidFill>
                  <a:srgbClr val="423A67"/>
                </a:solidFill>
                <a:latin typeface="Verdana"/>
                <a:cs typeface="Verdana"/>
              </a:rPr>
              <a:t>180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8640" y="3840479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5">
                <a:moveTo>
                  <a:pt x="0" y="0"/>
                </a:moveTo>
                <a:lnTo>
                  <a:pt x="11064240" y="355"/>
                </a:lnTo>
              </a:path>
            </a:pathLst>
          </a:custGeom>
          <a:ln w="12599">
            <a:solidFill>
              <a:srgbClr val="DBD5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35584" y="4101744"/>
            <a:ext cx="84836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055" b="1">
                <a:solidFill>
                  <a:srgbClr val="7B5BFF"/>
                </a:solidFill>
                <a:latin typeface="Verdana"/>
                <a:cs typeface="Verdana"/>
              </a:rPr>
              <a:t>16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72944" y="4238904"/>
            <a:ext cx="4040504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 spc="-55">
                <a:solidFill>
                  <a:srgbClr val="423A67"/>
                </a:solidFill>
                <a:latin typeface="Verdana"/>
                <a:cs typeface="Verdana"/>
              </a:rPr>
              <a:t>engineering</a:t>
            </a:r>
            <a:r>
              <a:rPr dirty="0" sz="1700" spc="-7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423A67"/>
                </a:solidFill>
                <a:latin typeface="Verdana"/>
                <a:cs typeface="Verdana"/>
              </a:rPr>
              <a:t>sensitivity</a:t>
            </a:r>
            <a:r>
              <a:rPr dirty="0" sz="1700" spc="-7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423A67"/>
                </a:solidFill>
                <a:latin typeface="Verdana"/>
                <a:cs typeface="Verdana"/>
              </a:rPr>
              <a:t>scenarios</a:t>
            </a:r>
            <a:r>
              <a:rPr dirty="0" sz="1700" spc="-7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423A67"/>
                </a:solidFill>
                <a:latin typeface="Verdana"/>
                <a:cs typeface="Verdana"/>
              </a:rPr>
              <a:t>vary </a:t>
            </a:r>
            <a:r>
              <a:rPr dirty="0" sz="1700" spc="-60">
                <a:solidFill>
                  <a:srgbClr val="423A67"/>
                </a:solidFill>
                <a:latin typeface="Verdana"/>
                <a:cs typeface="Verdana"/>
              </a:rPr>
              <a:t>assumptions</a:t>
            </a:r>
            <a:r>
              <a:rPr dirty="0" sz="1700" spc="-10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423A67"/>
                </a:solidFill>
                <a:latin typeface="Verdana"/>
                <a:cs typeface="Verdana"/>
              </a:rPr>
              <a:t>such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423A67"/>
                </a:solidFill>
                <a:latin typeface="Verdana"/>
                <a:cs typeface="Verdana"/>
              </a:rPr>
              <a:t>as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423A67"/>
                </a:solidFill>
                <a:latin typeface="Verdana"/>
                <a:cs typeface="Verdana"/>
              </a:rPr>
              <a:t>observation </a:t>
            </a:r>
            <a:r>
              <a:rPr dirty="0" sz="1700" spc="-70">
                <a:solidFill>
                  <a:srgbClr val="423A67"/>
                </a:solidFill>
                <a:latin typeface="Verdana"/>
                <a:cs typeface="Verdana"/>
              </a:rPr>
              <a:t>density,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423A67"/>
                </a:solidFill>
                <a:latin typeface="Verdana"/>
                <a:cs typeface="Verdana"/>
              </a:rPr>
              <a:t>then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423A67"/>
                </a:solidFill>
                <a:latin typeface="Verdana"/>
                <a:cs typeface="Verdana"/>
              </a:rPr>
              <a:t>compare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423A67"/>
                </a:solidFill>
                <a:latin typeface="Verdana"/>
                <a:cs typeface="Verdana"/>
              </a:rPr>
              <a:t>what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85">
                <a:solidFill>
                  <a:srgbClr val="423A67"/>
                </a:solidFill>
                <a:latin typeface="Verdana"/>
                <a:cs typeface="Verdana"/>
              </a:rPr>
              <a:t>the</a:t>
            </a:r>
            <a:r>
              <a:rPr dirty="0" sz="1700" spc="-10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423A67"/>
                </a:solidFill>
                <a:latin typeface="Verdana"/>
                <a:cs typeface="Verdana"/>
              </a:rPr>
              <a:t>system </a:t>
            </a:r>
            <a:r>
              <a:rPr dirty="0" sz="1700" spc="-20">
                <a:solidFill>
                  <a:srgbClr val="423A67"/>
                </a:solidFill>
                <a:latin typeface="Verdana"/>
                <a:cs typeface="Verdana"/>
              </a:rPr>
              <a:t>can</a:t>
            </a:r>
            <a:r>
              <a:rPr dirty="0" sz="1700" spc="-12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423A67"/>
                </a:solidFill>
                <a:latin typeface="Verdana"/>
                <a:cs typeface="Verdana"/>
              </a:rPr>
              <a:t>see.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942784" y="4108144"/>
            <a:ext cx="4676140" cy="1475740"/>
            <a:chOff x="6942784" y="4108144"/>
            <a:chExt cx="4676140" cy="1475740"/>
          </a:xfrm>
        </p:grpSpPr>
        <p:sp>
          <p:nvSpPr>
            <p:cNvPr id="23" name="object 23"/>
            <p:cNvSpPr/>
            <p:nvPr/>
          </p:nvSpPr>
          <p:spPr>
            <a:xfrm>
              <a:off x="6949084" y="4114444"/>
              <a:ext cx="4663440" cy="1463040"/>
            </a:xfrm>
            <a:custGeom>
              <a:avLst/>
              <a:gdLst/>
              <a:ahLst/>
              <a:cxnLst/>
              <a:rect l="l" t="t" r="r" b="b"/>
              <a:pathLst>
                <a:path w="4663440" h="1463039">
                  <a:moveTo>
                    <a:pt x="4572000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40"/>
                  </a:lnTo>
                  <a:lnTo>
                    <a:pt x="0" y="1371600"/>
                  </a:lnTo>
                  <a:lnTo>
                    <a:pt x="12230" y="1417320"/>
                  </a:lnTo>
                  <a:lnTo>
                    <a:pt x="45720" y="1450797"/>
                  </a:lnTo>
                  <a:lnTo>
                    <a:pt x="91439" y="1463040"/>
                  </a:lnTo>
                  <a:lnTo>
                    <a:pt x="4572000" y="1463040"/>
                  </a:lnTo>
                  <a:lnTo>
                    <a:pt x="4617720" y="1450797"/>
                  </a:lnTo>
                  <a:lnTo>
                    <a:pt x="4651197" y="1417320"/>
                  </a:lnTo>
                  <a:lnTo>
                    <a:pt x="4663439" y="1371600"/>
                  </a:lnTo>
                  <a:lnTo>
                    <a:pt x="4663439" y="91440"/>
                  </a:lnTo>
                  <a:lnTo>
                    <a:pt x="4651197" y="45720"/>
                  </a:lnTo>
                  <a:lnTo>
                    <a:pt x="4617720" y="1223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E9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949084" y="4114444"/>
              <a:ext cx="4663440" cy="1463040"/>
            </a:xfrm>
            <a:custGeom>
              <a:avLst/>
              <a:gdLst/>
              <a:ahLst/>
              <a:cxnLst/>
              <a:rect l="l" t="t" r="r" b="b"/>
              <a:pathLst>
                <a:path w="4663440" h="1463039">
                  <a:moveTo>
                    <a:pt x="0" y="91440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572000" y="0"/>
                  </a:lnTo>
                  <a:lnTo>
                    <a:pt x="4617720" y="12230"/>
                  </a:lnTo>
                  <a:lnTo>
                    <a:pt x="4651197" y="45720"/>
                  </a:lnTo>
                  <a:lnTo>
                    <a:pt x="4663439" y="91440"/>
                  </a:lnTo>
                  <a:lnTo>
                    <a:pt x="4663439" y="1371600"/>
                  </a:lnTo>
                  <a:lnTo>
                    <a:pt x="4662639" y="1383599"/>
                  </a:lnTo>
                  <a:lnTo>
                    <a:pt x="4660285" y="1395264"/>
                  </a:lnTo>
                  <a:lnTo>
                    <a:pt x="4636749" y="1436349"/>
                  </a:lnTo>
                  <a:lnTo>
                    <a:pt x="4595664" y="1459885"/>
                  </a:lnTo>
                  <a:lnTo>
                    <a:pt x="4572000" y="1463040"/>
                  </a:lnTo>
                  <a:lnTo>
                    <a:pt x="91439" y="1463040"/>
                  </a:lnTo>
                  <a:lnTo>
                    <a:pt x="45720" y="1450797"/>
                  </a:lnTo>
                  <a:lnTo>
                    <a:pt x="12230" y="1417320"/>
                  </a:lnTo>
                  <a:lnTo>
                    <a:pt x="0" y="137160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E9E5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164984" y="4513579"/>
            <a:ext cx="3853179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30">
                <a:solidFill>
                  <a:srgbClr val="423A67"/>
                </a:solidFill>
                <a:latin typeface="Verdana"/>
                <a:cs typeface="Verdana"/>
              </a:rPr>
              <a:t>This</a:t>
            </a:r>
            <a:r>
              <a:rPr dirty="0" sz="1500" spc="-5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423A67"/>
                </a:solidFill>
                <a:latin typeface="Verdana"/>
                <a:cs typeface="Verdana"/>
              </a:rPr>
              <a:t>illustrates</a:t>
            </a:r>
            <a:r>
              <a:rPr dirty="0" sz="1500" spc="-5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75">
                <a:solidFill>
                  <a:srgbClr val="423A67"/>
                </a:solidFill>
                <a:latin typeface="Verdana"/>
                <a:cs typeface="Verdana"/>
              </a:rPr>
              <a:t>an</a:t>
            </a:r>
            <a:r>
              <a:rPr dirty="0" sz="1500" spc="-50">
                <a:solidFill>
                  <a:srgbClr val="423A67"/>
                </a:solidFill>
                <a:latin typeface="Verdana"/>
                <a:cs typeface="Verdana"/>
              </a:rPr>
              <a:t> observation-</a:t>
            </a:r>
            <a:r>
              <a:rPr dirty="0" sz="1500" spc="-10">
                <a:solidFill>
                  <a:srgbClr val="423A67"/>
                </a:solidFill>
                <a:latin typeface="Verdana"/>
                <a:cs typeface="Verdana"/>
              </a:rPr>
              <a:t>coverage </a:t>
            </a:r>
            <a:r>
              <a:rPr dirty="0" sz="1500" spc="-70">
                <a:solidFill>
                  <a:srgbClr val="423A67"/>
                </a:solidFill>
                <a:latin typeface="Verdana"/>
                <a:cs typeface="Verdana"/>
              </a:rPr>
              <a:t>assumption.</a:t>
            </a:r>
            <a:r>
              <a:rPr dirty="0" sz="1500" spc="-6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35">
                <a:solidFill>
                  <a:srgbClr val="423A67"/>
                </a:solidFill>
                <a:latin typeface="Verdana"/>
                <a:cs typeface="Verdana"/>
              </a:rPr>
              <a:t>Changed</a:t>
            </a:r>
            <a:r>
              <a:rPr dirty="0" sz="1500" spc="-6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423A67"/>
                </a:solidFill>
                <a:latin typeface="Verdana"/>
                <a:cs typeface="Verdana"/>
              </a:rPr>
              <a:t>assumptions</a:t>
            </a:r>
            <a:r>
              <a:rPr dirty="0" sz="1500" spc="-6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423A67"/>
                </a:solidFill>
                <a:latin typeface="Verdana"/>
                <a:cs typeface="Verdana"/>
              </a:rPr>
              <a:t>do</a:t>
            </a:r>
            <a:r>
              <a:rPr dirty="0" sz="1500" spc="-6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423A67"/>
                </a:solidFill>
                <a:latin typeface="Verdana"/>
                <a:cs typeface="Verdana"/>
              </a:rPr>
              <a:t>not </a:t>
            </a:r>
            <a:r>
              <a:rPr dirty="0" sz="1500" spc="-65">
                <a:solidFill>
                  <a:srgbClr val="423A67"/>
                </a:solidFill>
                <a:latin typeface="Verdana"/>
                <a:cs typeface="Verdana"/>
              </a:rPr>
              <a:t>demonstrate</a:t>
            </a:r>
            <a:r>
              <a:rPr dirty="0" sz="1500" spc="-70">
                <a:solidFill>
                  <a:srgbClr val="423A67"/>
                </a:solidFill>
                <a:latin typeface="Verdana"/>
                <a:cs typeface="Verdana"/>
              </a:rPr>
              <a:t> a</a:t>
            </a:r>
            <a:r>
              <a:rPr dirty="0" sz="1500" spc="-6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423A67"/>
                </a:solidFill>
                <a:latin typeface="Verdana"/>
                <a:cs typeface="Verdana"/>
              </a:rPr>
              <a:t>clinical</a:t>
            </a:r>
            <a:r>
              <a:rPr dirty="0" sz="1500" spc="-6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423A67"/>
                </a:solidFill>
                <a:latin typeface="Verdana"/>
                <a:cs typeface="Verdana"/>
              </a:rPr>
              <a:t>intervention </a:t>
            </a:r>
            <a:r>
              <a:rPr dirty="0" sz="1500" spc="-30">
                <a:solidFill>
                  <a:srgbClr val="423A67"/>
                </a:solidFill>
                <a:latin typeface="Verdana"/>
                <a:cs typeface="Verdana"/>
              </a:rPr>
              <a:t>benefit.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5584" y="5976264"/>
            <a:ext cx="274129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All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profiles</a:t>
            </a:r>
            <a:r>
              <a:rPr dirty="0" sz="13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and</a:t>
            </a:r>
            <a:r>
              <a:rPr dirty="0" sz="13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values</a:t>
            </a:r>
            <a:r>
              <a:rPr dirty="0" sz="13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are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6A648F"/>
                </a:solidFill>
                <a:latin typeface="Verdana"/>
                <a:cs typeface="Verdana"/>
              </a:rPr>
              <a:t>fictional.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933824" y="6475954"/>
            <a:ext cx="738505" cy="17970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Pulmira</a:t>
            </a:r>
            <a:r>
              <a:rPr dirty="0" sz="10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85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0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6A648F"/>
                </a:solidFill>
                <a:latin typeface="Verdana"/>
                <a:cs typeface="Verdana"/>
              </a:rPr>
              <a:t>09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34417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7B5BFF"/>
                </a:solidFill>
                <a:latin typeface="Verdana"/>
                <a:cs typeface="Verdana"/>
              </a:rPr>
              <a:t>S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P</a:t>
            </a:r>
            <a:r>
              <a:rPr dirty="0" sz="1200" spc="-21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22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39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N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5" b="1">
                <a:solidFill>
                  <a:srgbClr val="7B5BFF"/>
                </a:solidFill>
                <a:latin typeface="Verdana"/>
                <a:cs typeface="Verdana"/>
              </a:rPr>
              <a:t>X</a:t>
            </a:r>
            <a:r>
              <a:rPr dirty="0" sz="1200" spc="-16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7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-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40" b="1">
                <a:solidFill>
                  <a:srgbClr val="7B5BFF"/>
                </a:solidFill>
                <a:latin typeface="Verdana"/>
                <a:cs typeface="Verdana"/>
              </a:rPr>
              <a:t>D</a:t>
            </a:r>
            <a:r>
              <a:rPr dirty="0" sz="1200" spc="-16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20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Y</a:t>
            </a:r>
            <a:r>
              <a:rPr dirty="0" sz="1200" spc="459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0" b="1">
                <a:solidFill>
                  <a:srgbClr val="7B5BFF"/>
                </a:solidFill>
                <a:latin typeface="Verdana"/>
                <a:cs typeface="Verdana"/>
              </a:rPr>
              <a:t>M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L</a:t>
            </a:r>
            <a:r>
              <a:rPr dirty="0" sz="1200" spc="45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0" b="1">
                <a:solidFill>
                  <a:srgbClr val="7B5BFF"/>
                </a:solidFill>
                <a:latin typeface="Verdana"/>
                <a:cs typeface="Verdana"/>
              </a:rPr>
              <a:t>M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 </a:t>
            </a:r>
            <a:r>
              <a:rPr dirty="0" sz="1200" spc="-140" b="1">
                <a:solidFill>
                  <a:srgbClr val="7B5BFF"/>
                </a:solidFill>
                <a:latin typeface="Verdana"/>
                <a:cs typeface="Verdana"/>
              </a:rPr>
              <a:t>D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L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15"/>
              <a:t>The</a:t>
            </a:r>
            <a:r>
              <a:rPr dirty="0" spc="-345"/>
              <a:t> </a:t>
            </a:r>
            <a:r>
              <a:rPr dirty="0" spc="-275"/>
              <a:t>separate</a:t>
            </a:r>
            <a:r>
              <a:rPr dirty="0" spc="-350"/>
              <a:t> </a:t>
            </a:r>
            <a:r>
              <a:rPr dirty="0" spc="-285"/>
              <a:t>next-</a:t>
            </a:r>
            <a:r>
              <a:rPr dirty="0" spc="-250"/>
              <a:t>day</a:t>
            </a:r>
            <a:r>
              <a:rPr dirty="0" spc="-345"/>
              <a:t> </a:t>
            </a:r>
            <a:r>
              <a:rPr dirty="0" spc="-175"/>
              <a:t>ML</a:t>
            </a:r>
            <a:r>
              <a:rPr dirty="0" spc="-340"/>
              <a:t> </a:t>
            </a:r>
            <a:r>
              <a:rPr dirty="0" spc="-320"/>
              <a:t>model</a:t>
            </a:r>
          </a:p>
        </p:txBody>
      </p:sp>
      <p:grpSp>
        <p:nvGrpSpPr>
          <p:cNvPr id="4" name="object 4" descr="preencoded.png"/>
          <p:cNvGrpSpPr/>
          <p:nvPr/>
        </p:nvGrpSpPr>
        <p:grpSpPr>
          <a:xfrm>
            <a:off x="507244" y="1466996"/>
            <a:ext cx="6849109" cy="4349115"/>
            <a:chOff x="507244" y="1466996"/>
            <a:chExt cx="6849109" cy="4349115"/>
          </a:xfrm>
        </p:grpSpPr>
        <p:sp>
          <p:nvSpPr>
            <p:cNvPr id="5" name="object 5"/>
            <p:cNvSpPr/>
            <p:nvPr/>
          </p:nvSpPr>
          <p:spPr>
            <a:xfrm>
              <a:off x="511924" y="1471676"/>
              <a:ext cx="6840220" cy="4339590"/>
            </a:xfrm>
            <a:custGeom>
              <a:avLst/>
              <a:gdLst/>
              <a:ahLst/>
              <a:cxnLst/>
              <a:rect l="l" t="t" r="r" b="b"/>
              <a:pathLst>
                <a:path w="6840220" h="4339590">
                  <a:moveTo>
                    <a:pt x="6766191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4266361"/>
                  </a:lnTo>
                  <a:lnTo>
                    <a:pt x="597" y="4275638"/>
                  </a:lnTo>
                  <a:lnTo>
                    <a:pt x="607" y="4275788"/>
                  </a:lnTo>
                  <a:lnTo>
                    <a:pt x="21280" y="4317979"/>
                  </a:lnTo>
                  <a:lnTo>
                    <a:pt x="63442" y="4338841"/>
                  </a:lnTo>
                  <a:lnTo>
                    <a:pt x="73075" y="4339450"/>
                  </a:lnTo>
                  <a:lnTo>
                    <a:pt x="6766560" y="4339082"/>
                  </a:lnTo>
                  <a:lnTo>
                    <a:pt x="6810930" y="4324040"/>
                  </a:lnTo>
                  <a:lnTo>
                    <a:pt x="6837192" y="4285080"/>
                  </a:lnTo>
                  <a:lnTo>
                    <a:pt x="6839613" y="4266361"/>
                  </a:lnTo>
                  <a:lnTo>
                    <a:pt x="6839635" y="4266006"/>
                  </a:lnTo>
                  <a:lnTo>
                    <a:pt x="6839280" y="73088"/>
                  </a:lnTo>
                  <a:lnTo>
                    <a:pt x="6824226" y="28710"/>
                  </a:lnTo>
                  <a:lnTo>
                    <a:pt x="6785232" y="2430"/>
                  </a:lnTo>
                  <a:lnTo>
                    <a:pt x="6775831" y="607"/>
                  </a:lnTo>
                  <a:lnTo>
                    <a:pt x="67661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11924" y="1471676"/>
              <a:ext cx="6840220" cy="4339590"/>
            </a:xfrm>
            <a:custGeom>
              <a:avLst/>
              <a:gdLst/>
              <a:ahLst/>
              <a:cxnLst/>
              <a:rect l="l" t="t" r="r" b="b"/>
              <a:pathLst>
                <a:path w="6840220" h="433959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053"/>
                  </a:lnTo>
                  <a:lnTo>
                    <a:pt x="73075" y="0"/>
                  </a:lnTo>
                  <a:lnTo>
                    <a:pt x="6766191" y="0"/>
                  </a:lnTo>
                  <a:lnTo>
                    <a:pt x="6810874" y="15109"/>
                  </a:lnTo>
                  <a:lnTo>
                    <a:pt x="6836849" y="54365"/>
                  </a:lnTo>
                  <a:lnTo>
                    <a:pt x="6839280" y="73088"/>
                  </a:lnTo>
                  <a:lnTo>
                    <a:pt x="6839635" y="4266006"/>
                  </a:lnTo>
                  <a:lnTo>
                    <a:pt x="6839028" y="4275638"/>
                  </a:lnTo>
                  <a:lnTo>
                    <a:pt x="6837206" y="4285035"/>
                  </a:lnTo>
                  <a:lnTo>
                    <a:pt x="6810930" y="4324040"/>
                  </a:lnTo>
                  <a:lnTo>
                    <a:pt x="6766560" y="4339082"/>
                  </a:lnTo>
                  <a:lnTo>
                    <a:pt x="73075" y="4339450"/>
                  </a:lnTo>
                  <a:lnTo>
                    <a:pt x="28398" y="4324340"/>
                  </a:lnTo>
                  <a:lnTo>
                    <a:pt x="2428" y="4285080"/>
                  </a:lnTo>
                  <a:lnTo>
                    <a:pt x="0" y="4266361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508391"/>
              <a:ext cx="6766204" cy="4266006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7630204" y="1504080"/>
            <a:ext cx="4032885" cy="2899410"/>
            <a:chOff x="7630204" y="1504080"/>
            <a:chExt cx="4032885" cy="2899410"/>
          </a:xfrm>
        </p:grpSpPr>
        <p:sp>
          <p:nvSpPr>
            <p:cNvPr id="9" name="object 9"/>
            <p:cNvSpPr/>
            <p:nvPr/>
          </p:nvSpPr>
          <p:spPr>
            <a:xfrm>
              <a:off x="7634884" y="1508759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393155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658444"/>
                  </a:lnTo>
                  <a:lnTo>
                    <a:pt x="12230" y="704164"/>
                  </a:lnTo>
                  <a:lnTo>
                    <a:pt x="45720" y="737641"/>
                  </a:lnTo>
                  <a:lnTo>
                    <a:pt x="91439" y="749884"/>
                  </a:lnTo>
                  <a:lnTo>
                    <a:pt x="3931920" y="749515"/>
                  </a:lnTo>
                  <a:lnTo>
                    <a:pt x="3977639" y="737285"/>
                  </a:lnTo>
                  <a:lnTo>
                    <a:pt x="4011117" y="703795"/>
                  </a:lnTo>
                  <a:lnTo>
                    <a:pt x="4023335" y="658444"/>
                  </a:lnTo>
                  <a:lnTo>
                    <a:pt x="4023359" y="658075"/>
                  </a:lnTo>
                  <a:lnTo>
                    <a:pt x="4022991" y="91439"/>
                  </a:lnTo>
                  <a:lnTo>
                    <a:pt x="4010761" y="45719"/>
                  </a:lnTo>
                  <a:lnTo>
                    <a:pt x="3977271" y="12242"/>
                  </a:lnTo>
                  <a:lnTo>
                    <a:pt x="3943558" y="798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634884" y="1508759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0" y="91439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3931551" y="0"/>
                  </a:lnTo>
                  <a:lnTo>
                    <a:pt x="3977271" y="12242"/>
                  </a:lnTo>
                  <a:lnTo>
                    <a:pt x="4010761" y="45719"/>
                  </a:lnTo>
                  <a:lnTo>
                    <a:pt x="4022991" y="91439"/>
                  </a:lnTo>
                  <a:lnTo>
                    <a:pt x="4023359" y="658075"/>
                  </a:lnTo>
                  <a:lnTo>
                    <a:pt x="4022559" y="670082"/>
                  </a:lnTo>
                  <a:lnTo>
                    <a:pt x="4020205" y="681750"/>
                  </a:lnTo>
                  <a:lnTo>
                    <a:pt x="3996669" y="722836"/>
                  </a:lnTo>
                  <a:lnTo>
                    <a:pt x="3955584" y="746367"/>
                  </a:lnTo>
                  <a:lnTo>
                    <a:pt x="91439" y="749884"/>
                  </a:lnTo>
                  <a:lnTo>
                    <a:pt x="45720" y="737641"/>
                  </a:lnTo>
                  <a:lnTo>
                    <a:pt x="12230" y="704164"/>
                  </a:lnTo>
                  <a:lnTo>
                    <a:pt x="0" y="658444"/>
                  </a:lnTo>
                  <a:lnTo>
                    <a:pt x="0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634884" y="2578684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393155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658431"/>
                  </a:lnTo>
                  <a:lnTo>
                    <a:pt x="774" y="670080"/>
                  </a:lnTo>
                  <a:lnTo>
                    <a:pt x="798" y="670438"/>
                  </a:lnTo>
                  <a:lnTo>
                    <a:pt x="3075" y="681745"/>
                  </a:lnTo>
                  <a:lnTo>
                    <a:pt x="3148" y="682105"/>
                  </a:lnTo>
                  <a:lnTo>
                    <a:pt x="6858" y="693005"/>
                  </a:lnTo>
                  <a:lnTo>
                    <a:pt x="6981" y="693366"/>
                  </a:lnTo>
                  <a:lnTo>
                    <a:pt x="35675" y="731040"/>
                  </a:lnTo>
                  <a:lnTo>
                    <a:pt x="79433" y="749073"/>
                  </a:lnTo>
                  <a:lnTo>
                    <a:pt x="91439" y="749871"/>
                  </a:lnTo>
                  <a:lnTo>
                    <a:pt x="3931920" y="749515"/>
                  </a:lnTo>
                  <a:lnTo>
                    <a:pt x="3977639" y="737273"/>
                  </a:lnTo>
                  <a:lnTo>
                    <a:pt x="4011117" y="703795"/>
                  </a:lnTo>
                  <a:lnTo>
                    <a:pt x="4020082" y="682105"/>
                  </a:lnTo>
                  <a:lnTo>
                    <a:pt x="4020205" y="681745"/>
                  </a:lnTo>
                  <a:lnTo>
                    <a:pt x="4022487" y="670438"/>
                  </a:lnTo>
                  <a:lnTo>
                    <a:pt x="4022559" y="670080"/>
                  </a:lnTo>
                  <a:lnTo>
                    <a:pt x="4023336" y="658431"/>
                  </a:lnTo>
                  <a:lnTo>
                    <a:pt x="4022991" y="91439"/>
                  </a:lnTo>
                  <a:lnTo>
                    <a:pt x="4010761" y="45720"/>
                  </a:lnTo>
                  <a:lnTo>
                    <a:pt x="3977271" y="12230"/>
                  </a:lnTo>
                  <a:lnTo>
                    <a:pt x="3943558" y="798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423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634884" y="2578684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3931551" y="0"/>
                  </a:lnTo>
                  <a:lnTo>
                    <a:pt x="3977271" y="12230"/>
                  </a:lnTo>
                  <a:lnTo>
                    <a:pt x="4010761" y="45720"/>
                  </a:lnTo>
                  <a:lnTo>
                    <a:pt x="4022991" y="91439"/>
                  </a:lnTo>
                  <a:lnTo>
                    <a:pt x="4023359" y="658075"/>
                  </a:lnTo>
                  <a:lnTo>
                    <a:pt x="4022559" y="670080"/>
                  </a:lnTo>
                  <a:lnTo>
                    <a:pt x="4020205" y="681745"/>
                  </a:lnTo>
                  <a:lnTo>
                    <a:pt x="3996669" y="722834"/>
                  </a:lnTo>
                  <a:lnTo>
                    <a:pt x="3955584" y="746366"/>
                  </a:lnTo>
                  <a:lnTo>
                    <a:pt x="91439" y="749871"/>
                  </a:lnTo>
                  <a:lnTo>
                    <a:pt x="45720" y="737641"/>
                  </a:lnTo>
                  <a:lnTo>
                    <a:pt x="12230" y="704151"/>
                  </a:lnTo>
                  <a:lnTo>
                    <a:pt x="0" y="658431"/>
                  </a:lnTo>
                  <a:lnTo>
                    <a:pt x="0" y="91439"/>
                  </a:lnTo>
                  <a:close/>
                </a:path>
              </a:pathLst>
            </a:custGeom>
            <a:ln w="9359">
              <a:solidFill>
                <a:srgbClr val="423A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34884" y="3648595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393155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40"/>
                  </a:lnTo>
                  <a:lnTo>
                    <a:pt x="0" y="658444"/>
                  </a:lnTo>
                  <a:lnTo>
                    <a:pt x="774" y="670088"/>
                  </a:lnTo>
                  <a:lnTo>
                    <a:pt x="798" y="670449"/>
                  </a:lnTo>
                  <a:lnTo>
                    <a:pt x="3075" y="681753"/>
                  </a:lnTo>
                  <a:lnTo>
                    <a:pt x="3148" y="682113"/>
                  </a:lnTo>
                  <a:lnTo>
                    <a:pt x="6859" y="693016"/>
                  </a:lnTo>
                  <a:lnTo>
                    <a:pt x="6981" y="693373"/>
                  </a:lnTo>
                  <a:lnTo>
                    <a:pt x="35675" y="731047"/>
                  </a:lnTo>
                  <a:lnTo>
                    <a:pt x="79433" y="749085"/>
                  </a:lnTo>
                  <a:lnTo>
                    <a:pt x="91439" y="749884"/>
                  </a:lnTo>
                  <a:lnTo>
                    <a:pt x="3931920" y="749528"/>
                  </a:lnTo>
                  <a:lnTo>
                    <a:pt x="3977639" y="737285"/>
                  </a:lnTo>
                  <a:lnTo>
                    <a:pt x="4011117" y="703808"/>
                  </a:lnTo>
                  <a:lnTo>
                    <a:pt x="4020082" y="682113"/>
                  </a:lnTo>
                  <a:lnTo>
                    <a:pt x="4020205" y="681753"/>
                  </a:lnTo>
                  <a:lnTo>
                    <a:pt x="4022486" y="670449"/>
                  </a:lnTo>
                  <a:lnTo>
                    <a:pt x="4022559" y="670088"/>
                  </a:lnTo>
                  <a:lnTo>
                    <a:pt x="4023336" y="658444"/>
                  </a:lnTo>
                  <a:lnTo>
                    <a:pt x="4023359" y="658088"/>
                  </a:lnTo>
                  <a:lnTo>
                    <a:pt x="4022991" y="91440"/>
                  </a:lnTo>
                  <a:lnTo>
                    <a:pt x="4010761" y="45719"/>
                  </a:lnTo>
                  <a:lnTo>
                    <a:pt x="3977271" y="12242"/>
                  </a:lnTo>
                  <a:lnTo>
                    <a:pt x="3943558" y="798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E9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634884" y="3648595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0" y="91440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3931551" y="0"/>
                  </a:lnTo>
                  <a:lnTo>
                    <a:pt x="3977271" y="12242"/>
                  </a:lnTo>
                  <a:lnTo>
                    <a:pt x="4010761" y="45719"/>
                  </a:lnTo>
                  <a:lnTo>
                    <a:pt x="4022991" y="91440"/>
                  </a:lnTo>
                  <a:lnTo>
                    <a:pt x="4023359" y="658088"/>
                  </a:lnTo>
                  <a:lnTo>
                    <a:pt x="4022559" y="670088"/>
                  </a:lnTo>
                  <a:lnTo>
                    <a:pt x="4020205" y="681753"/>
                  </a:lnTo>
                  <a:lnTo>
                    <a:pt x="3996669" y="722837"/>
                  </a:lnTo>
                  <a:lnTo>
                    <a:pt x="3955584" y="746378"/>
                  </a:lnTo>
                  <a:lnTo>
                    <a:pt x="91439" y="749884"/>
                  </a:lnTo>
                  <a:lnTo>
                    <a:pt x="45720" y="737641"/>
                  </a:lnTo>
                  <a:lnTo>
                    <a:pt x="12230" y="704164"/>
                  </a:lnTo>
                  <a:lnTo>
                    <a:pt x="0" y="658444"/>
                  </a:lnTo>
                  <a:lnTo>
                    <a:pt x="0" y="91440"/>
                  </a:lnTo>
                  <a:close/>
                </a:path>
              </a:pathLst>
            </a:custGeom>
            <a:ln w="9359">
              <a:solidFill>
                <a:srgbClr val="E9E5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646920" y="2276640"/>
              <a:ext cx="635" cy="213360"/>
            </a:xfrm>
            <a:custGeom>
              <a:avLst/>
              <a:gdLst/>
              <a:ahLst/>
              <a:cxnLst/>
              <a:rect l="l" t="t" r="r" b="b"/>
              <a:pathLst>
                <a:path w="634" h="213360">
                  <a:moveTo>
                    <a:pt x="0" y="0"/>
                  </a:moveTo>
                  <a:lnTo>
                    <a:pt x="355" y="213118"/>
                  </a:lnTo>
                </a:path>
              </a:pathLst>
            </a:custGeom>
            <a:ln w="1907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609480" y="24847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795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646920" y="3346564"/>
              <a:ext cx="635" cy="213360"/>
            </a:xfrm>
            <a:custGeom>
              <a:avLst/>
              <a:gdLst/>
              <a:ahLst/>
              <a:cxnLst/>
              <a:rect l="l" t="t" r="r" b="b"/>
              <a:pathLst>
                <a:path w="634" h="213360">
                  <a:moveTo>
                    <a:pt x="0" y="0"/>
                  </a:moveTo>
                  <a:lnTo>
                    <a:pt x="355" y="212750"/>
                  </a:lnTo>
                </a:path>
              </a:pathLst>
            </a:custGeom>
            <a:ln w="1907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609480" y="35542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795" y="75590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622184" y="1454721"/>
            <a:ext cx="3928110" cy="419735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94945">
              <a:lnSpc>
                <a:spcPct val="100000"/>
              </a:lnSpc>
              <a:spcBef>
                <a:spcPts val="1000"/>
              </a:spcBef>
            </a:pPr>
            <a:r>
              <a:rPr dirty="0" sz="1500" spc="-210" b="1">
                <a:solidFill>
                  <a:srgbClr val="423A67"/>
                </a:solidFill>
                <a:latin typeface="Verdana"/>
                <a:cs typeface="Verdana"/>
              </a:rPr>
              <a:t>102</a:t>
            </a:r>
            <a:r>
              <a:rPr dirty="0" sz="1500" spc="-14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10" b="1">
                <a:solidFill>
                  <a:srgbClr val="423A67"/>
                </a:solidFill>
                <a:latin typeface="Verdana"/>
                <a:cs typeface="Verdana"/>
              </a:rPr>
              <a:t>features</a:t>
            </a:r>
            <a:endParaRPr sz="15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  <a:spcBef>
                <a:spcPts val="720"/>
              </a:spcBef>
            </a:pPr>
            <a:r>
              <a:rPr dirty="0" sz="1200" spc="-195">
                <a:solidFill>
                  <a:srgbClr val="6A648F"/>
                </a:solidFill>
                <a:latin typeface="Verdana"/>
                <a:cs typeface="Verdana"/>
              </a:rPr>
              <a:t>17</a:t>
            </a: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static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EHR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85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A648F"/>
                </a:solidFill>
                <a:latin typeface="Verdana"/>
                <a:cs typeface="Verdana"/>
              </a:rPr>
              <a:t>current/past</a:t>
            </a: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dynamic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dirty="0" sz="1500" spc="-135" b="1">
                <a:solidFill>
                  <a:srgbClr val="FFFFFF"/>
                </a:solidFill>
                <a:latin typeface="Verdana"/>
                <a:cs typeface="Verdana"/>
              </a:rPr>
              <a:t>Gradient</a:t>
            </a:r>
            <a:r>
              <a:rPr dirty="0" sz="1500" spc="-114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Verdana"/>
                <a:cs typeface="Verdana"/>
              </a:rPr>
              <a:t>boosting</a:t>
            </a:r>
            <a:endParaRPr sz="15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  <a:spcBef>
                <a:spcPts val="720"/>
              </a:spcBef>
            </a:pPr>
            <a:r>
              <a:rPr dirty="0" sz="1200" spc="-110">
                <a:solidFill>
                  <a:srgbClr val="E9E5FF"/>
                </a:solidFill>
                <a:latin typeface="Verdana"/>
                <a:cs typeface="Verdana"/>
              </a:rPr>
              <a:t>160</a:t>
            </a:r>
            <a:r>
              <a:rPr dirty="0" sz="1200" spc="-7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E9E5FF"/>
                </a:solidFill>
                <a:latin typeface="Verdana"/>
                <a:cs typeface="Verdana"/>
              </a:rPr>
              <a:t>iterations</a:t>
            </a:r>
            <a:r>
              <a:rPr dirty="0" sz="1200" spc="-6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E9E5FF"/>
                </a:solidFill>
                <a:latin typeface="Verdana"/>
                <a:cs typeface="Verdana"/>
              </a:rPr>
              <a:t>·</a:t>
            </a:r>
            <a:r>
              <a:rPr dirty="0" sz="1200" spc="-6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E9E5FF"/>
                </a:solidFill>
                <a:latin typeface="Verdana"/>
                <a:cs typeface="Verdana"/>
              </a:rPr>
              <a:t>depth</a:t>
            </a:r>
            <a:r>
              <a:rPr dirty="0" sz="1200" spc="-6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E9E5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dirty="0" sz="1500" spc="-10" b="1">
                <a:solidFill>
                  <a:srgbClr val="423A67"/>
                </a:solidFill>
                <a:latin typeface="Verdana"/>
                <a:cs typeface="Verdana"/>
              </a:rPr>
              <a:t>Target</a:t>
            </a:r>
            <a:endParaRPr sz="15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  <a:spcBef>
                <a:spcPts val="715"/>
              </a:spcBef>
            </a:pP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Next-day 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simulated</a:t>
            </a:r>
            <a:r>
              <a:rPr dirty="0" sz="12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648F"/>
                </a:solidFill>
                <a:latin typeface="Verdana"/>
                <a:cs typeface="Verdana"/>
              </a:rPr>
              <a:t>SpO₂</a:t>
            </a:r>
            <a:r>
              <a:rPr dirty="0" sz="12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30">
                <a:solidFill>
                  <a:srgbClr val="6A648F"/>
                </a:solidFill>
                <a:latin typeface="Verdana"/>
                <a:cs typeface="Verdana"/>
              </a:rPr>
              <a:t>below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6A648F"/>
                </a:solidFill>
                <a:latin typeface="Verdana"/>
                <a:cs typeface="Verdana"/>
              </a:rPr>
              <a:t>90%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1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 spc="-140">
                <a:solidFill>
                  <a:srgbClr val="423A67"/>
                </a:solidFill>
                <a:latin typeface="Verdana"/>
                <a:cs typeface="Verdana"/>
              </a:rPr>
              <a:t>98.18%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423A67"/>
                </a:solidFill>
                <a:latin typeface="Verdana"/>
                <a:cs typeface="Verdana"/>
              </a:rPr>
              <a:t>is</a:t>
            </a:r>
            <a:r>
              <a:rPr dirty="0" sz="1400" spc="-7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423A67"/>
                </a:solidFill>
                <a:latin typeface="Verdana"/>
                <a:cs typeface="Verdana"/>
              </a:rPr>
              <a:t>one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423A67"/>
                </a:solidFill>
                <a:latin typeface="Verdana"/>
                <a:cs typeface="Verdana"/>
              </a:rPr>
              <a:t>conditional</a:t>
            </a:r>
            <a:r>
              <a:rPr dirty="0" sz="1400" spc="-7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423A67"/>
                </a:solidFill>
                <a:latin typeface="Verdana"/>
                <a:cs typeface="Verdana"/>
              </a:rPr>
              <a:t>estimate</a:t>
            </a:r>
            <a:r>
              <a:rPr dirty="0" sz="1400" spc="-7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423A67"/>
                </a:solidFill>
                <a:latin typeface="Verdana"/>
                <a:cs typeface="Verdana"/>
              </a:rPr>
              <a:t>for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423A67"/>
                </a:solidFill>
                <a:latin typeface="Verdana"/>
                <a:cs typeface="Verdana"/>
              </a:rPr>
              <a:t>one </a:t>
            </a:r>
            <a:r>
              <a:rPr dirty="0" sz="1400" spc="-40">
                <a:solidFill>
                  <a:srgbClr val="423A67"/>
                </a:solidFill>
                <a:latin typeface="Verdana"/>
                <a:cs typeface="Verdana"/>
              </a:rPr>
              <a:t>fictional</a:t>
            </a:r>
            <a:r>
              <a:rPr dirty="0" sz="1400" spc="-7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423A67"/>
                </a:solidFill>
                <a:latin typeface="Verdana"/>
                <a:cs typeface="Verdana"/>
              </a:rPr>
              <a:t>profile,</a:t>
            </a:r>
            <a:r>
              <a:rPr dirty="0" sz="1400" spc="-7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423A67"/>
                </a:solidFill>
                <a:latin typeface="Verdana"/>
                <a:cs typeface="Verdana"/>
              </a:rPr>
              <a:t>not</a:t>
            </a:r>
            <a:r>
              <a:rPr dirty="0" sz="1400" spc="-7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423A67"/>
                </a:solidFill>
                <a:latin typeface="Verdana"/>
                <a:cs typeface="Verdana"/>
              </a:rPr>
              <a:t>accuracy</a:t>
            </a:r>
            <a:r>
              <a:rPr dirty="0" sz="1400" spc="-7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423A67"/>
                </a:solidFill>
                <a:latin typeface="Verdana"/>
                <a:cs typeface="Verdana"/>
              </a:rPr>
              <a:t>or</a:t>
            </a:r>
            <a:r>
              <a:rPr dirty="0" sz="1400" spc="-7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23A67"/>
                </a:solidFill>
                <a:latin typeface="Verdana"/>
                <a:cs typeface="Verdana"/>
              </a:rPr>
              <a:t>confidence. </a:t>
            </a:r>
            <a:r>
              <a:rPr dirty="0" sz="1400" spc="-30">
                <a:solidFill>
                  <a:srgbClr val="423A67"/>
                </a:solidFill>
                <a:latin typeface="Verdana"/>
                <a:cs typeface="Verdana"/>
              </a:rPr>
              <a:t>The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423A67"/>
                </a:solidFill>
                <a:latin typeface="Verdana"/>
                <a:cs typeface="Verdana"/>
              </a:rPr>
              <a:t>current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423A67"/>
                </a:solidFill>
                <a:latin typeface="Verdana"/>
                <a:cs typeface="Verdana"/>
              </a:rPr>
              <a:t>reading</a:t>
            </a:r>
            <a:r>
              <a:rPr dirty="0" sz="1400" spc="-7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423A67"/>
                </a:solidFill>
                <a:latin typeface="Verdana"/>
                <a:cs typeface="Verdana"/>
              </a:rPr>
              <a:t>is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423A67"/>
                </a:solidFill>
                <a:latin typeface="Verdana"/>
                <a:cs typeface="Verdana"/>
              </a:rPr>
              <a:t>already</a:t>
            </a:r>
            <a:r>
              <a:rPr dirty="0" sz="1400" spc="-7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423A67"/>
                </a:solidFill>
                <a:latin typeface="Verdana"/>
                <a:cs typeface="Verdana"/>
              </a:rPr>
              <a:t>low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423A67"/>
                </a:solidFill>
                <a:latin typeface="Verdana"/>
                <a:cs typeface="Verdana"/>
              </a:rPr>
              <a:t>(82.8%),</a:t>
            </a:r>
            <a:r>
              <a:rPr dirty="0" sz="1400" spc="-7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423A67"/>
                </a:solidFill>
                <a:latin typeface="Verdana"/>
                <a:cs typeface="Verdana"/>
              </a:rPr>
              <a:t>so </a:t>
            </a:r>
            <a:r>
              <a:rPr dirty="0" sz="1400" spc="-55">
                <a:solidFill>
                  <a:srgbClr val="423A67"/>
                </a:solidFill>
                <a:latin typeface="Verdana"/>
                <a:cs typeface="Verdana"/>
              </a:rPr>
              <a:t>this</a:t>
            </a:r>
            <a:r>
              <a:rPr dirty="0" sz="1400" spc="-8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423A67"/>
                </a:solidFill>
                <a:latin typeface="Verdana"/>
                <a:cs typeface="Verdana"/>
              </a:rPr>
              <a:t>is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423A67"/>
                </a:solidFill>
                <a:latin typeface="Verdana"/>
                <a:cs typeface="Verdana"/>
              </a:rPr>
              <a:t>not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423A67"/>
                </a:solidFill>
                <a:latin typeface="Verdana"/>
                <a:cs typeface="Verdana"/>
              </a:rPr>
              <a:t>early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423A67"/>
                </a:solidFill>
                <a:latin typeface="Verdana"/>
                <a:cs typeface="Verdana"/>
              </a:rPr>
              <a:t>detection.</a:t>
            </a:r>
            <a:r>
              <a:rPr dirty="0" sz="1400" spc="-8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423A67"/>
                </a:solidFill>
                <a:latin typeface="Verdana"/>
                <a:cs typeface="Verdana"/>
              </a:rPr>
              <a:t>Separate</a:t>
            </a:r>
            <a:r>
              <a:rPr dirty="0" sz="1400" spc="-8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423A67"/>
                </a:solidFill>
                <a:latin typeface="Verdana"/>
                <a:cs typeface="Verdana"/>
              </a:rPr>
              <a:t>from</a:t>
            </a:r>
            <a:r>
              <a:rPr dirty="0" sz="1400" spc="-7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423A67"/>
                </a:solidFill>
                <a:latin typeface="Verdana"/>
                <a:cs typeface="Verdana"/>
              </a:rPr>
              <a:t>the </a:t>
            </a:r>
            <a:r>
              <a:rPr dirty="0" sz="1400" spc="-40">
                <a:solidFill>
                  <a:srgbClr val="423A67"/>
                </a:solidFill>
                <a:latin typeface="Verdana"/>
                <a:cs typeface="Verdana"/>
              </a:rPr>
              <a:t>seven-</a:t>
            </a:r>
            <a:r>
              <a:rPr dirty="0" sz="1400" spc="-60">
                <a:solidFill>
                  <a:srgbClr val="423A67"/>
                </a:solidFill>
                <a:latin typeface="Verdana"/>
                <a:cs typeface="Verdana"/>
              </a:rPr>
              <a:t>day</a:t>
            </a:r>
            <a:r>
              <a:rPr dirty="0" sz="1400" spc="-3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23A67"/>
                </a:solidFill>
                <a:latin typeface="Verdana"/>
                <a:cs typeface="Verdana"/>
              </a:rPr>
              <a:t>formula.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584" y="5899226"/>
            <a:ext cx="46818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Fictional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held-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out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profile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clinical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validation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not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6A648F"/>
                </a:solidFill>
                <a:latin typeface="Verdana"/>
                <a:cs typeface="Verdana"/>
              </a:rPr>
              <a:t>established.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50"/>
              <a:t>Pulmira</a:t>
            </a:r>
            <a:r>
              <a:rPr dirty="0" spc="-55"/>
              <a:t> </a:t>
            </a:r>
            <a:r>
              <a:rPr dirty="0" spc="-85"/>
              <a:t>·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44462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7B5BFF"/>
                </a:solidFill>
                <a:latin typeface="Verdana"/>
                <a:cs typeface="Verdana"/>
              </a:rPr>
              <a:t>S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Y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N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H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C</a:t>
            </a:r>
            <a:r>
              <a:rPr dirty="0" sz="1200" spc="459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N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5" b="1">
                <a:solidFill>
                  <a:srgbClr val="7B5BFF"/>
                </a:solidFill>
                <a:latin typeface="Verdana"/>
                <a:cs typeface="Verdana"/>
              </a:rPr>
              <a:t>X</a:t>
            </a:r>
            <a:r>
              <a:rPr dirty="0" sz="1200" spc="-16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7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-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40" b="1">
                <a:solidFill>
                  <a:srgbClr val="7B5BFF"/>
                </a:solidFill>
                <a:latin typeface="Verdana"/>
                <a:cs typeface="Verdana"/>
              </a:rPr>
              <a:t>D</a:t>
            </a:r>
            <a:r>
              <a:rPr dirty="0" sz="1200" spc="-16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2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Y</a:t>
            </a:r>
            <a:r>
              <a:rPr dirty="0" sz="1200" spc="46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75" b="1">
                <a:solidFill>
                  <a:srgbClr val="7B5BFF"/>
                </a:solidFill>
                <a:latin typeface="Verdana"/>
                <a:cs typeface="Verdana"/>
              </a:rPr>
              <a:t>S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P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O</a:t>
            </a:r>
            <a:r>
              <a:rPr dirty="0" sz="1200" spc="-16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₂</a:t>
            </a:r>
            <a:r>
              <a:rPr dirty="0" sz="1200" spc="47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5" b="1">
                <a:solidFill>
                  <a:srgbClr val="7B5BFF"/>
                </a:solidFill>
                <a:latin typeface="Verdana"/>
                <a:cs typeface="Verdana"/>
              </a:rPr>
              <a:t>X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P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0" b="1">
                <a:solidFill>
                  <a:srgbClr val="7B5BFF"/>
                </a:solidFill>
                <a:latin typeface="Verdana"/>
                <a:cs typeface="Verdana"/>
              </a:rPr>
              <a:t>M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N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25"/>
              <a:t>What</a:t>
            </a:r>
            <a:r>
              <a:rPr dirty="0" spc="-340"/>
              <a:t> </a:t>
            </a:r>
            <a:r>
              <a:rPr dirty="0" spc="-295"/>
              <a:t>the</a:t>
            </a:r>
            <a:r>
              <a:rPr dirty="0" spc="-335"/>
              <a:t> </a:t>
            </a:r>
            <a:r>
              <a:rPr dirty="0" spc="-240"/>
              <a:t>synthetic</a:t>
            </a:r>
            <a:r>
              <a:rPr dirty="0" spc="-335"/>
              <a:t> </a:t>
            </a:r>
            <a:r>
              <a:rPr dirty="0" spc="-295"/>
              <a:t>evaluation</a:t>
            </a:r>
            <a:r>
              <a:rPr dirty="0" spc="-335"/>
              <a:t> </a:t>
            </a:r>
            <a:r>
              <a:rPr dirty="0" spc="-290"/>
              <a:t>shows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25893" y="1660067"/>
            <a:ext cx="3605529" cy="41465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590040" marR="5080" indent="-1577975">
              <a:lnSpc>
                <a:spcPts val="1500"/>
              </a:lnSpc>
              <a:spcBef>
                <a:spcPts val="200"/>
              </a:spcBef>
            </a:pP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Held-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out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synthetic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test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accuracy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(axis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starts </a:t>
            </a:r>
            <a:r>
              <a:rPr dirty="0" sz="1300" spc="-25">
                <a:solidFill>
                  <a:srgbClr val="6A648F"/>
                </a:solidFill>
                <a:latin typeface="Verdana"/>
                <a:cs typeface="Verdana"/>
              </a:rPr>
              <a:t>at </a:t>
            </a:r>
            <a:r>
              <a:rPr dirty="0" sz="1300" spc="-20">
                <a:solidFill>
                  <a:srgbClr val="6A648F"/>
                </a:solidFill>
                <a:latin typeface="Verdana"/>
                <a:cs typeface="Verdana"/>
              </a:rPr>
              <a:t>80%)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3458" y="2185619"/>
            <a:ext cx="4006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80">
                <a:solidFill>
                  <a:srgbClr val="6A648F"/>
                </a:solidFill>
                <a:latin typeface="Verdana"/>
                <a:cs typeface="Verdana"/>
              </a:rPr>
              <a:t>100%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55684" y="1595164"/>
            <a:ext cx="2799080" cy="1244600"/>
            <a:chOff x="5755684" y="1595164"/>
            <a:chExt cx="2799080" cy="1244600"/>
          </a:xfrm>
        </p:grpSpPr>
        <p:sp>
          <p:nvSpPr>
            <p:cNvPr id="22" name="object 22"/>
            <p:cNvSpPr/>
            <p:nvPr/>
          </p:nvSpPr>
          <p:spPr>
            <a:xfrm>
              <a:off x="5760364" y="1599844"/>
              <a:ext cx="2789555" cy="1235075"/>
            </a:xfrm>
            <a:custGeom>
              <a:avLst/>
              <a:gdLst/>
              <a:ahLst/>
              <a:cxnLst/>
              <a:rect l="l" t="t" r="r" b="b"/>
              <a:pathLst>
                <a:path w="2789554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2697835" y="1234795"/>
                  </a:lnTo>
                  <a:lnTo>
                    <a:pt x="2743555" y="1222552"/>
                  </a:lnTo>
                  <a:lnTo>
                    <a:pt x="2777032" y="1189075"/>
                  </a:lnTo>
                  <a:lnTo>
                    <a:pt x="2789275" y="1143355"/>
                  </a:lnTo>
                  <a:lnTo>
                    <a:pt x="2789251" y="91440"/>
                  </a:lnTo>
                  <a:lnTo>
                    <a:pt x="2777032" y="46075"/>
                  </a:lnTo>
                  <a:lnTo>
                    <a:pt x="2743555" y="12598"/>
                  </a:lnTo>
                  <a:lnTo>
                    <a:pt x="269783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60364" y="1599844"/>
              <a:ext cx="2789555" cy="1235075"/>
            </a:xfrm>
            <a:custGeom>
              <a:avLst/>
              <a:gdLst/>
              <a:ahLst/>
              <a:cxnLst/>
              <a:rect l="l" t="t" r="r" b="b"/>
              <a:pathLst>
                <a:path w="2789554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2697835" y="355"/>
                  </a:lnTo>
                  <a:lnTo>
                    <a:pt x="2743555" y="12598"/>
                  </a:lnTo>
                  <a:lnTo>
                    <a:pt x="2777032" y="46075"/>
                  </a:lnTo>
                  <a:lnTo>
                    <a:pt x="2789275" y="91795"/>
                  </a:lnTo>
                  <a:lnTo>
                    <a:pt x="2789275" y="1143355"/>
                  </a:lnTo>
                  <a:lnTo>
                    <a:pt x="2788477" y="1155360"/>
                  </a:lnTo>
                  <a:lnTo>
                    <a:pt x="2786126" y="1167025"/>
                  </a:lnTo>
                  <a:lnTo>
                    <a:pt x="2762594" y="1208114"/>
                  </a:lnTo>
                  <a:lnTo>
                    <a:pt x="2721505" y="1231646"/>
                  </a:lnTo>
                  <a:lnTo>
                    <a:pt x="269783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930544" y="1724291"/>
            <a:ext cx="1319530" cy="78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70" b="1">
                <a:solidFill>
                  <a:srgbClr val="423A67"/>
                </a:solidFill>
                <a:latin typeface="Verdana"/>
                <a:cs typeface="Verdana"/>
              </a:rPr>
              <a:t>84.38%</a:t>
            </a:r>
            <a:endParaRPr sz="2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Precision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727484" y="1595164"/>
            <a:ext cx="2799080" cy="1244600"/>
            <a:chOff x="8727484" y="1595164"/>
            <a:chExt cx="2799080" cy="1244600"/>
          </a:xfrm>
        </p:grpSpPr>
        <p:sp>
          <p:nvSpPr>
            <p:cNvPr id="26" name="object 26"/>
            <p:cNvSpPr/>
            <p:nvPr/>
          </p:nvSpPr>
          <p:spPr>
            <a:xfrm>
              <a:off x="8732164" y="1599844"/>
              <a:ext cx="2789555" cy="1235075"/>
            </a:xfrm>
            <a:custGeom>
              <a:avLst/>
              <a:gdLst/>
              <a:ahLst/>
              <a:cxnLst/>
              <a:rect l="l" t="t" r="r" b="b"/>
              <a:pathLst>
                <a:path w="2789554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40" y="1234795"/>
                  </a:lnTo>
                  <a:lnTo>
                    <a:pt x="2697835" y="1234795"/>
                  </a:lnTo>
                  <a:lnTo>
                    <a:pt x="2743555" y="1222552"/>
                  </a:lnTo>
                  <a:lnTo>
                    <a:pt x="2777032" y="1189075"/>
                  </a:lnTo>
                  <a:lnTo>
                    <a:pt x="2789275" y="1143355"/>
                  </a:lnTo>
                  <a:lnTo>
                    <a:pt x="2789251" y="91440"/>
                  </a:lnTo>
                  <a:lnTo>
                    <a:pt x="2777032" y="46075"/>
                  </a:lnTo>
                  <a:lnTo>
                    <a:pt x="2743555" y="12598"/>
                  </a:lnTo>
                  <a:lnTo>
                    <a:pt x="269783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732164" y="1599844"/>
              <a:ext cx="2789555" cy="1235075"/>
            </a:xfrm>
            <a:custGeom>
              <a:avLst/>
              <a:gdLst/>
              <a:ahLst/>
              <a:cxnLst/>
              <a:rect l="l" t="t" r="r" b="b"/>
              <a:pathLst>
                <a:path w="2789554" h="123507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2697835" y="355"/>
                  </a:lnTo>
                  <a:lnTo>
                    <a:pt x="2743555" y="12598"/>
                  </a:lnTo>
                  <a:lnTo>
                    <a:pt x="2777032" y="46075"/>
                  </a:lnTo>
                  <a:lnTo>
                    <a:pt x="2789275" y="91795"/>
                  </a:lnTo>
                  <a:lnTo>
                    <a:pt x="2789275" y="1143355"/>
                  </a:lnTo>
                  <a:lnTo>
                    <a:pt x="2788477" y="1155360"/>
                  </a:lnTo>
                  <a:lnTo>
                    <a:pt x="2786126" y="1167025"/>
                  </a:lnTo>
                  <a:lnTo>
                    <a:pt x="2762594" y="1208114"/>
                  </a:lnTo>
                  <a:lnTo>
                    <a:pt x="2721505" y="1231646"/>
                  </a:lnTo>
                  <a:lnTo>
                    <a:pt x="2697835" y="1234795"/>
                  </a:lnTo>
                  <a:lnTo>
                    <a:pt x="91440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40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8902344" y="1724291"/>
            <a:ext cx="1075055" cy="78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95" b="1">
                <a:solidFill>
                  <a:srgbClr val="423A67"/>
                </a:solidFill>
                <a:latin typeface="Verdana"/>
                <a:cs typeface="Verdana"/>
              </a:rPr>
              <a:t>77.11%</a:t>
            </a:r>
            <a:endParaRPr sz="2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Recall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3211" y="3488347"/>
            <a:ext cx="3409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6A648F"/>
                </a:solidFill>
                <a:latin typeface="Verdana"/>
                <a:cs typeface="Verdana"/>
              </a:rPr>
              <a:t>90%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6818" y="4139526"/>
            <a:ext cx="3371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35">
                <a:solidFill>
                  <a:srgbClr val="6A648F"/>
                </a:solidFill>
                <a:latin typeface="Verdana"/>
                <a:cs typeface="Verdana"/>
              </a:rPr>
              <a:t>85%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3211" y="4791062"/>
            <a:ext cx="3403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6A648F"/>
                </a:solidFill>
                <a:latin typeface="Verdana"/>
                <a:cs typeface="Verdana"/>
              </a:rPr>
              <a:t>80%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0914" y="2278976"/>
            <a:ext cx="4331970" cy="2665730"/>
            <a:chOff x="970914" y="2278976"/>
            <a:chExt cx="4331970" cy="2665730"/>
          </a:xfrm>
        </p:grpSpPr>
        <p:sp>
          <p:nvSpPr>
            <p:cNvPr id="5" name="object 5"/>
            <p:cNvSpPr/>
            <p:nvPr/>
          </p:nvSpPr>
          <p:spPr>
            <a:xfrm>
              <a:off x="1024915" y="4890604"/>
              <a:ext cx="4271645" cy="0"/>
            </a:xfrm>
            <a:custGeom>
              <a:avLst/>
              <a:gdLst/>
              <a:ahLst/>
              <a:cxnLst/>
              <a:rect l="l" t="t" r="r" b="b"/>
              <a:pathLst>
                <a:path w="4271645" h="0">
                  <a:moveTo>
                    <a:pt x="427104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5E1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24915" y="4239005"/>
              <a:ext cx="4271645" cy="0"/>
            </a:xfrm>
            <a:custGeom>
              <a:avLst/>
              <a:gdLst/>
              <a:ahLst/>
              <a:cxnLst/>
              <a:rect l="l" t="t" r="r" b="b"/>
              <a:pathLst>
                <a:path w="4271645" h="0">
                  <a:moveTo>
                    <a:pt x="0" y="0"/>
                  </a:moveTo>
                  <a:lnTo>
                    <a:pt x="439559" y="0"/>
                  </a:lnTo>
                </a:path>
                <a:path w="4271645" h="0">
                  <a:moveTo>
                    <a:pt x="3831120" y="0"/>
                  </a:moveTo>
                  <a:lnTo>
                    <a:pt x="4271048" y="0"/>
                  </a:lnTo>
                </a:path>
                <a:path w="4271645" h="0">
                  <a:moveTo>
                    <a:pt x="1695970" y="0"/>
                  </a:moveTo>
                  <a:lnTo>
                    <a:pt x="2574721" y="0"/>
                  </a:lnTo>
                </a:path>
              </a:pathLst>
            </a:custGeom>
            <a:ln w="6479">
              <a:solidFill>
                <a:srgbClr val="E5E1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24915" y="2936519"/>
              <a:ext cx="4271645" cy="651510"/>
            </a:xfrm>
            <a:custGeom>
              <a:avLst/>
              <a:gdLst/>
              <a:ahLst/>
              <a:cxnLst/>
              <a:rect l="l" t="t" r="r" b="b"/>
              <a:pathLst>
                <a:path w="4271645" h="651510">
                  <a:moveTo>
                    <a:pt x="0" y="651243"/>
                  </a:moveTo>
                  <a:lnTo>
                    <a:pt x="439559" y="651243"/>
                  </a:lnTo>
                </a:path>
                <a:path w="4271645" h="651510">
                  <a:moveTo>
                    <a:pt x="1695970" y="651243"/>
                  </a:moveTo>
                  <a:lnTo>
                    <a:pt x="4271048" y="651243"/>
                  </a:lnTo>
                </a:path>
                <a:path w="4271645" h="651510">
                  <a:moveTo>
                    <a:pt x="1695970" y="0"/>
                  </a:moveTo>
                  <a:lnTo>
                    <a:pt x="4271048" y="0"/>
                  </a:lnTo>
                </a:path>
                <a:path w="4271645" h="651510">
                  <a:moveTo>
                    <a:pt x="0" y="0"/>
                  </a:moveTo>
                  <a:lnTo>
                    <a:pt x="439559" y="0"/>
                  </a:lnTo>
                </a:path>
              </a:pathLst>
            </a:custGeom>
            <a:ln w="6479">
              <a:solidFill>
                <a:srgbClr val="E5E1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24915" y="2285276"/>
              <a:ext cx="4271645" cy="0"/>
            </a:xfrm>
            <a:custGeom>
              <a:avLst/>
              <a:gdLst/>
              <a:ahLst/>
              <a:cxnLst/>
              <a:rect l="l" t="t" r="r" b="b"/>
              <a:pathLst>
                <a:path w="4271645" h="0">
                  <a:moveTo>
                    <a:pt x="427104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5E1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70914" y="2285276"/>
              <a:ext cx="4325620" cy="2659380"/>
            </a:xfrm>
            <a:custGeom>
              <a:avLst/>
              <a:gdLst/>
              <a:ahLst/>
              <a:cxnLst/>
              <a:rect l="l" t="t" r="r" b="b"/>
              <a:pathLst>
                <a:path w="4325620" h="2659379">
                  <a:moveTo>
                    <a:pt x="54000" y="2659329"/>
                  </a:moveTo>
                  <a:lnTo>
                    <a:pt x="54000" y="2605328"/>
                  </a:lnTo>
                </a:path>
                <a:path w="4325620" h="2659379">
                  <a:moveTo>
                    <a:pt x="2189162" y="2659329"/>
                  </a:moveTo>
                  <a:lnTo>
                    <a:pt x="2189162" y="2605328"/>
                  </a:lnTo>
                </a:path>
                <a:path w="4325620" h="2659379">
                  <a:moveTo>
                    <a:pt x="4325048" y="2659329"/>
                  </a:moveTo>
                  <a:lnTo>
                    <a:pt x="4325048" y="2605328"/>
                  </a:lnTo>
                </a:path>
                <a:path w="4325620" h="2659379">
                  <a:moveTo>
                    <a:pt x="54000" y="2605328"/>
                  </a:moveTo>
                  <a:lnTo>
                    <a:pt x="4325048" y="2605328"/>
                  </a:lnTo>
                </a:path>
                <a:path w="4325620" h="2659379">
                  <a:moveTo>
                    <a:pt x="0" y="2605328"/>
                  </a:moveTo>
                  <a:lnTo>
                    <a:pt x="54000" y="2605328"/>
                  </a:lnTo>
                </a:path>
                <a:path w="4325620" h="2659379">
                  <a:moveTo>
                    <a:pt x="0" y="1953729"/>
                  </a:moveTo>
                  <a:lnTo>
                    <a:pt x="54000" y="1953729"/>
                  </a:lnTo>
                </a:path>
                <a:path w="4325620" h="2659379">
                  <a:moveTo>
                    <a:pt x="0" y="1302486"/>
                  </a:moveTo>
                  <a:lnTo>
                    <a:pt x="54000" y="1302486"/>
                  </a:lnTo>
                </a:path>
                <a:path w="4325620" h="2659379">
                  <a:moveTo>
                    <a:pt x="0" y="651243"/>
                  </a:moveTo>
                  <a:lnTo>
                    <a:pt x="54000" y="651243"/>
                  </a:lnTo>
                </a:path>
                <a:path w="4325620" h="2659379">
                  <a:moveTo>
                    <a:pt x="0" y="0"/>
                  </a:moveTo>
                  <a:lnTo>
                    <a:pt x="54000" y="0"/>
                  </a:lnTo>
                </a:path>
                <a:path w="4325620" h="2659379">
                  <a:moveTo>
                    <a:pt x="54000" y="2605328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64475" y="2904121"/>
              <a:ext cx="1256665" cy="1986914"/>
            </a:xfrm>
            <a:custGeom>
              <a:avLst/>
              <a:gdLst/>
              <a:ahLst/>
              <a:cxnLst/>
              <a:rect l="l" t="t" r="r" b="b"/>
              <a:pathLst>
                <a:path w="1256664" h="1986914">
                  <a:moveTo>
                    <a:pt x="1256411" y="0"/>
                  </a:moveTo>
                  <a:lnTo>
                    <a:pt x="0" y="0"/>
                  </a:lnTo>
                  <a:lnTo>
                    <a:pt x="0" y="1986483"/>
                  </a:lnTo>
                  <a:lnTo>
                    <a:pt x="1256411" y="1986483"/>
                  </a:lnTo>
                  <a:lnTo>
                    <a:pt x="1256411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99637" y="3948480"/>
              <a:ext cx="1256665" cy="942340"/>
            </a:xfrm>
            <a:custGeom>
              <a:avLst/>
              <a:gdLst/>
              <a:ahLst/>
              <a:cxnLst/>
              <a:rect l="l" t="t" r="r" b="b"/>
              <a:pathLst>
                <a:path w="1256664" h="942339">
                  <a:moveTo>
                    <a:pt x="1256398" y="0"/>
                  </a:moveTo>
                  <a:lnTo>
                    <a:pt x="0" y="0"/>
                  </a:lnTo>
                  <a:lnTo>
                    <a:pt x="0" y="942124"/>
                  </a:lnTo>
                  <a:lnTo>
                    <a:pt x="1256398" y="942124"/>
                  </a:lnTo>
                  <a:lnTo>
                    <a:pt x="1256398" y="0"/>
                  </a:lnTo>
                  <a:close/>
                </a:path>
              </a:pathLst>
            </a:custGeom>
            <a:solidFill>
              <a:srgbClr val="B8A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06450" y="2604985"/>
            <a:ext cx="1892300" cy="424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95375">
              <a:lnSpc>
                <a:spcPts val="1875"/>
              </a:lnSpc>
              <a:spcBef>
                <a:spcPts val="95"/>
              </a:spcBef>
            </a:pPr>
            <a:r>
              <a:rPr dirty="0" sz="1600" spc="-165" b="1">
                <a:solidFill>
                  <a:srgbClr val="423A67"/>
                </a:solidFill>
                <a:latin typeface="Verdana"/>
                <a:cs typeface="Verdana"/>
              </a:rPr>
              <a:t>95.25%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275"/>
              </a:lnSpc>
            </a:pPr>
            <a:r>
              <a:rPr dirty="0" sz="1100" spc="-25">
                <a:solidFill>
                  <a:srgbClr val="6A648F"/>
                </a:solidFill>
                <a:latin typeface="Verdana"/>
                <a:cs typeface="Verdana"/>
              </a:rPr>
              <a:t>95%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29659" y="3649611"/>
            <a:ext cx="7994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75" b="1">
                <a:solidFill>
                  <a:srgbClr val="423A67"/>
                </a:solidFill>
                <a:latin typeface="Verdana"/>
                <a:cs typeface="Verdana"/>
              </a:rPr>
              <a:t>87.23%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755684" y="3012484"/>
            <a:ext cx="2799080" cy="1244600"/>
            <a:chOff x="5755684" y="3012484"/>
            <a:chExt cx="2799080" cy="1244600"/>
          </a:xfrm>
        </p:grpSpPr>
        <p:sp>
          <p:nvSpPr>
            <p:cNvPr id="30" name="object 30"/>
            <p:cNvSpPr/>
            <p:nvPr/>
          </p:nvSpPr>
          <p:spPr>
            <a:xfrm>
              <a:off x="5760364" y="3017164"/>
              <a:ext cx="2789555" cy="1235075"/>
            </a:xfrm>
            <a:custGeom>
              <a:avLst/>
              <a:gdLst/>
              <a:ahLst/>
              <a:cxnLst/>
              <a:rect l="l" t="t" r="r" b="b"/>
              <a:pathLst>
                <a:path w="2789554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39" y="1234795"/>
                  </a:lnTo>
                  <a:lnTo>
                    <a:pt x="2697835" y="1234795"/>
                  </a:lnTo>
                  <a:lnTo>
                    <a:pt x="2743555" y="1222552"/>
                  </a:lnTo>
                  <a:lnTo>
                    <a:pt x="2777032" y="1189075"/>
                  </a:lnTo>
                  <a:lnTo>
                    <a:pt x="2789275" y="1143355"/>
                  </a:lnTo>
                  <a:lnTo>
                    <a:pt x="2789251" y="91439"/>
                  </a:lnTo>
                  <a:lnTo>
                    <a:pt x="2777032" y="46075"/>
                  </a:lnTo>
                  <a:lnTo>
                    <a:pt x="2743555" y="12598"/>
                  </a:lnTo>
                  <a:lnTo>
                    <a:pt x="269783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760364" y="3017164"/>
              <a:ext cx="2789555" cy="1235075"/>
            </a:xfrm>
            <a:custGeom>
              <a:avLst/>
              <a:gdLst/>
              <a:ahLst/>
              <a:cxnLst/>
              <a:rect l="l" t="t" r="r" b="b"/>
              <a:pathLst>
                <a:path w="2789554" h="123507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2697835" y="355"/>
                  </a:lnTo>
                  <a:lnTo>
                    <a:pt x="2743555" y="12598"/>
                  </a:lnTo>
                  <a:lnTo>
                    <a:pt x="2777032" y="46075"/>
                  </a:lnTo>
                  <a:lnTo>
                    <a:pt x="2789275" y="91795"/>
                  </a:lnTo>
                  <a:lnTo>
                    <a:pt x="2789275" y="1143355"/>
                  </a:lnTo>
                  <a:lnTo>
                    <a:pt x="2788477" y="1155360"/>
                  </a:lnTo>
                  <a:lnTo>
                    <a:pt x="2786126" y="1167025"/>
                  </a:lnTo>
                  <a:lnTo>
                    <a:pt x="2762594" y="1208114"/>
                  </a:lnTo>
                  <a:lnTo>
                    <a:pt x="2721505" y="1231645"/>
                  </a:lnTo>
                  <a:lnTo>
                    <a:pt x="2697835" y="1234795"/>
                  </a:lnTo>
                  <a:lnTo>
                    <a:pt x="91439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930544" y="3141611"/>
            <a:ext cx="1962150" cy="967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95" b="1">
                <a:solidFill>
                  <a:srgbClr val="423A67"/>
                </a:solidFill>
                <a:latin typeface="Verdana"/>
                <a:cs typeface="Verdana"/>
              </a:rPr>
              <a:t>84.70%</a:t>
            </a:r>
            <a:endParaRPr sz="26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415"/>
              </a:spcBef>
            </a:pP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Runtime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6A648F"/>
                </a:solidFill>
                <a:latin typeface="Verdana"/>
                <a:cs typeface="Verdana"/>
              </a:rPr>
              <a:t>coverage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6A648F"/>
                </a:solidFill>
                <a:latin typeface="Verdana"/>
                <a:cs typeface="Verdana"/>
              </a:rPr>
              <a:t>24,320 </a:t>
            </a: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decisions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727484" y="3012484"/>
            <a:ext cx="2799080" cy="1244600"/>
            <a:chOff x="8727484" y="3012484"/>
            <a:chExt cx="2799080" cy="1244600"/>
          </a:xfrm>
        </p:grpSpPr>
        <p:sp>
          <p:nvSpPr>
            <p:cNvPr id="34" name="object 34"/>
            <p:cNvSpPr/>
            <p:nvPr/>
          </p:nvSpPr>
          <p:spPr>
            <a:xfrm>
              <a:off x="8732164" y="3017164"/>
              <a:ext cx="2789555" cy="1235075"/>
            </a:xfrm>
            <a:custGeom>
              <a:avLst/>
              <a:gdLst/>
              <a:ahLst/>
              <a:cxnLst/>
              <a:rect l="l" t="t" r="r" b="b"/>
              <a:pathLst>
                <a:path w="2789554" h="123507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30" y="1199119"/>
                  </a:lnTo>
                  <a:lnTo>
                    <a:pt x="56505" y="1227809"/>
                  </a:lnTo>
                  <a:lnTo>
                    <a:pt x="91440" y="1234795"/>
                  </a:lnTo>
                  <a:lnTo>
                    <a:pt x="2697835" y="1234795"/>
                  </a:lnTo>
                  <a:lnTo>
                    <a:pt x="2743555" y="1222552"/>
                  </a:lnTo>
                  <a:lnTo>
                    <a:pt x="2777032" y="1189075"/>
                  </a:lnTo>
                  <a:lnTo>
                    <a:pt x="2789275" y="1143355"/>
                  </a:lnTo>
                  <a:lnTo>
                    <a:pt x="2789251" y="91439"/>
                  </a:lnTo>
                  <a:lnTo>
                    <a:pt x="2777032" y="46075"/>
                  </a:lnTo>
                  <a:lnTo>
                    <a:pt x="2743555" y="12598"/>
                  </a:lnTo>
                  <a:lnTo>
                    <a:pt x="269783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732164" y="3017164"/>
              <a:ext cx="2789555" cy="1235075"/>
            </a:xfrm>
            <a:custGeom>
              <a:avLst/>
              <a:gdLst/>
              <a:ahLst/>
              <a:cxnLst/>
              <a:rect l="l" t="t" r="r" b="b"/>
              <a:pathLst>
                <a:path w="2789554" h="123507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2697835" y="355"/>
                  </a:lnTo>
                  <a:lnTo>
                    <a:pt x="2743555" y="12598"/>
                  </a:lnTo>
                  <a:lnTo>
                    <a:pt x="2777032" y="46075"/>
                  </a:lnTo>
                  <a:lnTo>
                    <a:pt x="2789275" y="91795"/>
                  </a:lnTo>
                  <a:lnTo>
                    <a:pt x="2789275" y="1143355"/>
                  </a:lnTo>
                  <a:lnTo>
                    <a:pt x="2788477" y="1155360"/>
                  </a:lnTo>
                  <a:lnTo>
                    <a:pt x="2786126" y="1167025"/>
                  </a:lnTo>
                  <a:lnTo>
                    <a:pt x="2762594" y="1208114"/>
                  </a:lnTo>
                  <a:lnTo>
                    <a:pt x="2721505" y="1231645"/>
                  </a:lnTo>
                  <a:lnTo>
                    <a:pt x="2697835" y="1234795"/>
                  </a:lnTo>
                  <a:lnTo>
                    <a:pt x="91440" y="1234795"/>
                  </a:lnTo>
                  <a:lnTo>
                    <a:pt x="45720" y="1222552"/>
                  </a:lnTo>
                  <a:lnTo>
                    <a:pt x="12230" y="1189075"/>
                  </a:lnTo>
                  <a:lnTo>
                    <a:pt x="0" y="1143355"/>
                  </a:lnTo>
                  <a:lnTo>
                    <a:pt x="355" y="91439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8902344" y="3141611"/>
            <a:ext cx="2087880" cy="967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340" b="1">
                <a:solidFill>
                  <a:srgbClr val="423A67"/>
                </a:solidFill>
                <a:latin typeface="Verdana"/>
                <a:cs typeface="Verdana"/>
              </a:rPr>
              <a:t>17,442</a:t>
            </a:r>
            <a:endParaRPr sz="26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415"/>
              </a:spcBef>
            </a:pP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Evaluable</a:t>
            </a:r>
            <a:r>
              <a:rPr dirty="0" sz="12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labelled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days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2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648F"/>
                </a:solidFill>
                <a:latin typeface="Verdana"/>
                <a:cs typeface="Verdana"/>
              </a:rPr>
              <a:t>160 </a:t>
            </a: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profiles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41880" y="4954841"/>
            <a:ext cx="50292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423A67"/>
                </a:solidFill>
                <a:latin typeface="Verdana"/>
                <a:cs typeface="Verdana"/>
              </a:rPr>
              <a:t>Model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62121" y="4954841"/>
            <a:ext cx="1535430" cy="41465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446405" marR="5080" indent="-434340">
              <a:lnSpc>
                <a:spcPts val="1500"/>
              </a:lnSpc>
              <a:spcBef>
                <a:spcPts val="200"/>
              </a:spcBef>
            </a:pPr>
            <a:r>
              <a:rPr dirty="0" sz="1300" spc="-40">
                <a:solidFill>
                  <a:srgbClr val="423A67"/>
                </a:solidFill>
                <a:latin typeface="Verdana"/>
                <a:cs typeface="Verdana"/>
              </a:rPr>
              <a:t>Always-</a:t>
            </a:r>
            <a:r>
              <a:rPr dirty="0" sz="1300" spc="-45">
                <a:solidFill>
                  <a:srgbClr val="423A67"/>
                </a:solidFill>
                <a:latin typeface="Verdana"/>
                <a:cs typeface="Verdana"/>
              </a:rPr>
              <a:t>no-</a:t>
            </a:r>
            <a:r>
              <a:rPr dirty="0" sz="1300" spc="-55">
                <a:solidFill>
                  <a:srgbClr val="423A67"/>
                </a:solidFill>
                <a:latin typeface="Verdana"/>
                <a:cs typeface="Verdana"/>
              </a:rPr>
              <a:t>warning </a:t>
            </a:r>
            <a:r>
              <a:rPr dirty="0" sz="1300" spc="-10">
                <a:solidFill>
                  <a:srgbClr val="423A67"/>
                </a:solidFill>
                <a:latin typeface="Verdana"/>
                <a:cs typeface="Verdana"/>
              </a:rPr>
              <a:t>baseline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753696" y="4519624"/>
            <a:ext cx="5774055" cy="1247775"/>
            <a:chOff x="5753696" y="4519624"/>
            <a:chExt cx="5774055" cy="1247775"/>
          </a:xfrm>
        </p:grpSpPr>
        <p:sp>
          <p:nvSpPr>
            <p:cNvPr id="38" name="object 38"/>
            <p:cNvSpPr/>
            <p:nvPr/>
          </p:nvSpPr>
          <p:spPr>
            <a:xfrm>
              <a:off x="5759995" y="4525924"/>
              <a:ext cx="5761355" cy="1235075"/>
            </a:xfrm>
            <a:custGeom>
              <a:avLst/>
              <a:gdLst/>
              <a:ahLst/>
              <a:cxnLst/>
              <a:rect l="l" t="t" r="r" b="b"/>
              <a:pathLst>
                <a:path w="5761355" h="12350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143355"/>
                  </a:lnTo>
                  <a:lnTo>
                    <a:pt x="798" y="1155360"/>
                  </a:lnTo>
                  <a:lnTo>
                    <a:pt x="18843" y="1199119"/>
                  </a:lnTo>
                  <a:lnTo>
                    <a:pt x="56512" y="1227809"/>
                  </a:lnTo>
                  <a:lnTo>
                    <a:pt x="91439" y="1234795"/>
                  </a:lnTo>
                  <a:lnTo>
                    <a:pt x="5669648" y="1234795"/>
                  </a:lnTo>
                  <a:lnTo>
                    <a:pt x="5715368" y="1222552"/>
                  </a:lnTo>
                  <a:lnTo>
                    <a:pt x="5748845" y="1189075"/>
                  </a:lnTo>
                  <a:lnTo>
                    <a:pt x="5761088" y="1143355"/>
                  </a:lnTo>
                  <a:lnTo>
                    <a:pt x="5761064" y="91439"/>
                  </a:lnTo>
                  <a:lnTo>
                    <a:pt x="5748845" y="46075"/>
                  </a:lnTo>
                  <a:lnTo>
                    <a:pt x="5715368" y="12598"/>
                  </a:lnTo>
                  <a:lnTo>
                    <a:pt x="566964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423A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759995" y="4525924"/>
              <a:ext cx="5761355" cy="1235075"/>
            </a:xfrm>
            <a:custGeom>
              <a:avLst/>
              <a:gdLst/>
              <a:ahLst/>
              <a:cxnLst/>
              <a:rect l="l" t="t" r="r" b="b"/>
              <a:pathLst>
                <a:path w="5761355" h="1235075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5669648" y="355"/>
                  </a:lnTo>
                  <a:lnTo>
                    <a:pt x="5715368" y="12598"/>
                  </a:lnTo>
                  <a:lnTo>
                    <a:pt x="5748845" y="46075"/>
                  </a:lnTo>
                  <a:lnTo>
                    <a:pt x="5761088" y="91795"/>
                  </a:lnTo>
                  <a:lnTo>
                    <a:pt x="5761088" y="1143355"/>
                  </a:lnTo>
                  <a:lnTo>
                    <a:pt x="5760288" y="1155360"/>
                  </a:lnTo>
                  <a:lnTo>
                    <a:pt x="5757933" y="1167025"/>
                  </a:lnTo>
                  <a:lnTo>
                    <a:pt x="5734397" y="1208114"/>
                  </a:lnTo>
                  <a:lnTo>
                    <a:pt x="5693313" y="1231645"/>
                  </a:lnTo>
                  <a:lnTo>
                    <a:pt x="5669648" y="1234795"/>
                  </a:lnTo>
                  <a:lnTo>
                    <a:pt x="91439" y="1234795"/>
                  </a:lnTo>
                  <a:lnTo>
                    <a:pt x="45719" y="1222552"/>
                  </a:lnTo>
                  <a:lnTo>
                    <a:pt x="12242" y="1189075"/>
                  </a:lnTo>
                  <a:lnTo>
                    <a:pt x="0" y="1143355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423A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5930544" y="4902377"/>
            <a:ext cx="14465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405" b="1">
                <a:solidFill>
                  <a:srgbClr val="FFFFFF"/>
                </a:solidFill>
                <a:latin typeface="Verdana"/>
                <a:cs typeface="Verdana"/>
              </a:rPr>
              <a:t>13.48%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68259" y="4833264"/>
            <a:ext cx="3474085" cy="620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35">
                <a:solidFill>
                  <a:srgbClr val="E9E5FF"/>
                </a:solidFill>
                <a:latin typeface="Verdana"/>
                <a:cs typeface="Verdana"/>
              </a:rPr>
              <a:t>Newly</a:t>
            </a:r>
            <a:r>
              <a:rPr dirty="0" sz="1300" spc="-7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E9E5FF"/>
                </a:solidFill>
                <a:latin typeface="Verdana"/>
                <a:cs typeface="Verdana"/>
              </a:rPr>
              <a:t>low-</a:t>
            </a:r>
            <a:r>
              <a:rPr dirty="0" sz="1300" spc="-55">
                <a:solidFill>
                  <a:srgbClr val="E9E5FF"/>
                </a:solidFill>
                <a:latin typeface="Verdana"/>
                <a:cs typeface="Verdana"/>
              </a:rPr>
              <a:t>state</a:t>
            </a:r>
            <a:r>
              <a:rPr dirty="0" sz="1300" spc="-8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E9E5FF"/>
                </a:solidFill>
                <a:latin typeface="Verdana"/>
                <a:cs typeface="Verdana"/>
              </a:rPr>
              <a:t>recall</a:t>
            </a:r>
            <a:r>
              <a:rPr dirty="0" sz="1300" spc="-7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E9E5FF"/>
                </a:solidFill>
                <a:latin typeface="Verdana"/>
                <a:cs typeface="Verdana"/>
              </a:rPr>
              <a:t>when</a:t>
            </a:r>
            <a:r>
              <a:rPr dirty="0" sz="1300" spc="-8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E9E5FF"/>
                </a:solidFill>
                <a:latin typeface="Verdana"/>
                <a:cs typeface="Verdana"/>
              </a:rPr>
              <a:t>the</a:t>
            </a:r>
            <a:r>
              <a:rPr dirty="0" sz="1300" spc="-8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E9E5FF"/>
                </a:solidFill>
                <a:latin typeface="Verdana"/>
                <a:cs typeface="Verdana"/>
              </a:rPr>
              <a:t>current </a:t>
            </a:r>
            <a:r>
              <a:rPr dirty="0" sz="1300" spc="-50">
                <a:solidFill>
                  <a:srgbClr val="E9E5FF"/>
                </a:solidFill>
                <a:latin typeface="Verdana"/>
                <a:cs typeface="Verdana"/>
              </a:rPr>
              <a:t>reading</a:t>
            </a:r>
            <a:r>
              <a:rPr dirty="0" sz="1300" spc="-7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E9E5FF"/>
                </a:solidFill>
                <a:latin typeface="Verdana"/>
                <a:cs typeface="Verdana"/>
              </a:rPr>
              <a:t>is</a:t>
            </a:r>
            <a:r>
              <a:rPr dirty="0" sz="1300" spc="-7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E9E5FF"/>
                </a:solidFill>
                <a:latin typeface="Verdana"/>
                <a:cs typeface="Verdana"/>
              </a:rPr>
              <a:t>not</a:t>
            </a:r>
            <a:r>
              <a:rPr dirty="0" sz="1300" spc="-7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E9E5FF"/>
                </a:solidFill>
                <a:latin typeface="Verdana"/>
                <a:cs typeface="Verdana"/>
              </a:rPr>
              <a:t>already</a:t>
            </a:r>
            <a:r>
              <a:rPr dirty="0" sz="1300" spc="-7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80">
                <a:solidFill>
                  <a:srgbClr val="E9E5FF"/>
                </a:solidFill>
                <a:latin typeface="Verdana"/>
                <a:cs typeface="Verdana"/>
              </a:rPr>
              <a:t>low.</a:t>
            </a:r>
            <a:r>
              <a:rPr dirty="0" sz="1300" spc="-7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E9E5FF"/>
                </a:solidFill>
                <a:latin typeface="Verdana"/>
                <a:cs typeface="Verdana"/>
              </a:rPr>
              <a:t>Early</a:t>
            </a:r>
            <a:r>
              <a:rPr dirty="0" sz="1300" spc="-7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E9E5FF"/>
                </a:solidFill>
                <a:latin typeface="Verdana"/>
                <a:cs typeface="Verdana"/>
              </a:rPr>
              <a:t>detection</a:t>
            </a:r>
            <a:r>
              <a:rPr dirty="0" sz="1300" spc="-7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E9E5FF"/>
                </a:solidFill>
                <a:latin typeface="Verdana"/>
                <a:cs typeface="Verdana"/>
              </a:rPr>
              <a:t>of </a:t>
            </a:r>
            <a:r>
              <a:rPr dirty="0" sz="1300" spc="-40">
                <a:solidFill>
                  <a:srgbClr val="E9E5FF"/>
                </a:solidFill>
                <a:latin typeface="Verdana"/>
                <a:cs typeface="Verdana"/>
              </a:rPr>
              <a:t>new</a:t>
            </a:r>
            <a:r>
              <a:rPr dirty="0" sz="1300" spc="-7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E9E5FF"/>
                </a:solidFill>
                <a:latin typeface="Verdana"/>
                <a:cs typeface="Verdana"/>
              </a:rPr>
              <a:t>deterioration</a:t>
            </a:r>
            <a:r>
              <a:rPr dirty="0" sz="1300" spc="-7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E9E5FF"/>
                </a:solidFill>
                <a:latin typeface="Verdana"/>
                <a:cs typeface="Verdana"/>
              </a:rPr>
              <a:t>is</a:t>
            </a:r>
            <a:r>
              <a:rPr dirty="0" sz="1300" spc="-7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E9E5FF"/>
                </a:solidFill>
                <a:latin typeface="Verdana"/>
                <a:cs typeface="Verdana"/>
              </a:rPr>
              <a:t>not</a:t>
            </a:r>
            <a:r>
              <a:rPr dirty="0" sz="1300" spc="-7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E9E5FF"/>
                </a:solidFill>
                <a:latin typeface="Verdana"/>
                <a:cs typeface="Verdana"/>
              </a:rPr>
              <a:t>established.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5584" y="5976264"/>
            <a:ext cx="713232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Synthetic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data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only.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Not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clinical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COPD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accuracy.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Threshold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frozen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on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validation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before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test.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50"/>
              <a:t>Pulmira</a:t>
            </a:r>
            <a:r>
              <a:rPr dirty="0" spc="-55"/>
              <a:t> </a:t>
            </a:r>
            <a:r>
              <a:rPr dirty="0" spc="-85"/>
              <a:t>·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1800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P</a:t>
            </a:r>
            <a:r>
              <a:rPr dirty="0" sz="1200" spc="-21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22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N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48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P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22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L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5"/>
              <a:t>Patient</a:t>
            </a:r>
            <a:r>
              <a:rPr dirty="0" spc="-340"/>
              <a:t> </a:t>
            </a:r>
            <a:r>
              <a:rPr dirty="0" spc="-210"/>
              <a:t>check-</a:t>
            </a:r>
            <a:r>
              <a:rPr dirty="0" spc="-290"/>
              <a:t>in</a:t>
            </a:r>
            <a:r>
              <a:rPr dirty="0" spc="-340"/>
              <a:t> </a:t>
            </a:r>
            <a:r>
              <a:rPr dirty="0" spc="-290"/>
              <a:t>and</a:t>
            </a:r>
            <a:r>
              <a:rPr dirty="0" spc="-340"/>
              <a:t> </a:t>
            </a:r>
            <a:r>
              <a:rPr dirty="0" spc="-295"/>
              <a:t>reporting</a:t>
            </a:r>
          </a:p>
        </p:txBody>
      </p:sp>
      <p:grpSp>
        <p:nvGrpSpPr>
          <p:cNvPr id="4" name="object 4" descr="preencoded.png"/>
          <p:cNvGrpSpPr/>
          <p:nvPr/>
        </p:nvGrpSpPr>
        <p:grpSpPr>
          <a:xfrm>
            <a:off x="507244" y="1421644"/>
            <a:ext cx="6483350" cy="4578350"/>
            <a:chOff x="507244" y="1421644"/>
            <a:chExt cx="6483350" cy="4578350"/>
          </a:xfrm>
        </p:grpSpPr>
        <p:sp>
          <p:nvSpPr>
            <p:cNvPr id="5" name="object 5"/>
            <p:cNvSpPr/>
            <p:nvPr/>
          </p:nvSpPr>
          <p:spPr>
            <a:xfrm>
              <a:off x="511924" y="1426324"/>
              <a:ext cx="6474460" cy="4568825"/>
            </a:xfrm>
            <a:custGeom>
              <a:avLst/>
              <a:gdLst/>
              <a:ahLst/>
              <a:cxnLst/>
              <a:rect l="l" t="t" r="r" b="b"/>
              <a:pathLst>
                <a:path w="6474459" h="4568825">
                  <a:moveTo>
                    <a:pt x="64004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495673"/>
                  </a:lnTo>
                  <a:lnTo>
                    <a:pt x="594" y="4504949"/>
                  </a:lnTo>
                  <a:lnTo>
                    <a:pt x="607" y="4505151"/>
                  </a:lnTo>
                  <a:lnTo>
                    <a:pt x="2393" y="4514346"/>
                  </a:lnTo>
                  <a:lnTo>
                    <a:pt x="2428" y="4514529"/>
                  </a:lnTo>
                  <a:lnTo>
                    <a:pt x="5410" y="4523408"/>
                  </a:lnTo>
                  <a:lnTo>
                    <a:pt x="5464" y="4523569"/>
                  </a:lnTo>
                  <a:lnTo>
                    <a:pt x="36360" y="4559033"/>
                  </a:lnTo>
                  <a:lnTo>
                    <a:pt x="73075" y="4568761"/>
                  </a:lnTo>
                  <a:lnTo>
                    <a:pt x="6400800" y="4568393"/>
                  </a:lnTo>
                  <a:lnTo>
                    <a:pt x="6445170" y="4553301"/>
                  </a:lnTo>
                  <a:lnTo>
                    <a:pt x="6471385" y="4514529"/>
                  </a:lnTo>
                  <a:lnTo>
                    <a:pt x="6471446" y="4514346"/>
                  </a:lnTo>
                  <a:lnTo>
                    <a:pt x="6473229" y="4505151"/>
                  </a:lnTo>
                  <a:lnTo>
                    <a:pt x="6473268" y="4504949"/>
                  </a:lnTo>
                  <a:lnTo>
                    <a:pt x="6473853" y="4495673"/>
                  </a:lnTo>
                  <a:lnTo>
                    <a:pt x="6473520" y="73075"/>
                  </a:lnTo>
                  <a:lnTo>
                    <a:pt x="6458416" y="28698"/>
                  </a:lnTo>
                  <a:lnTo>
                    <a:pt x="6419472" y="2428"/>
                  </a:lnTo>
                  <a:lnTo>
                    <a:pt x="6410071" y="607"/>
                  </a:lnTo>
                  <a:lnTo>
                    <a:pt x="6400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11924" y="1426324"/>
              <a:ext cx="6474460" cy="4568825"/>
            </a:xfrm>
            <a:custGeom>
              <a:avLst/>
              <a:gdLst/>
              <a:ahLst/>
              <a:cxnLst/>
              <a:rect l="l" t="t" r="r" b="b"/>
              <a:pathLst>
                <a:path w="6474459" h="4568825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6400431" y="0"/>
                  </a:lnTo>
                  <a:lnTo>
                    <a:pt x="6444964" y="15096"/>
                  </a:lnTo>
                  <a:lnTo>
                    <a:pt x="6471089" y="54219"/>
                  </a:lnTo>
                  <a:lnTo>
                    <a:pt x="6473520" y="73075"/>
                  </a:lnTo>
                  <a:lnTo>
                    <a:pt x="6473875" y="4495317"/>
                  </a:lnTo>
                  <a:lnTo>
                    <a:pt x="6473268" y="4504949"/>
                  </a:lnTo>
                  <a:lnTo>
                    <a:pt x="6471446" y="4514346"/>
                  </a:lnTo>
                  <a:lnTo>
                    <a:pt x="6445170" y="4553301"/>
                  </a:lnTo>
                  <a:lnTo>
                    <a:pt x="6400800" y="4568393"/>
                  </a:lnTo>
                  <a:lnTo>
                    <a:pt x="73075" y="4568761"/>
                  </a:lnTo>
                  <a:lnTo>
                    <a:pt x="28548" y="4553651"/>
                  </a:lnTo>
                  <a:lnTo>
                    <a:pt x="2428" y="4514529"/>
                  </a:lnTo>
                  <a:lnTo>
                    <a:pt x="0" y="4495673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462684"/>
              <a:ext cx="6400444" cy="4495317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7406640" y="1508760"/>
            <a:ext cx="4206240" cy="635"/>
          </a:xfrm>
          <a:custGeom>
            <a:avLst/>
            <a:gdLst/>
            <a:ahLst/>
            <a:cxnLst/>
            <a:rect l="l" t="t" r="r" b="b"/>
            <a:pathLst>
              <a:path w="4206240" h="634">
                <a:moveTo>
                  <a:pt x="0" y="0"/>
                </a:moveTo>
                <a:lnTo>
                  <a:pt x="4206239" y="355"/>
                </a:lnTo>
              </a:path>
            </a:pathLst>
          </a:custGeom>
          <a:ln w="12599">
            <a:solidFill>
              <a:srgbClr val="DBD5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06640" y="2624035"/>
            <a:ext cx="4206240" cy="635"/>
          </a:xfrm>
          <a:custGeom>
            <a:avLst/>
            <a:gdLst/>
            <a:ahLst/>
            <a:cxnLst/>
            <a:rect l="l" t="t" r="r" b="b"/>
            <a:pathLst>
              <a:path w="4206240" h="635">
                <a:moveTo>
                  <a:pt x="0" y="0"/>
                </a:moveTo>
                <a:lnTo>
                  <a:pt x="4206239" y="368"/>
                </a:lnTo>
              </a:path>
            </a:pathLst>
          </a:custGeom>
          <a:ln w="12599">
            <a:solidFill>
              <a:srgbClr val="DBD5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06640" y="3739680"/>
            <a:ext cx="4206240" cy="635"/>
          </a:xfrm>
          <a:custGeom>
            <a:avLst/>
            <a:gdLst/>
            <a:ahLst/>
            <a:cxnLst/>
            <a:rect l="l" t="t" r="r" b="b"/>
            <a:pathLst>
              <a:path w="4206240" h="635">
                <a:moveTo>
                  <a:pt x="0" y="0"/>
                </a:moveTo>
                <a:lnTo>
                  <a:pt x="4206239" y="355"/>
                </a:lnTo>
              </a:path>
            </a:pathLst>
          </a:custGeom>
          <a:ln w="12599">
            <a:solidFill>
              <a:srgbClr val="DBD5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06640" y="4855324"/>
            <a:ext cx="4206240" cy="635"/>
          </a:xfrm>
          <a:custGeom>
            <a:avLst/>
            <a:gdLst/>
            <a:ahLst/>
            <a:cxnLst/>
            <a:rect l="l" t="t" r="r" b="b"/>
            <a:pathLst>
              <a:path w="4206240" h="635">
                <a:moveTo>
                  <a:pt x="0" y="0"/>
                </a:moveTo>
                <a:lnTo>
                  <a:pt x="4206239" y="355"/>
                </a:lnTo>
              </a:path>
            </a:pathLst>
          </a:custGeom>
          <a:ln w="12599">
            <a:solidFill>
              <a:srgbClr val="DBD5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393584" y="1503438"/>
            <a:ext cx="3978910" cy="408114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700" spc="-135" b="1">
                <a:solidFill>
                  <a:srgbClr val="423A67"/>
                </a:solidFill>
                <a:latin typeface="Verdana"/>
                <a:cs typeface="Verdana"/>
              </a:rPr>
              <a:t>Yes</a:t>
            </a:r>
            <a:r>
              <a:rPr dirty="0" sz="1700" spc="-17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55" b="1">
                <a:solidFill>
                  <a:srgbClr val="423A67"/>
                </a:solidFill>
                <a:latin typeface="Verdana"/>
                <a:cs typeface="Verdana"/>
              </a:rPr>
              <a:t>·</a:t>
            </a:r>
            <a:r>
              <a:rPr dirty="0" sz="1700" spc="-16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45" b="1">
                <a:solidFill>
                  <a:srgbClr val="423A67"/>
                </a:solidFill>
                <a:latin typeface="Verdana"/>
                <a:cs typeface="Verdana"/>
              </a:rPr>
              <a:t>No</a:t>
            </a:r>
            <a:r>
              <a:rPr dirty="0" sz="1700" spc="-16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55" b="1">
                <a:solidFill>
                  <a:srgbClr val="423A67"/>
                </a:solidFill>
                <a:latin typeface="Verdana"/>
                <a:cs typeface="Verdana"/>
              </a:rPr>
              <a:t>·</a:t>
            </a:r>
            <a:r>
              <a:rPr dirty="0" sz="1700" spc="-16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0" b="1">
                <a:solidFill>
                  <a:srgbClr val="423A67"/>
                </a:solidFill>
                <a:latin typeface="Verdana"/>
                <a:cs typeface="Verdana"/>
              </a:rPr>
              <a:t>Unsure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spc="-45">
                <a:solidFill>
                  <a:srgbClr val="6A648F"/>
                </a:solidFill>
                <a:latin typeface="Verdana"/>
                <a:cs typeface="Verdana"/>
              </a:rPr>
              <a:t>Unsure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6A648F"/>
                </a:solidFill>
                <a:latin typeface="Verdana"/>
                <a:cs typeface="Verdana"/>
              </a:rPr>
              <a:t>is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6A648F"/>
                </a:solidFill>
                <a:latin typeface="Verdana"/>
                <a:cs typeface="Verdana"/>
              </a:rPr>
              <a:t>stored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6A648F"/>
                </a:solidFill>
                <a:latin typeface="Verdana"/>
                <a:cs typeface="Verdana"/>
              </a:rPr>
              <a:t>as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A648F"/>
                </a:solidFill>
                <a:latin typeface="Verdana"/>
                <a:cs typeface="Verdana"/>
              </a:rPr>
              <a:t>unknown,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6A648F"/>
                </a:solidFill>
                <a:latin typeface="Verdana"/>
                <a:cs typeface="Verdana"/>
              </a:rPr>
              <a:t>never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A648F"/>
                </a:solidFill>
                <a:latin typeface="Verdana"/>
                <a:cs typeface="Verdana"/>
              </a:rPr>
              <a:t>guessed.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700" spc="-130" b="1">
                <a:solidFill>
                  <a:srgbClr val="423A67"/>
                </a:solidFill>
                <a:latin typeface="Verdana"/>
                <a:cs typeface="Verdana"/>
              </a:rPr>
              <a:t>Role-</a:t>
            </a:r>
            <a:r>
              <a:rPr dirty="0" sz="1700" spc="-100" b="1">
                <a:solidFill>
                  <a:srgbClr val="423A67"/>
                </a:solidFill>
                <a:latin typeface="Verdana"/>
                <a:cs typeface="Verdana"/>
              </a:rPr>
              <a:t>scoped</a:t>
            </a:r>
            <a:r>
              <a:rPr dirty="0" sz="1700" spc="-9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30" b="1">
                <a:solidFill>
                  <a:srgbClr val="423A67"/>
                </a:solidFill>
                <a:latin typeface="Verdana"/>
                <a:cs typeface="Verdana"/>
              </a:rPr>
              <a:t>submission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840"/>
              </a:spcBef>
            </a:pPr>
            <a:r>
              <a:rPr dirty="0" sz="1400" spc="-45">
                <a:solidFill>
                  <a:srgbClr val="6A648F"/>
                </a:solidFill>
                <a:latin typeface="Verdana"/>
                <a:cs typeface="Verdana"/>
              </a:rPr>
              <a:t>Signed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6A648F"/>
                </a:solidFill>
                <a:latin typeface="Verdana"/>
                <a:cs typeface="Verdana"/>
              </a:rPr>
              <a:t>demo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6A648F"/>
                </a:solidFill>
                <a:latin typeface="Verdana"/>
                <a:cs typeface="Verdana"/>
              </a:rPr>
              <a:t>roles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6A648F"/>
                </a:solidFill>
                <a:latin typeface="Verdana"/>
                <a:cs typeface="Verdana"/>
              </a:rPr>
              <a:t>control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6A648F"/>
                </a:solidFill>
                <a:latin typeface="Verdana"/>
                <a:cs typeface="Verdana"/>
              </a:rPr>
              <a:t>who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A648F"/>
                </a:solidFill>
                <a:latin typeface="Verdana"/>
                <a:cs typeface="Verdana"/>
              </a:rPr>
              <a:t>can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A648F"/>
                </a:solidFill>
                <a:latin typeface="Verdana"/>
                <a:cs typeface="Verdana"/>
              </a:rPr>
              <a:t>submit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6A648F"/>
                </a:solidFill>
                <a:latin typeface="Verdana"/>
                <a:cs typeface="Verdana"/>
              </a:rPr>
              <a:t>and </a:t>
            </a:r>
            <a:r>
              <a:rPr dirty="0" sz="1400" spc="-10">
                <a:solidFill>
                  <a:srgbClr val="6A648F"/>
                </a:solidFill>
                <a:latin typeface="Verdana"/>
                <a:cs typeface="Verdana"/>
              </a:rPr>
              <a:t>view.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-150" b="1">
                <a:solidFill>
                  <a:srgbClr val="423A67"/>
                </a:solidFill>
                <a:latin typeface="Verdana"/>
                <a:cs typeface="Verdana"/>
              </a:rPr>
              <a:t>Separate</a:t>
            </a:r>
            <a:r>
              <a:rPr dirty="0" sz="1700" spc="-114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700" spc="-10" b="1">
                <a:solidFill>
                  <a:srgbClr val="423A67"/>
                </a:solidFill>
                <a:latin typeface="Verdana"/>
                <a:cs typeface="Verdana"/>
              </a:rPr>
              <a:t>clocks</a:t>
            </a:r>
            <a:endParaRPr sz="1700">
              <a:latin typeface="Verdana"/>
              <a:cs typeface="Verdana"/>
            </a:endParaRPr>
          </a:p>
          <a:p>
            <a:pPr marL="12700" marR="227329">
              <a:lnSpc>
                <a:spcPct val="100000"/>
              </a:lnSpc>
              <a:spcBef>
                <a:spcPts val="840"/>
              </a:spcBef>
            </a:pPr>
            <a:r>
              <a:rPr dirty="0" sz="1400" spc="-40">
                <a:solidFill>
                  <a:srgbClr val="6A648F"/>
                </a:solidFill>
                <a:latin typeface="Verdana"/>
                <a:cs typeface="Verdana"/>
              </a:rPr>
              <a:t>Archived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6A648F"/>
                </a:solidFill>
                <a:latin typeface="Verdana"/>
                <a:cs typeface="Verdana"/>
              </a:rPr>
              <a:t>data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6A648F"/>
                </a:solidFill>
                <a:latin typeface="Verdana"/>
                <a:cs typeface="Verdana"/>
              </a:rPr>
              <a:t>uses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A648F"/>
                </a:solidFill>
                <a:latin typeface="Verdana"/>
                <a:cs typeface="Verdana"/>
              </a:rPr>
              <a:t>a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6A648F"/>
                </a:solidFill>
                <a:latin typeface="Verdana"/>
                <a:cs typeface="Verdana"/>
              </a:rPr>
              <a:t>2025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6A648F"/>
                </a:solidFill>
                <a:latin typeface="Verdana"/>
                <a:cs typeface="Verdana"/>
              </a:rPr>
              <a:t>demo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6A648F"/>
                </a:solidFill>
                <a:latin typeface="Verdana"/>
                <a:cs typeface="Verdana"/>
              </a:rPr>
              <a:t>clock;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6A648F"/>
                </a:solidFill>
                <a:latin typeface="Verdana"/>
                <a:cs typeface="Verdana"/>
              </a:rPr>
              <a:t>new </a:t>
            </a:r>
            <a:r>
              <a:rPr dirty="0" sz="1400" spc="-20">
                <a:solidFill>
                  <a:srgbClr val="6A648F"/>
                </a:solidFill>
                <a:latin typeface="Verdana"/>
                <a:cs typeface="Verdana"/>
              </a:rPr>
              <a:t>check-</a:t>
            </a:r>
            <a:r>
              <a:rPr dirty="0" sz="1400" spc="-40">
                <a:solidFill>
                  <a:srgbClr val="6A648F"/>
                </a:solidFill>
                <a:latin typeface="Verdana"/>
                <a:cs typeface="Verdana"/>
              </a:rPr>
              <a:t>ins</a:t>
            </a:r>
            <a:r>
              <a:rPr dirty="0" sz="14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6A648F"/>
                </a:solidFill>
                <a:latin typeface="Verdana"/>
                <a:cs typeface="Verdana"/>
              </a:rPr>
              <a:t>use</a:t>
            </a:r>
            <a:r>
              <a:rPr dirty="0" sz="14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6A648F"/>
                </a:solidFill>
                <a:latin typeface="Verdana"/>
                <a:cs typeface="Verdana"/>
              </a:rPr>
              <a:t>current</a:t>
            </a:r>
            <a:r>
              <a:rPr dirty="0" sz="14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6A648F"/>
                </a:solidFill>
                <a:latin typeface="Verdana"/>
                <a:cs typeface="Verdana"/>
              </a:rPr>
              <a:t>time.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-10" b="1">
                <a:solidFill>
                  <a:srgbClr val="423A67"/>
                </a:solidFill>
                <a:latin typeface="Verdana"/>
                <a:cs typeface="Verdana"/>
              </a:rPr>
              <a:t>Exports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spc="-45">
                <a:solidFill>
                  <a:srgbClr val="6A648F"/>
                </a:solidFill>
                <a:latin typeface="Verdana"/>
                <a:cs typeface="Verdana"/>
              </a:rPr>
              <a:t>PDF,</a:t>
            </a: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A648F"/>
                </a:solidFill>
                <a:latin typeface="Verdana"/>
                <a:cs typeface="Verdana"/>
              </a:rPr>
              <a:t>CSV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6A648F"/>
                </a:solidFill>
                <a:latin typeface="Verdana"/>
                <a:cs typeface="Verdana"/>
              </a:rPr>
              <a:t>and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6A648F"/>
                </a:solidFill>
                <a:latin typeface="Verdana"/>
                <a:cs typeface="Verdana"/>
              </a:rPr>
              <a:t>JSON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A648F"/>
                </a:solidFill>
                <a:latin typeface="Verdana"/>
                <a:cs typeface="Verdana"/>
              </a:rPr>
              <a:t>reports.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584" y="6055817"/>
            <a:ext cx="38512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Unsubmitted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fictional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form, 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shown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for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illustration.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50"/>
              <a:t>Pulmira</a:t>
            </a:r>
            <a:r>
              <a:rPr dirty="0" spc="-55"/>
              <a:t> </a:t>
            </a:r>
            <a:r>
              <a:rPr dirty="0" spc="-85"/>
              <a:t>·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80060"/>
            <a:ext cx="1063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V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40" b="1">
                <a:solidFill>
                  <a:srgbClr val="7B5BFF"/>
                </a:solidFill>
                <a:latin typeface="Verdana"/>
                <a:cs typeface="Verdana"/>
              </a:rPr>
              <a:t>D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E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N </a:t>
            </a:r>
            <a:r>
              <a:rPr dirty="0" sz="1200" b="1">
                <a:solidFill>
                  <a:srgbClr val="7B5BFF"/>
                </a:solidFill>
                <a:latin typeface="Verdana"/>
                <a:cs typeface="Verdana"/>
              </a:rPr>
              <a:t>C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584" y="692899"/>
            <a:ext cx="7875270" cy="543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35"/>
              <a:t>Evidence</a:t>
            </a:r>
            <a:r>
              <a:rPr dirty="0" spc="-345"/>
              <a:t> </a:t>
            </a:r>
            <a:r>
              <a:rPr dirty="0" spc="-290"/>
              <a:t>and</a:t>
            </a:r>
            <a:r>
              <a:rPr dirty="0" spc="-345"/>
              <a:t> </a:t>
            </a:r>
            <a:r>
              <a:rPr dirty="0" spc="-295"/>
              <a:t>the</a:t>
            </a:r>
            <a:r>
              <a:rPr dirty="0" spc="-345"/>
              <a:t> </a:t>
            </a:r>
            <a:r>
              <a:rPr dirty="0" spc="-310"/>
              <a:t>next</a:t>
            </a:r>
            <a:r>
              <a:rPr dirty="0" spc="-345"/>
              <a:t> </a:t>
            </a:r>
            <a:r>
              <a:rPr dirty="0" spc="-275"/>
              <a:t>validation</a:t>
            </a:r>
            <a:r>
              <a:rPr dirty="0" spc="-345"/>
              <a:t> </a:t>
            </a:r>
            <a:r>
              <a:rPr dirty="0" spc="-155"/>
              <a:t>step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3521" y="1549717"/>
            <a:ext cx="2569845" cy="1518285"/>
            <a:chOff x="543521" y="1549717"/>
            <a:chExt cx="2569845" cy="1518285"/>
          </a:xfrm>
        </p:grpSpPr>
        <p:sp>
          <p:nvSpPr>
            <p:cNvPr id="5" name="object 5"/>
            <p:cNvSpPr/>
            <p:nvPr/>
          </p:nvSpPr>
          <p:spPr>
            <a:xfrm>
              <a:off x="548284" y="1554480"/>
              <a:ext cx="2560320" cy="1508760"/>
            </a:xfrm>
            <a:custGeom>
              <a:avLst/>
              <a:gdLst/>
              <a:ahLst/>
              <a:cxnLst/>
              <a:rect l="l" t="t" r="r" b="b"/>
              <a:pathLst>
                <a:path w="2560320" h="1508760">
                  <a:moveTo>
                    <a:pt x="246851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40"/>
                  </a:lnTo>
                  <a:lnTo>
                    <a:pt x="0" y="1417320"/>
                  </a:lnTo>
                  <a:lnTo>
                    <a:pt x="12230" y="1463040"/>
                  </a:lnTo>
                  <a:lnTo>
                    <a:pt x="45720" y="1496517"/>
                  </a:lnTo>
                  <a:lnTo>
                    <a:pt x="91440" y="1508760"/>
                  </a:lnTo>
                  <a:lnTo>
                    <a:pt x="2468880" y="1508404"/>
                  </a:lnTo>
                  <a:lnTo>
                    <a:pt x="2514600" y="1496161"/>
                  </a:lnTo>
                  <a:lnTo>
                    <a:pt x="2548077" y="1462684"/>
                  </a:lnTo>
                  <a:lnTo>
                    <a:pt x="2560296" y="1417320"/>
                  </a:lnTo>
                  <a:lnTo>
                    <a:pt x="2560320" y="1416964"/>
                  </a:lnTo>
                  <a:lnTo>
                    <a:pt x="2559951" y="91440"/>
                  </a:lnTo>
                  <a:lnTo>
                    <a:pt x="2547721" y="45720"/>
                  </a:lnTo>
                  <a:lnTo>
                    <a:pt x="2514231" y="12242"/>
                  </a:lnTo>
                  <a:lnTo>
                    <a:pt x="2480518" y="798"/>
                  </a:lnTo>
                  <a:lnTo>
                    <a:pt x="2468511" y="0"/>
                  </a:lnTo>
                  <a:close/>
                </a:path>
              </a:pathLst>
            </a:custGeom>
            <a:solidFill>
              <a:srgbClr val="E9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8284" y="1554480"/>
              <a:ext cx="2560320" cy="1508760"/>
            </a:xfrm>
            <a:custGeom>
              <a:avLst/>
              <a:gdLst/>
              <a:ahLst/>
              <a:cxnLst/>
              <a:rect l="l" t="t" r="r" b="b"/>
              <a:pathLst>
                <a:path w="2560320" h="1508760">
                  <a:moveTo>
                    <a:pt x="0" y="91440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2468511" y="0"/>
                  </a:lnTo>
                  <a:lnTo>
                    <a:pt x="2514231" y="12242"/>
                  </a:lnTo>
                  <a:lnTo>
                    <a:pt x="2547721" y="45720"/>
                  </a:lnTo>
                  <a:lnTo>
                    <a:pt x="2559951" y="91440"/>
                  </a:lnTo>
                  <a:lnTo>
                    <a:pt x="2560320" y="1416964"/>
                  </a:lnTo>
                  <a:lnTo>
                    <a:pt x="2559519" y="1428964"/>
                  </a:lnTo>
                  <a:lnTo>
                    <a:pt x="2557165" y="1440629"/>
                  </a:lnTo>
                  <a:lnTo>
                    <a:pt x="2533629" y="1481713"/>
                  </a:lnTo>
                  <a:lnTo>
                    <a:pt x="2492544" y="1505250"/>
                  </a:lnTo>
                  <a:lnTo>
                    <a:pt x="91440" y="1508760"/>
                  </a:lnTo>
                  <a:lnTo>
                    <a:pt x="45720" y="1496517"/>
                  </a:lnTo>
                  <a:lnTo>
                    <a:pt x="12230" y="1463040"/>
                  </a:lnTo>
                  <a:lnTo>
                    <a:pt x="0" y="1417320"/>
                  </a:lnTo>
                  <a:lnTo>
                    <a:pt x="0" y="91440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18464" y="1724304"/>
            <a:ext cx="215074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160" b="1">
                <a:solidFill>
                  <a:srgbClr val="423A67"/>
                </a:solidFill>
                <a:latin typeface="Verdana"/>
                <a:cs typeface="Verdana"/>
              </a:rPr>
              <a:t>100K-</a:t>
            </a:r>
            <a:r>
              <a:rPr dirty="0" sz="1500" spc="-135" b="1">
                <a:solidFill>
                  <a:srgbClr val="423A67"/>
                </a:solidFill>
                <a:latin typeface="Verdana"/>
                <a:cs typeface="Verdana"/>
              </a:rPr>
              <a:t>patient</a:t>
            </a:r>
            <a:r>
              <a:rPr dirty="0" sz="1500" spc="-6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500" spc="-100" b="1">
                <a:solidFill>
                  <a:srgbClr val="423A67"/>
                </a:solidFill>
                <a:latin typeface="Verdana"/>
                <a:cs typeface="Verdana"/>
              </a:rPr>
              <a:t>synthetic </a:t>
            </a:r>
            <a:r>
              <a:rPr dirty="0" sz="1500" spc="-10" b="1">
                <a:solidFill>
                  <a:srgbClr val="423A67"/>
                </a:solidFill>
                <a:latin typeface="Verdana"/>
                <a:cs typeface="Verdana"/>
              </a:rPr>
              <a:t>source</a:t>
            </a:r>
            <a:endParaRPr sz="1500">
              <a:latin typeface="Verdana"/>
              <a:cs typeface="Verdana"/>
            </a:endParaRPr>
          </a:p>
          <a:p>
            <a:pPr marL="12700" marR="347345">
              <a:lnSpc>
                <a:spcPct val="100000"/>
              </a:lnSpc>
              <a:spcBef>
                <a:spcPts val="720"/>
              </a:spcBef>
            </a:pP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Kaggle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6A648F"/>
                </a:solidFill>
                <a:latin typeface="Verdana"/>
                <a:cs typeface="Verdana"/>
              </a:rPr>
              <a:t>v3</a:t>
            </a:r>
            <a:r>
              <a:rPr dirty="0" sz="12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200" spc="-5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30">
                <a:solidFill>
                  <a:srgbClr val="6A648F"/>
                </a:solidFill>
                <a:latin typeface="Verdana"/>
                <a:cs typeface="Verdana"/>
              </a:rPr>
              <a:t>Apache-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2.0 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· </a:t>
            </a:r>
            <a:r>
              <a:rPr dirty="0" sz="1200" spc="-35">
                <a:solidFill>
                  <a:srgbClr val="6A648F"/>
                </a:solidFill>
                <a:latin typeface="Verdana"/>
                <a:cs typeface="Verdana"/>
              </a:rPr>
              <a:t>hashes</a:t>
            </a: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verified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26473" y="1549717"/>
            <a:ext cx="2821940" cy="1518285"/>
            <a:chOff x="3126473" y="1549717"/>
            <a:chExt cx="2821940" cy="1518285"/>
          </a:xfrm>
        </p:grpSpPr>
        <p:sp>
          <p:nvSpPr>
            <p:cNvPr id="9" name="object 9"/>
            <p:cNvSpPr/>
            <p:nvPr/>
          </p:nvSpPr>
          <p:spPr>
            <a:xfrm>
              <a:off x="3136315" y="2303995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0"/>
                  </a:moveTo>
                  <a:lnTo>
                    <a:pt x="148678" y="368"/>
                  </a:lnTo>
                </a:path>
              </a:pathLst>
            </a:custGeom>
            <a:ln w="1907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79965" y="22665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82924" y="1554480"/>
              <a:ext cx="2560320" cy="1508760"/>
            </a:xfrm>
            <a:custGeom>
              <a:avLst/>
              <a:gdLst/>
              <a:ahLst/>
              <a:cxnLst/>
              <a:rect l="l" t="t" r="r" b="b"/>
              <a:pathLst>
                <a:path w="2560320" h="1508760">
                  <a:moveTo>
                    <a:pt x="24685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40"/>
                  </a:lnTo>
                  <a:lnTo>
                    <a:pt x="0" y="1417320"/>
                  </a:lnTo>
                  <a:lnTo>
                    <a:pt x="774" y="1428964"/>
                  </a:lnTo>
                  <a:lnTo>
                    <a:pt x="798" y="1429325"/>
                  </a:lnTo>
                  <a:lnTo>
                    <a:pt x="3075" y="1440629"/>
                  </a:lnTo>
                  <a:lnTo>
                    <a:pt x="3148" y="1440989"/>
                  </a:lnTo>
                  <a:lnTo>
                    <a:pt x="6859" y="1451891"/>
                  </a:lnTo>
                  <a:lnTo>
                    <a:pt x="6981" y="1452249"/>
                  </a:lnTo>
                  <a:lnTo>
                    <a:pt x="12230" y="1463040"/>
                  </a:lnTo>
                  <a:lnTo>
                    <a:pt x="45719" y="1496517"/>
                  </a:lnTo>
                  <a:lnTo>
                    <a:pt x="91439" y="1508760"/>
                  </a:lnTo>
                  <a:lnTo>
                    <a:pt x="2468879" y="1508404"/>
                  </a:lnTo>
                  <a:lnTo>
                    <a:pt x="2514600" y="1496161"/>
                  </a:lnTo>
                  <a:lnTo>
                    <a:pt x="2548077" y="1462684"/>
                  </a:lnTo>
                  <a:lnTo>
                    <a:pt x="2557042" y="1440989"/>
                  </a:lnTo>
                  <a:lnTo>
                    <a:pt x="2557165" y="1440629"/>
                  </a:lnTo>
                  <a:lnTo>
                    <a:pt x="2559446" y="1429325"/>
                  </a:lnTo>
                  <a:lnTo>
                    <a:pt x="2559519" y="1428964"/>
                  </a:lnTo>
                  <a:lnTo>
                    <a:pt x="2560296" y="1417320"/>
                  </a:lnTo>
                  <a:lnTo>
                    <a:pt x="2560319" y="1416964"/>
                  </a:lnTo>
                  <a:lnTo>
                    <a:pt x="2559951" y="91440"/>
                  </a:lnTo>
                  <a:lnTo>
                    <a:pt x="2547721" y="45720"/>
                  </a:lnTo>
                  <a:lnTo>
                    <a:pt x="2514231" y="12242"/>
                  </a:lnTo>
                  <a:lnTo>
                    <a:pt x="2480518" y="798"/>
                  </a:lnTo>
                  <a:lnTo>
                    <a:pt x="24685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82924" y="1554480"/>
              <a:ext cx="2560320" cy="1508760"/>
            </a:xfrm>
            <a:custGeom>
              <a:avLst/>
              <a:gdLst/>
              <a:ahLst/>
              <a:cxnLst/>
              <a:rect l="l" t="t" r="r" b="b"/>
              <a:pathLst>
                <a:path w="2560320" h="1508760">
                  <a:moveTo>
                    <a:pt x="0" y="91440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2468511" y="0"/>
                  </a:lnTo>
                  <a:lnTo>
                    <a:pt x="2514231" y="12242"/>
                  </a:lnTo>
                  <a:lnTo>
                    <a:pt x="2547721" y="45720"/>
                  </a:lnTo>
                  <a:lnTo>
                    <a:pt x="2559951" y="91440"/>
                  </a:lnTo>
                  <a:lnTo>
                    <a:pt x="2560319" y="1416964"/>
                  </a:lnTo>
                  <a:lnTo>
                    <a:pt x="2559519" y="1428964"/>
                  </a:lnTo>
                  <a:lnTo>
                    <a:pt x="2557165" y="1440629"/>
                  </a:lnTo>
                  <a:lnTo>
                    <a:pt x="2533629" y="1481713"/>
                  </a:lnTo>
                  <a:lnTo>
                    <a:pt x="2492544" y="1505250"/>
                  </a:lnTo>
                  <a:lnTo>
                    <a:pt x="91439" y="1508760"/>
                  </a:lnTo>
                  <a:lnTo>
                    <a:pt x="45719" y="1496517"/>
                  </a:lnTo>
                  <a:lnTo>
                    <a:pt x="12230" y="1463040"/>
                  </a:lnTo>
                  <a:lnTo>
                    <a:pt x="0" y="1417320"/>
                  </a:lnTo>
                  <a:lnTo>
                    <a:pt x="0" y="91440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553104" y="1770024"/>
            <a:ext cx="1653539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423A67"/>
                </a:solidFill>
                <a:latin typeface="Verdana"/>
                <a:cs typeface="Verdana"/>
              </a:rPr>
              <a:t>8,450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200" spc="-35">
                <a:solidFill>
                  <a:srgbClr val="6A648F"/>
                </a:solidFill>
                <a:latin typeface="Verdana"/>
                <a:cs typeface="Verdana"/>
              </a:rPr>
              <a:t>fictional</a:t>
            </a:r>
            <a:r>
              <a:rPr dirty="0" sz="12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COPD</a:t>
            </a: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profiles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61113" y="1549717"/>
            <a:ext cx="2821940" cy="1518285"/>
            <a:chOff x="5961113" y="1549717"/>
            <a:chExt cx="2821940" cy="1518285"/>
          </a:xfrm>
        </p:grpSpPr>
        <p:sp>
          <p:nvSpPr>
            <p:cNvPr id="15" name="object 15"/>
            <p:cNvSpPr/>
            <p:nvPr/>
          </p:nvSpPr>
          <p:spPr>
            <a:xfrm>
              <a:off x="5970955" y="2303995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0"/>
                  </a:moveTo>
                  <a:lnTo>
                    <a:pt x="148678" y="368"/>
                  </a:lnTo>
                </a:path>
              </a:pathLst>
            </a:custGeom>
            <a:ln w="1907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14605" y="22665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17564" y="1554480"/>
              <a:ext cx="2560320" cy="1508760"/>
            </a:xfrm>
            <a:custGeom>
              <a:avLst/>
              <a:gdLst/>
              <a:ahLst/>
              <a:cxnLst/>
              <a:rect l="l" t="t" r="r" b="b"/>
              <a:pathLst>
                <a:path w="2560320" h="1508760">
                  <a:moveTo>
                    <a:pt x="24685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40"/>
                  </a:lnTo>
                  <a:lnTo>
                    <a:pt x="0" y="1417320"/>
                  </a:lnTo>
                  <a:lnTo>
                    <a:pt x="774" y="1428964"/>
                  </a:lnTo>
                  <a:lnTo>
                    <a:pt x="798" y="1429325"/>
                  </a:lnTo>
                  <a:lnTo>
                    <a:pt x="3075" y="1440629"/>
                  </a:lnTo>
                  <a:lnTo>
                    <a:pt x="3148" y="1440989"/>
                  </a:lnTo>
                  <a:lnTo>
                    <a:pt x="6859" y="1451891"/>
                  </a:lnTo>
                  <a:lnTo>
                    <a:pt x="6981" y="1452249"/>
                  </a:lnTo>
                  <a:lnTo>
                    <a:pt x="12230" y="1463040"/>
                  </a:lnTo>
                  <a:lnTo>
                    <a:pt x="45720" y="1496517"/>
                  </a:lnTo>
                  <a:lnTo>
                    <a:pt x="91439" y="1508760"/>
                  </a:lnTo>
                  <a:lnTo>
                    <a:pt x="2468879" y="1508404"/>
                  </a:lnTo>
                  <a:lnTo>
                    <a:pt x="2514600" y="1496161"/>
                  </a:lnTo>
                  <a:lnTo>
                    <a:pt x="2548077" y="1462684"/>
                  </a:lnTo>
                  <a:lnTo>
                    <a:pt x="2557042" y="1440989"/>
                  </a:lnTo>
                  <a:lnTo>
                    <a:pt x="2557165" y="1440629"/>
                  </a:lnTo>
                  <a:lnTo>
                    <a:pt x="2559446" y="1429325"/>
                  </a:lnTo>
                  <a:lnTo>
                    <a:pt x="2559519" y="1428964"/>
                  </a:lnTo>
                  <a:lnTo>
                    <a:pt x="2560296" y="1417320"/>
                  </a:lnTo>
                  <a:lnTo>
                    <a:pt x="2560320" y="1416964"/>
                  </a:lnTo>
                  <a:lnTo>
                    <a:pt x="2559951" y="91440"/>
                  </a:lnTo>
                  <a:lnTo>
                    <a:pt x="2547721" y="45720"/>
                  </a:lnTo>
                  <a:lnTo>
                    <a:pt x="2514231" y="12242"/>
                  </a:lnTo>
                  <a:lnTo>
                    <a:pt x="2480518" y="798"/>
                  </a:lnTo>
                  <a:lnTo>
                    <a:pt x="24685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17564" y="1554480"/>
              <a:ext cx="2560320" cy="1508760"/>
            </a:xfrm>
            <a:custGeom>
              <a:avLst/>
              <a:gdLst/>
              <a:ahLst/>
              <a:cxnLst/>
              <a:rect l="l" t="t" r="r" b="b"/>
              <a:pathLst>
                <a:path w="2560320" h="1508760">
                  <a:moveTo>
                    <a:pt x="0" y="91440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2468511" y="0"/>
                  </a:lnTo>
                  <a:lnTo>
                    <a:pt x="2514231" y="12242"/>
                  </a:lnTo>
                  <a:lnTo>
                    <a:pt x="2547721" y="45720"/>
                  </a:lnTo>
                  <a:lnTo>
                    <a:pt x="2559951" y="91440"/>
                  </a:lnTo>
                  <a:lnTo>
                    <a:pt x="2560320" y="1416964"/>
                  </a:lnTo>
                  <a:lnTo>
                    <a:pt x="2559519" y="1428964"/>
                  </a:lnTo>
                  <a:lnTo>
                    <a:pt x="2557165" y="1440629"/>
                  </a:lnTo>
                  <a:lnTo>
                    <a:pt x="2533629" y="1481713"/>
                  </a:lnTo>
                  <a:lnTo>
                    <a:pt x="2492544" y="1505250"/>
                  </a:lnTo>
                  <a:lnTo>
                    <a:pt x="91439" y="1508760"/>
                  </a:lnTo>
                  <a:lnTo>
                    <a:pt x="45720" y="1496517"/>
                  </a:lnTo>
                  <a:lnTo>
                    <a:pt x="12230" y="1463040"/>
                  </a:lnTo>
                  <a:lnTo>
                    <a:pt x="0" y="1417320"/>
                  </a:lnTo>
                  <a:lnTo>
                    <a:pt x="0" y="91440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387744" y="1770024"/>
            <a:ext cx="2151380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75" b="1">
                <a:solidFill>
                  <a:srgbClr val="423A67"/>
                </a:solidFill>
                <a:latin typeface="Verdana"/>
                <a:cs typeface="Verdana"/>
              </a:rPr>
              <a:t>8,421</a:t>
            </a:r>
            <a:endParaRPr sz="24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75"/>
              </a:spcBef>
            </a:pP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simulator</a:t>
            </a:r>
            <a:r>
              <a:rPr dirty="0" sz="1200" spc="-2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A648F"/>
                </a:solidFill>
                <a:latin typeface="Verdana"/>
                <a:cs typeface="Verdana"/>
              </a:rPr>
              <a:t>initialisation</a:t>
            </a:r>
            <a:r>
              <a:rPr dirty="0" sz="1200" spc="-2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profiles 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(29 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pre-anchor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deaths excluded)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96056" y="1549800"/>
            <a:ext cx="2821305" cy="1518285"/>
            <a:chOff x="8796056" y="1549800"/>
            <a:chExt cx="2821305" cy="1518285"/>
          </a:xfrm>
        </p:grpSpPr>
        <p:sp>
          <p:nvSpPr>
            <p:cNvPr id="21" name="object 21"/>
            <p:cNvSpPr/>
            <p:nvPr/>
          </p:nvSpPr>
          <p:spPr>
            <a:xfrm>
              <a:off x="8805595" y="2303995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0"/>
                  </a:moveTo>
                  <a:lnTo>
                    <a:pt x="148678" y="368"/>
                  </a:lnTo>
                </a:path>
              </a:pathLst>
            </a:custGeom>
            <a:ln w="19079">
              <a:solidFill>
                <a:srgbClr val="7B5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949245" y="22665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5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052204" y="1554479"/>
              <a:ext cx="2560320" cy="1508760"/>
            </a:xfrm>
            <a:custGeom>
              <a:avLst/>
              <a:gdLst/>
              <a:ahLst/>
              <a:cxnLst/>
              <a:rect l="l" t="t" r="r" b="b"/>
              <a:pathLst>
                <a:path w="2560320" h="1508760">
                  <a:moveTo>
                    <a:pt x="246851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40"/>
                  </a:lnTo>
                  <a:lnTo>
                    <a:pt x="0" y="1417320"/>
                  </a:lnTo>
                  <a:lnTo>
                    <a:pt x="774" y="1428964"/>
                  </a:lnTo>
                  <a:lnTo>
                    <a:pt x="798" y="1429325"/>
                  </a:lnTo>
                  <a:lnTo>
                    <a:pt x="3075" y="1440629"/>
                  </a:lnTo>
                  <a:lnTo>
                    <a:pt x="3148" y="1440989"/>
                  </a:lnTo>
                  <a:lnTo>
                    <a:pt x="6859" y="1451891"/>
                  </a:lnTo>
                  <a:lnTo>
                    <a:pt x="6981" y="1452249"/>
                  </a:lnTo>
                  <a:lnTo>
                    <a:pt x="35675" y="1489923"/>
                  </a:lnTo>
                  <a:lnTo>
                    <a:pt x="79433" y="1507961"/>
                  </a:lnTo>
                  <a:lnTo>
                    <a:pt x="91439" y="1508760"/>
                  </a:lnTo>
                  <a:lnTo>
                    <a:pt x="2468879" y="1508404"/>
                  </a:lnTo>
                  <a:lnTo>
                    <a:pt x="2514600" y="1496161"/>
                  </a:lnTo>
                  <a:lnTo>
                    <a:pt x="2548077" y="1462684"/>
                  </a:lnTo>
                  <a:lnTo>
                    <a:pt x="2557042" y="1440989"/>
                  </a:lnTo>
                  <a:lnTo>
                    <a:pt x="2557165" y="1440629"/>
                  </a:lnTo>
                  <a:lnTo>
                    <a:pt x="2559446" y="1429325"/>
                  </a:lnTo>
                  <a:lnTo>
                    <a:pt x="2559519" y="1428964"/>
                  </a:lnTo>
                  <a:lnTo>
                    <a:pt x="2560296" y="1417320"/>
                  </a:lnTo>
                  <a:lnTo>
                    <a:pt x="2560319" y="1416964"/>
                  </a:lnTo>
                  <a:lnTo>
                    <a:pt x="2559951" y="91440"/>
                  </a:lnTo>
                  <a:lnTo>
                    <a:pt x="2547721" y="45720"/>
                  </a:lnTo>
                  <a:lnTo>
                    <a:pt x="2514231" y="12242"/>
                  </a:lnTo>
                  <a:lnTo>
                    <a:pt x="2480518" y="798"/>
                  </a:lnTo>
                  <a:lnTo>
                    <a:pt x="24685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052204" y="1554479"/>
              <a:ext cx="2560320" cy="1508760"/>
            </a:xfrm>
            <a:custGeom>
              <a:avLst/>
              <a:gdLst/>
              <a:ahLst/>
              <a:cxnLst/>
              <a:rect l="l" t="t" r="r" b="b"/>
              <a:pathLst>
                <a:path w="2560320" h="1508760">
                  <a:moveTo>
                    <a:pt x="0" y="91440"/>
                  </a:moveTo>
                  <a:lnTo>
                    <a:pt x="798" y="79434"/>
                  </a:lnTo>
                  <a:lnTo>
                    <a:pt x="3148" y="67770"/>
                  </a:lnTo>
                  <a:lnTo>
                    <a:pt x="26679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2468511" y="0"/>
                  </a:lnTo>
                  <a:lnTo>
                    <a:pt x="2514231" y="12242"/>
                  </a:lnTo>
                  <a:lnTo>
                    <a:pt x="2547721" y="45720"/>
                  </a:lnTo>
                  <a:lnTo>
                    <a:pt x="2559951" y="91440"/>
                  </a:lnTo>
                  <a:lnTo>
                    <a:pt x="2560319" y="1416964"/>
                  </a:lnTo>
                  <a:lnTo>
                    <a:pt x="2559519" y="1428964"/>
                  </a:lnTo>
                  <a:lnTo>
                    <a:pt x="2557165" y="1440629"/>
                  </a:lnTo>
                  <a:lnTo>
                    <a:pt x="2533629" y="1481713"/>
                  </a:lnTo>
                  <a:lnTo>
                    <a:pt x="2492544" y="1505250"/>
                  </a:lnTo>
                  <a:lnTo>
                    <a:pt x="91439" y="1508760"/>
                  </a:lnTo>
                  <a:lnTo>
                    <a:pt x="45719" y="1496517"/>
                  </a:lnTo>
                  <a:lnTo>
                    <a:pt x="12230" y="1463040"/>
                  </a:lnTo>
                  <a:lnTo>
                    <a:pt x="0" y="1417320"/>
                  </a:lnTo>
                  <a:lnTo>
                    <a:pt x="0" y="91440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222384" y="1770024"/>
            <a:ext cx="1998345" cy="894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423A67"/>
                </a:solidFill>
                <a:latin typeface="Verdana"/>
                <a:cs typeface="Verdana"/>
              </a:rPr>
              <a:t>800</a:t>
            </a:r>
            <a:endParaRPr sz="24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75"/>
              </a:spcBef>
            </a:pPr>
            <a:r>
              <a:rPr dirty="0" sz="1200" spc="-30">
                <a:solidFill>
                  <a:srgbClr val="6A648F"/>
                </a:solidFill>
                <a:latin typeface="Verdana"/>
                <a:cs typeface="Verdana"/>
              </a:rPr>
              <a:t>profiles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6A648F"/>
                </a:solidFill>
                <a:latin typeface="Verdana"/>
                <a:cs typeface="Verdana"/>
              </a:rPr>
              <a:t>sampled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6A648F"/>
                </a:solidFill>
                <a:latin typeface="Verdana"/>
                <a:cs typeface="Verdana"/>
              </a:rPr>
              <a:t>for</a:t>
            </a: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the</a:t>
            </a: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6A648F"/>
                </a:solidFill>
                <a:latin typeface="Verdana"/>
                <a:cs typeface="Verdana"/>
              </a:rPr>
              <a:t>ML </a:t>
            </a:r>
            <a:r>
              <a:rPr dirty="0" sz="1200" spc="-10">
                <a:solidFill>
                  <a:srgbClr val="6A648F"/>
                </a:solidFill>
                <a:latin typeface="Verdana"/>
                <a:cs typeface="Verdana"/>
              </a:rPr>
              <a:t>experiment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5584" y="3187344"/>
            <a:ext cx="1086485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Local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archive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kept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separate,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never </a:t>
            </a:r>
            <a:r>
              <a:rPr dirty="0" sz="1300" spc="-80">
                <a:solidFill>
                  <a:srgbClr val="6A648F"/>
                </a:solidFill>
                <a:latin typeface="Verdana"/>
                <a:cs typeface="Verdana"/>
              </a:rPr>
              <a:t>merged: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86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TOLIFE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participants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6A648F"/>
                </a:solidFill>
                <a:latin typeface="Verdana"/>
                <a:cs typeface="Verdana"/>
              </a:rPr>
              <a:t>·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53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BIDMC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relative-</a:t>
            </a:r>
            <a:r>
              <a:rPr dirty="0" sz="1300">
                <a:solidFill>
                  <a:srgbClr val="6A648F"/>
                </a:solidFill>
                <a:latin typeface="Verdana"/>
                <a:cs typeface="Verdana"/>
              </a:rPr>
              <a:t>clock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recordings.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Real-</a:t>
            </a:r>
            <a:r>
              <a:rPr dirty="0" sz="1300" spc="-35">
                <a:solidFill>
                  <a:srgbClr val="6A648F"/>
                </a:solidFill>
                <a:latin typeface="Verdana"/>
                <a:cs typeface="Verdana"/>
              </a:rPr>
              <a:t>person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records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are</a:t>
            </a:r>
            <a:r>
              <a:rPr dirty="0" sz="13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excluded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from</a:t>
            </a:r>
            <a:r>
              <a:rPr dirty="0" sz="1300" spc="-8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6A648F"/>
                </a:solidFill>
                <a:latin typeface="Verdana"/>
                <a:cs typeface="Verdana"/>
              </a:rPr>
              <a:t>the </a:t>
            </a:r>
            <a:r>
              <a:rPr dirty="0" sz="1300" spc="-30">
                <a:solidFill>
                  <a:srgbClr val="6A648F"/>
                </a:solidFill>
                <a:latin typeface="Verdana"/>
                <a:cs typeface="Verdana"/>
              </a:rPr>
              <a:t>public</a:t>
            </a:r>
            <a:r>
              <a:rPr dirty="0" sz="13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repository.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5584" y="3873144"/>
            <a:ext cx="2244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70" b="1">
                <a:solidFill>
                  <a:srgbClr val="423A67"/>
                </a:solidFill>
                <a:latin typeface="Verdana"/>
                <a:cs typeface="Verdana"/>
              </a:rPr>
              <a:t>Next</a:t>
            </a:r>
            <a:r>
              <a:rPr dirty="0" sz="1800" spc="-14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155" b="1">
                <a:solidFill>
                  <a:srgbClr val="423A67"/>
                </a:solidFill>
                <a:latin typeface="Verdana"/>
                <a:cs typeface="Verdana"/>
              </a:rPr>
              <a:t>validation</a:t>
            </a:r>
            <a:r>
              <a:rPr dirty="0" sz="1800" spc="-14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800" spc="-90" b="1">
                <a:solidFill>
                  <a:srgbClr val="423A67"/>
                </a:solidFill>
                <a:latin typeface="Verdana"/>
                <a:cs typeface="Verdana"/>
              </a:rPr>
              <a:t>step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5584" y="4174749"/>
            <a:ext cx="97790" cy="9855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600" spc="-50">
                <a:solidFill>
                  <a:srgbClr val="423A67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600" spc="-50">
                <a:solidFill>
                  <a:srgbClr val="423A67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600" spc="-50">
                <a:solidFill>
                  <a:srgbClr val="423A67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8619" y="4208226"/>
            <a:ext cx="5748655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9390">
              <a:lnSpc>
                <a:spcPct val="131300"/>
              </a:lnSpc>
              <a:spcBef>
                <a:spcPts val="100"/>
              </a:spcBef>
            </a:pPr>
            <a:r>
              <a:rPr dirty="0" sz="1600" spc="-85">
                <a:solidFill>
                  <a:srgbClr val="423A67"/>
                </a:solidFill>
                <a:latin typeface="Verdana"/>
                <a:cs typeface="Verdana"/>
              </a:rPr>
              <a:t>Event-</a:t>
            </a:r>
            <a:r>
              <a:rPr dirty="0" sz="1600" spc="-55">
                <a:solidFill>
                  <a:srgbClr val="423A67"/>
                </a:solidFill>
                <a:latin typeface="Verdana"/>
                <a:cs typeface="Verdana"/>
              </a:rPr>
              <a:t>linked</a:t>
            </a:r>
            <a:r>
              <a:rPr dirty="0" sz="1600" spc="-7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65">
                <a:solidFill>
                  <a:srgbClr val="423A67"/>
                </a:solidFill>
                <a:latin typeface="Verdana"/>
                <a:cs typeface="Verdana"/>
              </a:rPr>
              <a:t>longitudinal </a:t>
            </a:r>
            <a:r>
              <a:rPr dirty="0" sz="1600" spc="-55">
                <a:solidFill>
                  <a:srgbClr val="423A67"/>
                </a:solidFill>
                <a:latin typeface="Verdana"/>
                <a:cs typeface="Verdana"/>
              </a:rPr>
              <a:t>observations</a:t>
            </a:r>
            <a:r>
              <a:rPr dirty="0" sz="1600" spc="-6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70">
                <a:solidFill>
                  <a:srgbClr val="423A67"/>
                </a:solidFill>
                <a:latin typeface="Verdana"/>
                <a:cs typeface="Verdana"/>
              </a:rPr>
              <a:t>with</a:t>
            </a:r>
            <a:r>
              <a:rPr dirty="0" sz="1600" spc="-6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50">
                <a:solidFill>
                  <a:srgbClr val="423A67"/>
                </a:solidFill>
                <a:latin typeface="Verdana"/>
                <a:cs typeface="Verdana"/>
              </a:rPr>
              <a:t>verified</a:t>
            </a:r>
            <a:r>
              <a:rPr dirty="0" sz="1600" spc="-6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30">
                <a:solidFill>
                  <a:srgbClr val="423A67"/>
                </a:solidFill>
                <a:latin typeface="Verdana"/>
                <a:cs typeface="Verdana"/>
              </a:rPr>
              <a:t>timing </a:t>
            </a:r>
            <a:r>
              <a:rPr dirty="0" sz="1600" spc="-50">
                <a:solidFill>
                  <a:srgbClr val="423A67"/>
                </a:solidFill>
                <a:latin typeface="Verdana"/>
                <a:cs typeface="Verdana"/>
              </a:rPr>
              <a:t>Predeclared,</a:t>
            </a:r>
            <a:r>
              <a:rPr dirty="0" sz="1600" spc="-3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70">
                <a:solidFill>
                  <a:srgbClr val="423A67"/>
                </a:solidFill>
                <a:latin typeface="Verdana"/>
                <a:cs typeface="Verdana"/>
              </a:rPr>
              <a:t>patient-</a:t>
            </a:r>
            <a:r>
              <a:rPr dirty="0" sz="1600" spc="-60">
                <a:solidFill>
                  <a:srgbClr val="423A67"/>
                </a:solidFill>
                <a:latin typeface="Verdana"/>
                <a:cs typeface="Verdana"/>
              </a:rPr>
              <a:t>separated</a:t>
            </a:r>
            <a:r>
              <a:rPr dirty="0" sz="1600" spc="-2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423A67"/>
                </a:solidFill>
                <a:latin typeface="Verdana"/>
                <a:cs typeface="Verdana"/>
              </a:rPr>
              <a:t>evaluation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600" spc="-75">
                <a:solidFill>
                  <a:srgbClr val="423A67"/>
                </a:solidFill>
                <a:latin typeface="Verdana"/>
                <a:cs typeface="Verdana"/>
              </a:rPr>
              <a:t>Incident-event</a:t>
            </a:r>
            <a:r>
              <a:rPr dirty="0" sz="1600" spc="-60">
                <a:solidFill>
                  <a:srgbClr val="423A67"/>
                </a:solidFill>
                <a:latin typeface="Verdana"/>
                <a:cs typeface="Verdana"/>
              </a:rPr>
              <a:t> recall,</a:t>
            </a:r>
            <a:r>
              <a:rPr dirty="0" sz="1600" spc="-50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60">
                <a:solidFill>
                  <a:srgbClr val="423A67"/>
                </a:solidFill>
                <a:latin typeface="Verdana"/>
                <a:cs typeface="Verdana"/>
              </a:rPr>
              <a:t>calibration and</a:t>
            </a:r>
            <a:r>
              <a:rPr dirty="0" sz="1600" spc="-5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60">
                <a:solidFill>
                  <a:srgbClr val="423A67"/>
                </a:solidFill>
                <a:latin typeface="Verdana"/>
                <a:cs typeface="Verdana"/>
              </a:rPr>
              <a:t>independent</a:t>
            </a:r>
            <a:r>
              <a:rPr dirty="0" sz="1600" spc="-55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30">
                <a:solidFill>
                  <a:srgbClr val="423A67"/>
                </a:solidFill>
                <a:latin typeface="Verdana"/>
                <a:cs typeface="Verdana"/>
              </a:rPr>
              <a:t>validation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035475" y="3881164"/>
            <a:ext cx="4582160" cy="1976120"/>
            <a:chOff x="7035475" y="3881164"/>
            <a:chExt cx="4582160" cy="1976120"/>
          </a:xfrm>
        </p:grpSpPr>
        <p:sp>
          <p:nvSpPr>
            <p:cNvPr id="31" name="object 31"/>
            <p:cNvSpPr/>
            <p:nvPr/>
          </p:nvSpPr>
          <p:spPr>
            <a:xfrm>
              <a:off x="7040155" y="3885844"/>
              <a:ext cx="4572635" cy="1966595"/>
            </a:xfrm>
            <a:custGeom>
              <a:avLst/>
              <a:gdLst/>
              <a:ahLst/>
              <a:cxnLst/>
              <a:rect l="l" t="t" r="r" b="b"/>
              <a:pathLst>
                <a:path w="4572634" h="1966595">
                  <a:moveTo>
                    <a:pt x="91808" y="0"/>
                  </a:moveTo>
                  <a:lnTo>
                    <a:pt x="46088" y="12230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1874875"/>
                  </a:lnTo>
                  <a:lnTo>
                    <a:pt x="798" y="1886880"/>
                  </a:lnTo>
                  <a:lnTo>
                    <a:pt x="18843" y="1930639"/>
                  </a:lnTo>
                  <a:lnTo>
                    <a:pt x="56512" y="1959329"/>
                  </a:lnTo>
                  <a:lnTo>
                    <a:pt x="91440" y="1966315"/>
                  </a:lnTo>
                  <a:lnTo>
                    <a:pt x="4480928" y="1966315"/>
                  </a:lnTo>
                  <a:lnTo>
                    <a:pt x="4526648" y="1954072"/>
                  </a:lnTo>
                  <a:lnTo>
                    <a:pt x="4560125" y="1920595"/>
                  </a:lnTo>
                  <a:lnTo>
                    <a:pt x="4572368" y="1874875"/>
                  </a:lnTo>
                  <a:lnTo>
                    <a:pt x="4572344" y="91440"/>
                  </a:lnTo>
                  <a:lnTo>
                    <a:pt x="4560125" y="46075"/>
                  </a:lnTo>
                  <a:lnTo>
                    <a:pt x="4526648" y="12598"/>
                  </a:lnTo>
                  <a:lnTo>
                    <a:pt x="44809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040155" y="3885844"/>
              <a:ext cx="4572635" cy="1966595"/>
            </a:xfrm>
            <a:custGeom>
              <a:avLst/>
              <a:gdLst/>
              <a:ahLst/>
              <a:cxnLst/>
              <a:rect l="l" t="t" r="r" b="b"/>
              <a:pathLst>
                <a:path w="4572634" h="1966595">
                  <a:moveTo>
                    <a:pt x="368" y="91440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480928" y="355"/>
                  </a:lnTo>
                  <a:lnTo>
                    <a:pt x="4526648" y="12598"/>
                  </a:lnTo>
                  <a:lnTo>
                    <a:pt x="4560125" y="46075"/>
                  </a:lnTo>
                  <a:lnTo>
                    <a:pt x="4572368" y="91795"/>
                  </a:lnTo>
                  <a:lnTo>
                    <a:pt x="4572368" y="1874875"/>
                  </a:lnTo>
                  <a:lnTo>
                    <a:pt x="4571568" y="1886880"/>
                  </a:lnTo>
                  <a:lnTo>
                    <a:pt x="4569213" y="1898545"/>
                  </a:lnTo>
                  <a:lnTo>
                    <a:pt x="4545677" y="1939634"/>
                  </a:lnTo>
                  <a:lnTo>
                    <a:pt x="4504593" y="1963166"/>
                  </a:lnTo>
                  <a:lnTo>
                    <a:pt x="4480928" y="1966315"/>
                  </a:lnTo>
                  <a:lnTo>
                    <a:pt x="91440" y="1966315"/>
                  </a:lnTo>
                  <a:lnTo>
                    <a:pt x="45720" y="1954072"/>
                  </a:lnTo>
                  <a:lnTo>
                    <a:pt x="12242" y="1920595"/>
                  </a:lnTo>
                  <a:lnTo>
                    <a:pt x="0" y="1874875"/>
                  </a:lnTo>
                  <a:lnTo>
                    <a:pt x="368" y="91440"/>
                  </a:lnTo>
                  <a:close/>
                </a:path>
              </a:pathLst>
            </a:custGeom>
            <a:ln w="9359">
              <a:solidFill>
                <a:srgbClr val="DBD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256424" y="4010304"/>
            <a:ext cx="4087495" cy="1078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50" b="1">
                <a:solidFill>
                  <a:srgbClr val="423A67"/>
                </a:solidFill>
                <a:latin typeface="Verdana"/>
                <a:cs typeface="Verdana"/>
              </a:rPr>
              <a:t>Software</a:t>
            </a:r>
            <a:r>
              <a:rPr dirty="0" sz="1600" spc="-12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1600" spc="-35" b="1">
                <a:solidFill>
                  <a:srgbClr val="423A67"/>
                </a:solidFill>
                <a:latin typeface="Verdana"/>
                <a:cs typeface="Verdana"/>
              </a:rPr>
              <a:t>verification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325"/>
              </a:spcBef>
            </a:pPr>
            <a:r>
              <a:rPr dirty="0" sz="1400" spc="-85">
                <a:solidFill>
                  <a:srgbClr val="6A648F"/>
                </a:solidFill>
                <a:latin typeface="Verdana"/>
                <a:cs typeface="Verdana"/>
              </a:rPr>
              <a:t>75</a:t>
            </a:r>
            <a:r>
              <a:rPr dirty="0" sz="1400" spc="-8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6A648F"/>
                </a:solidFill>
                <a:latin typeface="Verdana"/>
                <a:cs typeface="Verdana"/>
              </a:rPr>
              <a:t>automated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6A648F"/>
                </a:solidFill>
                <a:latin typeface="Verdana"/>
                <a:cs typeface="Verdana"/>
              </a:rPr>
              <a:t>tests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6A648F"/>
                </a:solidFill>
                <a:latin typeface="Verdana"/>
                <a:cs typeface="Verdana"/>
              </a:rPr>
              <a:t>and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A648F"/>
                </a:solidFill>
                <a:latin typeface="Verdana"/>
                <a:cs typeface="Verdana"/>
              </a:rPr>
              <a:t>a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6A648F"/>
                </a:solidFill>
                <a:latin typeface="Verdana"/>
                <a:cs typeface="Verdana"/>
              </a:rPr>
              <a:t>production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A648F"/>
                </a:solidFill>
                <a:latin typeface="Verdana"/>
                <a:cs typeface="Verdana"/>
              </a:rPr>
              <a:t>build </a:t>
            </a:r>
            <a:r>
              <a:rPr dirty="0" sz="1400" spc="-25">
                <a:solidFill>
                  <a:srgbClr val="6A648F"/>
                </a:solidFill>
                <a:latin typeface="Verdana"/>
                <a:cs typeface="Verdana"/>
              </a:rPr>
              <a:t>passed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6A648F"/>
                </a:solidFill>
                <a:latin typeface="Verdana"/>
                <a:cs typeface="Verdana"/>
              </a:rPr>
              <a:t>for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6A648F"/>
                </a:solidFill>
                <a:latin typeface="Verdana"/>
                <a:cs typeface="Verdana"/>
              </a:rPr>
              <a:t>the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6A648F"/>
                </a:solidFill>
                <a:latin typeface="Verdana"/>
                <a:cs typeface="Verdana"/>
              </a:rPr>
              <a:t>public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6A648F"/>
                </a:solidFill>
                <a:latin typeface="Verdana"/>
                <a:cs typeface="Verdana"/>
              </a:rPr>
              <a:t>export.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6A648F"/>
                </a:solidFill>
                <a:latin typeface="Verdana"/>
                <a:cs typeface="Verdana"/>
              </a:rPr>
              <a:t>This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6A648F"/>
                </a:solidFill>
                <a:latin typeface="Verdana"/>
                <a:cs typeface="Verdana"/>
              </a:rPr>
              <a:t>is</a:t>
            </a:r>
            <a:r>
              <a:rPr dirty="0" sz="1400" spc="-7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6A648F"/>
                </a:solidFill>
                <a:latin typeface="Verdana"/>
                <a:cs typeface="Verdana"/>
              </a:rPr>
              <a:t>engineering </a:t>
            </a:r>
            <a:r>
              <a:rPr dirty="0" sz="1400" spc="-50">
                <a:solidFill>
                  <a:srgbClr val="6A648F"/>
                </a:solidFill>
                <a:latin typeface="Verdana"/>
                <a:cs typeface="Verdana"/>
              </a:rPr>
              <a:t>verification,</a:t>
            </a:r>
            <a:r>
              <a:rPr dirty="0" sz="1400" spc="-6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6A648F"/>
                </a:solidFill>
                <a:latin typeface="Verdana"/>
                <a:cs typeface="Verdana"/>
              </a:rPr>
              <a:t>not </a:t>
            </a:r>
            <a:r>
              <a:rPr dirty="0" sz="1400" spc="-25">
                <a:solidFill>
                  <a:srgbClr val="6A648F"/>
                </a:solidFill>
                <a:latin typeface="Verdana"/>
                <a:cs typeface="Verdana"/>
              </a:rPr>
              <a:t>clinical</a:t>
            </a:r>
            <a:r>
              <a:rPr dirty="0" sz="14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6A648F"/>
                </a:solidFill>
                <a:latin typeface="Verdana"/>
                <a:cs typeface="Verdana"/>
              </a:rPr>
              <a:t>validation.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5584" y="6022340"/>
            <a:ext cx="5055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5">
                <a:solidFill>
                  <a:srgbClr val="6A648F"/>
                </a:solidFill>
                <a:latin typeface="Verdana"/>
                <a:cs typeface="Verdana"/>
              </a:rPr>
              <a:t>Team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6A648F"/>
                </a:solidFill>
                <a:latin typeface="Verdana"/>
                <a:cs typeface="Verdana"/>
              </a:rPr>
              <a:t>code</a:t>
            </a:r>
            <a:r>
              <a:rPr dirty="0" sz="12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MIT-</a:t>
            </a:r>
            <a:r>
              <a:rPr dirty="0" sz="1200" spc="-40">
                <a:solidFill>
                  <a:srgbClr val="6A648F"/>
                </a:solidFill>
                <a:latin typeface="Verdana"/>
                <a:cs typeface="Verdana"/>
              </a:rPr>
              <a:t>licensed;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upstream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A648F"/>
                </a:solidFill>
                <a:latin typeface="Verdana"/>
                <a:cs typeface="Verdana"/>
              </a:rPr>
              <a:t>dataset</a:t>
            </a:r>
            <a:r>
              <a:rPr dirty="0" sz="12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6A648F"/>
                </a:solidFill>
                <a:latin typeface="Verdana"/>
                <a:cs typeface="Verdana"/>
              </a:rPr>
              <a:t>terms</a:t>
            </a:r>
            <a:r>
              <a:rPr dirty="0" sz="12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6A648F"/>
                </a:solidFill>
                <a:latin typeface="Verdana"/>
                <a:cs typeface="Verdana"/>
              </a:rPr>
              <a:t>remain</a:t>
            </a:r>
            <a:r>
              <a:rPr dirty="0" sz="12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200" spc="-30">
                <a:solidFill>
                  <a:srgbClr val="6A648F"/>
                </a:solidFill>
                <a:latin typeface="Verdana"/>
                <a:cs typeface="Verdana"/>
              </a:rPr>
              <a:t>Apache-</a:t>
            </a:r>
            <a:r>
              <a:rPr dirty="0" sz="1200" spc="-20">
                <a:solidFill>
                  <a:srgbClr val="6A648F"/>
                </a:solidFill>
                <a:latin typeface="Verdana"/>
                <a:cs typeface="Verdana"/>
              </a:rPr>
              <a:t>2.0.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50"/>
              <a:t>Pulmira</a:t>
            </a:r>
            <a:r>
              <a:rPr dirty="0" spc="-55"/>
              <a:t> </a:t>
            </a:r>
            <a:r>
              <a:rPr dirty="0" spc="-85"/>
              <a:t>·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73344" y="1084211"/>
            <a:ext cx="589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 </a:t>
            </a:r>
            <a:r>
              <a:rPr dirty="0" sz="1200" spc="-55" b="1">
                <a:solidFill>
                  <a:srgbClr val="7B5BFF"/>
                </a:solidFill>
                <a:latin typeface="Verdana"/>
                <a:cs typeface="Verdana"/>
              </a:rPr>
              <a:t>A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M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6400" y="1554480"/>
            <a:ext cx="6035040" cy="635"/>
          </a:xfrm>
          <a:custGeom>
            <a:avLst/>
            <a:gdLst/>
            <a:ahLst/>
            <a:cxnLst/>
            <a:rect l="l" t="t" r="r" b="b"/>
            <a:pathLst>
              <a:path w="6035040" h="634">
                <a:moveTo>
                  <a:pt x="0" y="0"/>
                </a:moveTo>
                <a:lnTo>
                  <a:pt x="6035040" y="355"/>
                </a:lnTo>
              </a:path>
            </a:pathLst>
          </a:custGeom>
          <a:ln w="12599">
            <a:solidFill>
              <a:srgbClr val="DBD5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473344" y="1754898"/>
            <a:ext cx="3085465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20"/>
              <a:t>Guruyugan</a:t>
            </a:r>
            <a:r>
              <a:rPr dirty="0" sz="2600" spc="-204"/>
              <a:t> </a:t>
            </a:r>
            <a:r>
              <a:rPr dirty="0" sz="2600" spc="-195"/>
              <a:t>Karthik</a:t>
            </a:r>
            <a:endParaRPr sz="2600"/>
          </a:p>
        </p:txBody>
      </p:sp>
      <p:sp>
        <p:nvSpPr>
          <p:cNvPr id="6" name="object 6"/>
          <p:cNvSpPr/>
          <p:nvPr/>
        </p:nvSpPr>
        <p:spPr>
          <a:xfrm>
            <a:off x="5486400" y="2377439"/>
            <a:ext cx="6035040" cy="635"/>
          </a:xfrm>
          <a:custGeom>
            <a:avLst/>
            <a:gdLst/>
            <a:ahLst/>
            <a:cxnLst/>
            <a:rect l="l" t="t" r="r" b="b"/>
            <a:pathLst>
              <a:path w="6035040" h="635">
                <a:moveTo>
                  <a:pt x="0" y="0"/>
                </a:moveTo>
                <a:lnTo>
                  <a:pt x="6035040" y="355"/>
                </a:lnTo>
              </a:path>
            </a:pathLst>
          </a:custGeom>
          <a:ln w="12599">
            <a:solidFill>
              <a:srgbClr val="DBD5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 txBox="1"/>
          <p:nvPr/>
        </p:nvSpPr>
        <p:spPr>
          <a:xfrm>
            <a:off x="672744" y="2532138"/>
            <a:ext cx="3108960" cy="1427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440" b="1">
                <a:solidFill>
                  <a:srgbClr val="FFFFFF"/>
                </a:solidFill>
                <a:latin typeface="Verdana"/>
                <a:cs typeface="Verdana"/>
              </a:rPr>
              <a:t>Pulmira</a:t>
            </a:r>
            <a:endParaRPr sz="4400">
              <a:latin typeface="Verdana"/>
              <a:cs typeface="Verdana"/>
            </a:endParaRPr>
          </a:p>
          <a:p>
            <a:pPr marL="58419" marR="5080">
              <a:lnSpc>
                <a:spcPct val="131200"/>
              </a:lnSpc>
              <a:spcBef>
                <a:spcPts val="715"/>
              </a:spcBef>
            </a:pPr>
            <a:r>
              <a:rPr dirty="0" sz="1600" spc="-70">
                <a:solidFill>
                  <a:srgbClr val="E9E5FF"/>
                </a:solidFill>
                <a:latin typeface="Verdana"/>
                <a:cs typeface="Verdana"/>
              </a:rPr>
              <a:t>Digital</a:t>
            </a:r>
            <a:r>
              <a:rPr dirty="0" sz="1600" spc="-10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600" spc="-55">
                <a:solidFill>
                  <a:srgbClr val="E9E5FF"/>
                </a:solidFill>
                <a:latin typeface="Verdana"/>
                <a:cs typeface="Verdana"/>
              </a:rPr>
              <a:t>Twin</a:t>
            </a:r>
            <a:r>
              <a:rPr dirty="0" sz="1600" spc="-10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600" spc="-45">
                <a:solidFill>
                  <a:srgbClr val="E9E5FF"/>
                </a:solidFill>
                <a:latin typeface="Verdana"/>
                <a:cs typeface="Verdana"/>
              </a:rPr>
              <a:t>Challenge</a:t>
            </a:r>
            <a:r>
              <a:rPr dirty="0" sz="1600" spc="-9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600" spc="-20">
                <a:solidFill>
                  <a:srgbClr val="E9E5FF"/>
                </a:solidFill>
                <a:latin typeface="Verdana"/>
                <a:cs typeface="Verdana"/>
              </a:rPr>
              <a:t>2026 </a:t>
            </a:r>
            <a:r>
              <a:rPr dirty="0" sz="1600" spc="-55">
                <a:solidFill>
                  <a:srgbClr val="E9E5FF"/>
                </a:solidFill>
                <a:latin typeface="Verdana"/>
                <a:cs typeface="Verdana"/>
              </a:rPr>
              <a:t>Chennai</a:t>
            </a:r>
            <a:r>
              <a:rPr dirty="0" sz="1600" spc="-9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600" spc="-100">
                <a:solidFill>
                  <a:srgbClr val="E9E5FF"/>
                </a:solidFill>
                <a:latin typeface="Verdana"/>
                <a:cs typeface="Verdana"/>
              </a:rPr>
              <a:t>Institute</a:t>
            </a:r>
            <a:r>
              <a:rPr dirty="0" sz="1600" spc="-85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E9E5FF"/>
                </a:solidFill>
                <a:latin typeface="Verdana"/>
                <a:cs typeface="Verdana"/>
              </a:rPr>
              <a:t>of</a:t>
            </a:r>
            <a:r>
              <a:rPr dirty="0" sz="1600" spc="-90">
                <a:solidFill>
                  <a:srgbClr val="E9E5FF"/>
                </a:solidFill>
                <a:latin typeface="Verdana"/>
                <a:cs typeface="Verdana"/>
              </a:rPr>
              <a:t> </a:t>
            </a:r>
            <a:r>
              <a:rPr dirty="0" sz="1600" spc="-30">
                <a:solidFill>
                  <a:srgbClr val="E9E5FF"/>
                </a:solidFill>
                <a:latin typeface="Verdana"/>
                <a:cs typeface="Verdana"/>
              </a:rPr>
              <a:t>Technology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3344" y="2577858"/>
            <a:ext cx="200025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45" b="1">
                <a:solidFill>
                  <a:srgbClr val="423A67"/>
                </a:solidFill>
                <a:latin typeface="Verdana"/>
                <a:cs typeface="Verdana"/>
              </a:rPr>
              <a:t>Harishram</a:t>
            </a:r>
            <a:r>
              <a:rPr dirty="0" sz="2600" spc="-22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2600" spc="-310" b="1">
                <a:solidFill>
                  <a:srgbClr val="423A67"/>
                </a:solidFill>
                <a:latin typeface="Verdana"/>
                <a:cs typeface="Verdana"/>
              </a:rPr>
              <a:t>B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86400" y="3200400"/>
            <a:ext cx="6035040" cy="635"/>
          </a:xfrm>
          <a:custGeom>
            <a:avLst/>
            <a:gdLst/>
            <a:ahLst/>
            <a:cxnLst/>
            <a:rect l="l" t="t" r="r" b="b"/>
            <a:pathLst>
              <a:path w="6035040" h="635">
                <a:moveTo>
                  <a:pt x="0" y="0"/>
                </a:moveTo>
                <a:lnTo>
                  <a:pt x="6035040" y="355"/>
                </a:lnTo>
              </a:path>
            </a:pathLst>
          </a:custGeom>
          <a:ln w="12599">
            <a:solidFill>
              <a:srgbClr val="DBD5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73344" y="3400818"/>
            <a:ext cx="309435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50" b="1">
                <a:solidFill>
                  <a:srgbClr val="423A67"/>
                </a:solidFill>
                <a:latin typeface="Verdana"/>
                <a:cs typeface="Verdana"/>
              </a:rPr>
              <a:t>Harihara</a:t>
            </a:r>
            <a:r>
              <a:rPr dirty="0" sz="2600" spc="-220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2600" spc="-195" b="1">
                <a:solidFill>
                  <a:srgbClr val="423A67"/>
                </a:solidFill>
                <a:latin typeface="Verdana"/>
                <a:cs typeface="Verdana"/>
              </a:rPr>
              <a:t>Srinivas</a:t>
            </a:r>
            <a:r>
              <a:rPr dirty="0" sz="2600" spc="-215" b="1">
                <a:solidFill>
                  <a:srgbClr val="423A67"/>
                </a:solidFill>
                <a:latin typeface="Verdana"/>
                <a:cs typeface="Verdana"/>
              </a:rPr>
              <a:t> </a:t>
            </a:r>
            <a:r>
              <a:rPr dirty="0" sz="2600" spc="-50" b="1">
                <a:solidFill>
                  <a:srgbClr val="423A67"/>
                </a:solidFill>
                <a:latin typeface="Verdana"/>
                <a:cs typeface="Verdana"/>
              </a:rPr>
              <a:t>T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73344" y="4284611"/>
            <a:ext cx="1339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r>
              <a:rPr dirty="0" sz="1200" spc="-114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E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05" b="1">
                <a:solidFill>
                  <a:srgbClr val="7B5BFF"/>
                </a:solidFill>
                <a:latin typeface="Verdana"/>
                <a:cs typeface="Verdana"/>
              </a:rPr>
              <a:t>P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O </a:t>
            </a:r>
            <a:r>
              <a:rPr dirty="0" sz="1200" spc="-75" b="1">
                <a:solidFill>
                  <a:srgbClr val="7B5BFF"/>
                </a:solidFill>
                <a:latin typeface="Verdana"/>
                <a:cs typeface="Verdana"/>
              </a:rPr>
              <a:t>S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320" b="1">
                <a:solidFill>
                  <a:srgbClr val="7B5BFF"/>
                </a:solidFill>
                <a:latin typeface="Verdana"/>
                <a:cs typeface="Verdana"/>
              </a:rPr>
              <a:t>I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7B5BFF"/>
                </a:solidFill>
                <a:latin typeface="Verdana"/>
                <a:cs typeface="Verdana"/>
              </a:rPr>
              <a:t>T</a:t>
            </a:r>
            <a:r>
              <a:rPr dirty="0" sz="1200" spc="-14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7B5BFF"/>
                </a:solidFill>
                <a:latin typeface="Verdana"/>
                <a:cs typeface="Verdana"/>
              </a:rPr>
              <a:t>O </a:t>
            </a:r>
            <a:r>
              <a:rPr dirty="0" sz="1200" spc="-150" b="1">
                <a:solidFill>
                  <a:srgbClr val="7B5BFF"/>
                </a:solidFill>
                <a:latin typeface="Verdana"/>
                <a:cs typeface="Verdana"/>
              </a:rPr>
              <a:t>R</a:t>
            </a:r>
            <a:r>
              <a:rPr dirty="0" sz="1200" spc="-145" b="1">
                <a:solidFill>
                  <a:srgbClr val="7B5BFF"/>
                </a:solidFill>
                <a:latin typeface="Verdana"/>
                <a:cs typeface="Verdana"/>
              </a:rPr>
              <a:t> </a:t>
            </a:r>
            <a:r>
              <a:rPr dirty="0" sz="1200" spc="-50" b="1">
                <a:solidFill>
                  <a:srgbClr val="7B5BFF"/>
                </a:solidFill>
                <a:latin typeface="Verdana"/>
                <a:cs typeface="Verdana"/>
              </a:rPr>
              <a:t>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3344" y="4725251"/>
            <a:ext cx="52381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spc="-85">
                <a:solidFill>
                  <a:srgbClr val="423A67"/>
                </a:solidFill>
                <a:uFill>
                  <a:solidFill>
                    <a:srgbClr val="423A67"/>
                  </a:solidFill>
                </a:uFill>
                <a:latin typeface="Verdana"/>
                <a:cs typeface="Verdana"/>
                <a:hlinkClick r:id="rId2"/>
              </a:rPr>
              <a:t>github.com/GuruyuganKarthik8377/Pulmira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73344" y="5747664"/>
            <a:ext cx="432752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Local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research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6A648F"/>
                </a:solidFill>
                <a:latin typeface="Verdana"/>
                <a:cs typeface="Verdana"/>
              </a:rPr>
              <a:t>prototype.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6A648F"/>
                </a:solidFill>
                <a:latin typeface="Verdana"/>
                <a:cs typeface="Verdana"/>
              </a:rPr>
              <a:t>Fictional</a:t>
            </a:r>
            <a:r>
              <a:rPr dirty="0" sz="1300" spc="-45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6A648F"/>
                </a:solidFill>
                <a:latin typeface="Verdana"/>
                <a:cs typeface="Verdana"/>
              </a:rPr>
              <a:t>demonstration</a:t>
            </a:r>
            <a:r>
              <a:rPr dirty="0" sz="1300" spc="-50">
                <a:solidFill>
                  <a:srgbClr val="6A648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648F"/>
                </a:solidFill>
                <a:latin typeface="Verdana"/>
                <a:cs typeface="Verdana"/>
              </a:rPr>
              <a:t>data.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23A6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Pulmira — Digital Twin Challenge 2026</dc:title>
  <dcterms:created xsi:type="dcterms:W3CDTF">2026-10-19T05:38:25Z</dcterms:created>
  <dcterms:modified xsi:type="dcterms:W3CDTF">2026-10-19T05:38:25Z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2026-10-19T00:00:00Z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25.2.6.2 (X86_64) / LibreOffice Community</vt:lpwstr>
  </property>
  <property fmtid="{D5CDD505-2E9C-101B-9397-08002B2CF9AE}" pid="6" name="LastSaved">
    <vt:filetime>2026-10-19T00:00:00Z</vt:filetime>
  </property>
</Properties>
</file>