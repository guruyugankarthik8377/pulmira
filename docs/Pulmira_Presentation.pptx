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4ae26aed3f435e" /><Relationship Type="http://schemas.openxmlformats.org/officeDocument/2006/relationships/extended-properties" Target="/docProps/app.xml" Id="Rf19f36e3982a4d33" /><Relationship Type="http://schemas.openxmlformats.org/officeDocument/2006/relationships/officeDocument" Target="/ppt/presentation.xml" Id="R0a598e8ead0a4c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6d73570de348c2"/>
  </p:sldMasterIdLst>
  <p:notesMasterIdLst>
    <p:notesMasterId xmlns:r="http://schemas.openxmlformats.org/officeDocument/2006/relationships" r:id="R689081d3da8a4b27"/>
  </p:notesMasterIdLst>
  <p:sldIdLst>
    <p:sldId xmlns:r="http://schemas.openxmlformats.org/officeDocument/2006/relationships" id="256" r:id="R11a3fc3aaa4f483f"/>
    <p:sldId xmlns:r="http://schemas.openxmlformats.org/officeDocument/2006/relationships" id="257" r:id="Rdce3602108a64a36"/>
    <p:sldId xmlns:r="http://schemas.openxmlformats.org/officeDocument/2006/relationships" id="258" r:id="R19436f58861344c6"/>
    <p:sldId xmlns:r="http://schemas.openxmlformats.org/officeDocument/2006/relationships" id="259" r:id="R310a90be71704898"/>
    <p:sldId xmlns:r="http://schemas.openxmlformats.org/officeDocument/2006/relationships" id="260" r:id="R5541b4e1d68848d0"/>
    <p:sldId xmlns:r="http://schemas.openxmlformats.org/officeDocument/2006/relationships" id="261" r:id="Rd39939e73b0a4170"/>
    <p:sldId xmlns:r="http://schemas.openxmlformats.org/officeDocument/2006/relationships" id="262" r:id="R21b20ca598f245dd"/>
    <p:sldId xmlns:r="http://schemas.openxmlformats.org/officeDocument/2006/relationships" id="263" r:id="R25924ad3503e49a1"/>
    <p:sldId xmlns:r="http://schemas.openxmlformats.org/officeDocument/2006/relationships" id="264" r:id="R25803cd6d515447f"/>
    <p:sldId xmlns:r="http://schemas.openxmlformats.org/officeDocument/2006/relationships" id="265" r:id="R5d24c8bc2b33429d"/>
    <p:sldId xmlns:r="http://schemas.openxmlformats.org/officeDocument/2006/relationships" id="266" r:id="Rfe9bb11504b04e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f95498c3b94345" /><Relationship Type="http://schemas.openxmlformats.org/officeDocument/2006/relationships/slideMaster" Target="/ppt/slideMasters/slideMaster1.xml" Id="R9e6d73570de348c2" /><Relationship Type="http://schemas.openxmlformats.org/officeDocument/2006/relationships/notesMaster" Target="/ppt/notesMasters/notesMaster1.xml" Id="R689081d3da8a4b27" /><Relationship Type="http://schemas.openxmlformats.org/officeDocument/2006/relationships/presProps" Target="/ppt/presProps.xml" Id="Rf0ddd2765bd64bf7" /><Relationship Type="http://schemas.openxmlformats.org/officeDocument/2006/relationships/tableStyles" Target="/ppt/tableStyles.xml" Id="Rf483bd231c4b4af3" /><Relationship Type="http://schemas.openxmlformats.org/officeDocument/2006/relationships/slide" Target="/ppt/slides/slide1.xml" Id="R11a3fc3aaa4f483f" /><Relationship Type="http://schemas.openxmlformats.org/officeDocument/2006/relationships/slide" Target="/ppt/slides/slide2.xml" Id="Rdce3602108a64a36" /><Relationship Type="http://schemas.openxmlformats.org/officeDocument/2006/relationships/slide" Target="/ppt/slides/slide3.xml" Id="R19436f58861344c6" /><Relationship Type="http://schemas.openxmlformats.org/officeDocument/2006/relationships/slide" Target="/ppt/slides/slide4.xml" Id="R310a90be71704898" /><Relationship Type="http://schemas.openxmlformats.org/officeDocument/2006/relationships/slide" Target="/ppt/slides/slide5.xml" Id="R5541b4e1d68848d0" /><Relationship Type="http://schemas.openxmlformats.org/officeDocument/2006/relationships/slide" Target="/ppt/slides/slide6.xml" Id="Rd39939e73b0a4170" /><Relationship Type="http://schemas.openxmlformats.org/officeDocument/2006/relationships/slide" Target="/ppt/slides/slide7.xml" Id="R21b20ca598f245dd" /><Relationship Type="http://schemas.openxmlformats.org/officeDocument/2006/relationships/slide" Target="/ppt/slides/slide8.xml" Id="R25924ad3503e49a1" /><Relationship Type="http://schemas.openxmlformats.org/officeDocument/2006/relationships/slide" Target="/ppt/slides/slide9.xml" Id="R25803cd6d515447f" /><Relationship Type="http://schemas.openxmlformats.org/officeDocument/2006/relationships/slide" Target="/ppt/slides/slide10.xml" Id="R5d24c8bc2b33429d" /><Relationship Type="http://schemas.openxmlformats.org/officeDocument/2006/relationships/slide" Target="/ppt/slides/slide11.xml" Id="Rfe9bb11504b04e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124bb758de40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281df96d2a44f1" /><Relationship Type="http://schemas.openxmlformats.org/officeDocument/2006/relationships/notesMaster" Target="/ppt/notesMasters/notesMaster1.xml" Id="Re66e567ea22c47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bf0ddcc8c04b8e" /><Relationship Type="http://schemas.openxmlformats.org/officeDocument/2006/relationships/notesMaster" Target="/ppt/notesMasters/notesMaster1.xml" Id="R52c42b30cda640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276d76d37547cd" /><Relationship Type="http://schemas.openxmlformats.org/officeDocument/2006/relationships/notesMaster" Target="/ppt/notesMasters/notesMaster1.xml" Id="R1ee1a502342a43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435b49a48b4dda" /><Relationship Type="http://schemas.openxmlformats.org/officeDocument/2006/relationships/notesMaster" Target="/ppt/notesMasters/notesMaster1.xml" Id="Rf2652fdfa3ff4a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af62c0a1f14417" /><Relationship Type="http://schemas.openxmlformats.org/officeDocument/2006/relationships/notesMaster" Target="/ppt/notesMasters/notesMaster1.xml" Id="R7871b0b508bc44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c7b39e9fa44cd1" /><Relationship Type="http://schemas.openxmlformats.org/officeDocument/2006/relationships/notesMaster" Target="/ppt/notesMasters/notesMaster1.xml" Id="Rdf4859c3c5704a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7808c341b3431d" /><Relationship Type="http://schemas.openxmlformats.org/officeDocument/2006/relationships/notesMaster" Target="/ppt/notesMasters/notesMaster1.xml" Id="R1994c317020543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cdcae9014b44a5" /><Relationship Type="http://schemas.openxmlformats.org/officeDocument/2006/relationships/notesMaster" Target="/ppt/notesMasters/notesMaster1.xml" Id="R48bc21d65aea44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37b930ce864033" /><Relationship Type="http://schemas.openxmlformats.org/officeDocument/2006/relationships/notesMaster" Target="/ppt/notesMasters/notesMaster1.xml" Id="R3fa882a92b4a451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df08ebc1fd45af" /><Relationship Type="http://schemas.openxmlformats.org/officeDocument/2006/relationships/notesMaster" Target="/ppt/notesMasters/notesMaster1.xml" Id="R223381eb9e4942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c9b8d76a3af4114" /><Relationship Type="http://schemas.openxmlformats.org/officeDocument/2006/relationships/notesMaster" Target="/ppt/notesMasters/notesMaster1.xml" Id="Re1fca2d97cd648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backend/app/main.py, store.py, outlook7.py, simulator.py, forecast24.py; backend/vendor/forecast24/manifest.json; research/reports/forecast24_v1/MODEL_CARD.md. All ML metrics describe a synthetic study. Seven-day points are unvalidated, never exacerbation probability. See THIRD_PARTY_NOTICES.md for the verified Apache-2.0 dataset source and pending artwork rights. The public export excludes real-person records. The diagram summarizes separate component flows; the standalone architecture PDF shows exact API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33f2979a1545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7151e3e0c427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308176d3b546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f7da98391340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777af651fa42c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b332fc99c340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98EC35-B07C-41E5-B9BB-33CA489611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60B7D9C-5072-4024-829A-40F240D5E9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3322DD0-2CF6-492F-812A-86AE6FD323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28BEB8-BBA3-43AF-9CD1-F97F583FA6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E8186E6-5786-48D0-AF65-35C38187E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089F401-8D58-457A-9FAF-675A4FD836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4E4DA3F-695C-414F-AE0A-BB53303539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A5D63C3-8FF2-4B00-B123-48D45D564A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955E58E-91AD-43E7-AD23-E2E8A4889F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9D1E001-3887-4429-80EA-41F67D05A9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359df1fd75406c" /><Relationship Type="http://schemas.openxmlformats.org/officeDocument/2006/relationships/slideLayout" Target="/ppt/slideLayouts/slideLayout1.xml" Id="R8ec1f1515c8f404a" /><Relationship Type="http://schemas.openxmlformats.org/officeDocument/2006/relationships/slideLayout" Target="/ppt/slideLayouts/slideLayout2.xml" Id="Rd4cfcb3d24734df1" /><Relationship Type="http://schemas.openxmlformats.org/officeDocument/2006/relationships/slideLayout" Target="/ppt/slideLayouts/slideLayout3.xml" Id="R9a4866ea66bb4405" /><Relationship Type="http://schemas.openxmlformats.org/officeDocument/2006/relationships/slideLayout" Target="/ppt/slideLayouts/slideLayout4.xml" Id="Re417046307514cb8" /><Relationship Type="http://schemas.openxmlformats.org/officeDocument/2006/relationships/slideLayout" Target="/ppt/slideLayouts/slideLayout5.xml" Id="Rd1af418a077c43e2" /><Relationship Type="http://schemas.openxmlformats.org/officeDocument/2006/relationships/slideLayout" Target="/ppt/slideLayouts/slideLayout6.xml" Id="Rd60531ab646542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c1f1515c8f404a"/>
    <p:sldLayoutId xmlns:r="http://schemas.openxmlformats.org/officeDocument/2006/relationships" id="2147483650" r:id="Rd4cfcb3d24734df1"/>
    <p:sldLayoutId xmlns:r="http://schemas.openxmlformats.org/officeDocument/2006/relationships" id="2147483651" r:id="R9a4866ea66bb4405"/>
    <p:sldLayoutId xmlns:r="http://schemas.openxmlformats.org/officeDocument/2006/relationships" id="2147483652" r:id="Re417046307514cb8"/>
    <p:sldLayoutId xmlns:r="http://schemas.openxmlformats.org/officeDocument/2006/relationships" id="2147483653" r:id="Rd1af418a077c43e2"/>
    <p:sldLayoutId xmlns:r="http://schemas.openxmlformats.org/officeDocument/2006/relationships" id="2147483654" r:id="Rd60531ab646542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34f6f9895c4335" /><Relationship Type="http://schemas.openxmlformats.org/officeDocument/2006/relationships/notesSlide" Target="/ppt/notesSlides/notesSlide1.xml" Id="R9baa860cbcdf4a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f51ca060034275" /><Relationship Type="http://schemas.openxmlformats.org/officeDocument/2006/relationships/notesSlide" Target="/ppt/notesSlides/notesSlide2.xml" Id="Rab5ef505afb04a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bcb70a73944355" /><Relationship Type="http://schemas.openxmlformats.org/officeDocument/2006/relationships/notesSlide" Target="/ppt/notesSlides/notesSlide3.xml" Id="Rad2d6b9e1b6543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14fa09fd284b94" /><Relationship Type="http://schemas.openxmlformats.org/officeDocument/2006/relationships/notesSlide" Target="/ppt/notesSlides/notesSlide4.xml" Id="R04c8dc97359341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57cafdf7814577" /><Relationship Type="http://schemas.openxmlformats.org/officeDocument/2006/relationships/notesSlide" Target="/ppt/notesSlides/notesSlide5.xml" Id="R87af4c20a8df44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6c8f2fb84a43df" /><Relationship Type="http://schemas.openxmlformats.org/officeDocument/2006/relationships/notesSlide" Target="/ppt/notesSlides/notesSlide6.xml" Id="Rf5509cceedbe4b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c23b5275544c90" /><Relationship Type="http://schemas.openxmlformats.org/officeDocument/2006/relationships/notesSlide" Target="/ppt/notesSlides/notesSlide7.xml" Id="Raaaa017318a745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c008eb0a994348" /><Relationship Type="http://schemas.openxmlformats.org/officeDocument/2006/relationships/notesSlide" Target="/ppt/notesSlides/notesSlide8.xml" Id="R4712c320e19140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16b78848f34528" /><Relationship Type="http://schemas.openxmlformats.org/officeDocument/2006/relationships/notesSlide" Target="/ppt/notesSlides/notesSlide9.xml" Id="R2296ef3649d945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42e8016e8e4eb7" /><Relationship Type="http://schemas.openxmlformats.org/officeDocument/2006/relationships/notesSlide" Target="/ppt/notesSlides/notesSlide10.xml" Id="R8c10ce6fe50641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016e690cc24f31" /><Relationship Type="http://schemas.openxmlformats.org/officeDocument/2006/relationships/notesSlide" Target="/ppt/notesSlides/notesSlide11.xml" Id="Rd887a394f29a46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47A8A-294B-46B4-85B3-B3579BB2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Pulmira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86D34-EFEF-4DEF-95E2-F094E4ED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86F1D-E66D-4133-A605-CA21DB8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55198-2EA9-409A-9319-7C4F669B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7660B9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7660B9"/>
                </a:solidFill>
                <a:latin typeface="Arial"/>
                <a:ea typeface="Arial"/>
                <a:cs typeface="Arial"/>
              </a:rPr>
              <a:t>An observation-led respiratory digital twin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D1E31-E9F1-4ECC-94A0-917F5427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COPD monitoring research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482D3-FFAF-4D6B-A461-9EDE60B6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Guruyugan Karthik</a:t>
            </a:r>
          </a:p>
          <a:p xmlns:a="http://schemas.openxmlformats.org/drawingml/2006/main">
            <a: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Harishram B</a:t>
            </a:r>
          </a:p>
          <a:p xmlns:a="http://schemas.openxmlformats.org/drawingml/2006/main">
            <a:pPr>
              <a:defRPr sz="195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Harihara Srinivas 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FE6C3-1D5A-4063-81E4-6BEE6E43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3402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Chennai Institute of Technology</a:t>
            </a:r>
          </a:p>
        </p:txBody>
      </p:sp>
    </p:spTree>
    <p:extLst>
      <p:ext uri="{BB962C8B-B14F-4D97-AF65-F5344CB8AC3E}">
        <p14:creationId xmlns:p14="http://schemas.microsoft.com/office/powerpoint/2010/main" val="21295203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C74C10-D936-4447-91F9-98574E29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monitoring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FA808-E060-4AB6-8032-93AA2B86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B3677D-4CBA-496B-9B68-BDDBBE1B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6BDE3-AAC7-46D2-9F59-FC64B414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Respiratory observations arrive from different contexts and clocks.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6D49C-B11A-4E87-8598-E79E6DCA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Sparse or stale readings can hide behind a single dashboard score.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56355-4DDD-4C25-84D6-B4FCFF05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Useful review needs visible coverage and patient-specific history.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1215C-A234-443C-9C41-25C00A52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Event-linked data must support claims of clinical prediction.</a:t>
            </a:r>
          </a:p>
        </p:txBody>
      </p:sp>
    </p:spTree>
    <p:extLst>
      <p:ext uri="{BB962C8B-B14F-4D97-AF65-F5344CB8AC3E}">
        <p14:creationId xmlns:p14="http://schemas.microsoft.com/office/powerpoint/2010/main" val="15780196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536A4-C29B-462F-9EB3-EE7FD20B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Healthcare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1DB7E-8380-416E-A588-BA1BFB13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EC321-741F-45AB-8235-80A2EFAA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0F134-4790-4276-9026-909A7383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A reviewer examines available observations and their source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1E0E4-DBFA-4D4B-845F-4EDD51A9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workspace shows history, missingness and descriptive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F79A9D-F431-4072-B40D-F38D90EF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A fictional patient submits symptom check-ins to the local ledger.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0D209-B04F-4008-A6EA-45CE1B70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Reports preserve the selected historical decision and provenance.</a:t>
            </a:r>
          </a:p>
        </p:txBody>
      </p:sp>
    </p:spTree>
    <p:extLst>
      <p:ext uri="{BB962C8B-B14F-4D97-AF65-F5344CB8AC3E}">
        <p14:creationId xmlns:p14="http://schemas.microsoft.com/office/powerpoint/2010/main" val="20519812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8FBFC5-D073-4685-A6C6-7A66E876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Integrated application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10481-2D56-4C91-A0D1-65D33095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B5C35-E71A-4B05-B4C7-1417CD38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C91F8-5B91-4DCC-8708-505CCF6B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6E87B-38AC-467C-8E75-FCFDC79B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2407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React frontend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Workspace and exports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844D2-DE62-400F-BD7B-56D9907D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FEBE9B-A701-4918-A3C5-2EC5C3C3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2407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FastAPI service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Roles and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51861-690E-4620-A9B0-3A91807E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526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98842-5A2E-4327-8F89-C868BB38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2407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SQLite local ledger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Persistent receipts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0FE5E2-7E4D-4BE0-B96C-690CD45B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7E2EB-8633-4735-BBE6-AB88BED5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Observed-state engine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Two clocks, source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426A5-B01D-4165-B304-70B916FD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3387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B42A3C-80E2-4082-AA44-CE09B4C7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0532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Seven-day formula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Projected change points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376E4-9218-42FE-AC4F-CBC1F83A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3387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DEF5"/>
          </a:solidFill>
          <a:ln xmlns:a="http://schemas.openxmlformats.org/drawingml/2006/main" w="9525">
            <a:solidFill>
              <a:srgbClr val="7660B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64E129-7883-4FE3-8102-6049D2B3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0532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Independent engines</a:t>
            </a:r>
          </a:p>
          <a:p xmlns:a="http://schemas.openxmlformats.org/drawingml/2006/main">
            <a:pPr>
              <a:defRPr sz="1725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Simulator and next-day ML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59D2A5-EC05-412A-A3D6-1588C8F8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81250"/>
            <a:ext cx="514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7CB050-AA48-4738-BC37-096CF2D0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514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626167-BB53-4476-9F8C-8C46FCC8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48000"/>
            <a:ext cx="190500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014719-4FB3-4E28-8381-49591C7F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71875"/>
            <a:ext cx="777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2B9B66-324C-48DB-AA7F-8DEBD87C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71875"/>
            <a:ext cx="190500" cy="666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CAA09F-F2F4-4449-8921-BE086A84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71875"/>
            <a:ext cx="190500" cy="666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9B2D3-4D74-4EA1-ACD1-5AFF7BE5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571875"/>
            <a:ext cx="190500" cy="666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660B9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362410-E042-4887-9642-8FAB5200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The API calls each engine independently. Public inputs are fictional.</a:t>
            </a:r>
          </a:p>
        </p:txBody>
      </p:sp>
    </p:spTree>
    <p:extLst>
      <p:ext uri="{BB962C8B-B14F-4D97-AF65-F5344CB8AC3E}">
        <p14:creationId xmlns:p14="http://schemas.microsoft.com/office/powerpoint/2010/main" val="20047912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61240-5F32-492C-A1BE-AE1C8E31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Seven-day formula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84781-9841-48F4-BB16-FAC84DDC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FB152-74A6-4499-B5E9-75FFB5BF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BAA25-ED35-4BFD-9823-F9B3C1A7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Eligible recent history drives robust, bounded trend projections.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BF3E6B-89C8-4DCC-B59C-C3AE8948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Declared weights combine vital changes with recent symptom answers.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52652-F399-4F67-A06D-B6AE3341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display reports seven future dates with 0-100 change points.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EF6F2-DECB-4840-A0A1-32F2D797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Unknown inputs widen the possible range. Predictive accuracy is unestablished.</a:t>
            </a:r>
          </a:p>
        </p:txBody>
      </p:sp>
    </p:spTree>
    <p:extLst>
      <p:ext uri="{BB962C8B-B14F-4D97-AF65-F5344CB8AC3E}">
        <p14:creationId xmlns:p14="http://schemas.microsoft.com/office/powerpoint/2010/main" val="19935759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54BB7-8AD8-49D0-9431-32FE4975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Separate next-day ML experiment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D0BCB-9F9D-4B62-BA86-B0BA96D0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0A61A-D7CD-42EC-AEFF-0055491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183C9-5CF2-4F74-955A-DCA8E56E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Target: next-day simulated recorded SpO2 below 90%.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7384AC-4068-4C91-8BC5-2FB146C7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Histogram gradient boosting uses 102 current, past and static features.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72BCAD-6B7F-4FFA-AD0B-DEA4CD6C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Fictional base profiles: 480 training, 160 validation, 160 held-out test.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AFFAF-35E7-4E39-9D59-F2B41960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validation-selected threshold stays frozen for test evaluation.</a:t>
            </a:r>
          </a:p>
        </p:txBody>
      </p:sp>
    </p:spTree>
    <p:extLst>
      <p:ext uri="{BB962C8B-B14F-4D97-AF65-F5344CB8AC3E}">
        <p14:creationId xmlns:p14="http://schemas.microsoft.com/office/powerpoint/2010/main" val="20641157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26C95-AC9C-4960-ADC2-9C9DB4A1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Synthetic results and their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7BEEC-3B15-466F-A6F1-F7732623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681E5-DDB7-48D3-93D8-41AEB6CB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37F31-1B0D-4448-BBD3-3188CBF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95.25% accuracy on 17,442 evaluable synthetic days.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31FD1-8753-44FB-A03D-9A8EA9D2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87.23% always-no-warning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8505F-AC02-4E29-B4F9-C0842EC1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84.38% precision / 77.11% recall / 84.70% runtime coverage.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C4ADB-D7CD-40C9-A584-C1291423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Newly low-state recall is only 13.48%. Clinical validity remains unestablished.</a:t>
            </a:r>
          </a:p>
        </p:txBody>
      </p:sp>
    </p:spTree>
    <p:extLst>
      <p:ext uri="{BB962C8B-B14F-4D97-AF65-F5344CB8AC3E}">
        <p14:creationId xmlns:p14="http://schemas.microsoft.com/office/powerpoint/2010/main" val="11143709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F4173-CC6C-4C69-A224-9580EB02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Fictional scenario simulation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35C24-5616-4B43-8190-55C19986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7D90C-7DAD-4BF1-A219-2B74DF6F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73CF66-3999-467E-AAAD-FCC69B74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Sixteen scenarios vary declared engineering assumptions.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01621-6143-4FC3-AD4F-008DBE76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Reference and variant runs share keyed exogenous streams.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00023-386F-4CCB-AE87-DD4B25D9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Hash checks guard the frozen generator and parameter package.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991B73-99B1-46E2-88A8-CD58C3D9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API returns observed channels and discards private future labels.</a:t>
            </a:r>
          </a:p>
        </p:txBody>
      </p:sp>
    </p:spTree>
    <p:extLst>
      <p:ext uri="{BB962C8B-B14F-4D97-AF65-F5344CB8AC3E}">
        <p14:creationId xmlns:p14="http://schemas.microsoft.com/office/powerpoint/2010/main" val="19322715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421F4-D64D-47FB-B8EA-2D221682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Public data and security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DDF02-76C2-4343-8229-7882F89A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3E370-F59C-4479-9DD4-0F9729D0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4E8C1-2D22-4CC3-A051-CD360170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public default uses explicitly fictional monitoring observations.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75E13-C4CE-4A2A-8A82-9D0C3EF2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Real-person observations, local databases and secrets stay outside Git.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9B9ED4-C896-472D-B2B7-5D1EA92D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Runtime signing secrets are generated locally and ignored by Git.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AC2594-0DC4-4F69-89F0-98A9D179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dataset source and licence are verified. Artwork rights still need confirmation.</a:t>
            </a:r>
          </a:p>
        </p:txBody>
      </p:sp>
    </p:spTree>
    <p:extLst>
      <p:ext uri="{BB962C8B-B14F-4D97-AF65-F5344CB8AC3E}">
        <p14:creationId xmlns:p14="http://schemas.microsoft.com/office/powerpoint/2010/main" val="3223353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05F203-DD1A-43D1-B640-E5334F69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Implemented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19D3F-88A8-4A67-90B0-E8D5ECDD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5D050-CBB4-4A44-8638-17367E8B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0E357-2FA1-47F7-A3DC-DA3372ED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Frontend, backend, Python engines and portable model run together locally.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26B03-1DC3-45BC-A5B4-3F1875C1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The workspace supports history, coverage, outlook and review workflows.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4DCC3B-9C2F-43DA-8585-39B0529A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PDF summaries and CSV analysis exports complement technical JSON.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6E127-B6BE-4EB7-96E9-9CA87B7D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Software checks verify behaviour and integrity. Clinical validation remains open.</a:t>
            </a:r>
          </a:p>
        </p:txBody>
      </p:sp>
    </p:spTree>
    <p:extLst>
      <p:ext uri="{BB962C8B-B14F-4D97-AF65-F5344CB8AC3E}">
        <p14:creationId xmlns:p14="http://schemas.microsoft.com/office/powerpoint/2010/main" val="12846746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366DE-EC07-453B-BA80-05C6A536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32D4F"/>
                </a:solidFill>
                <a:latin typeface="Arial"/>
                <a:ea typeface="Arial"/>
                <a:cs typeface="Arial"/>
              </a:rPr>
              <a:t>Validation and submission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A3881-EB1D-4790-AFED-D3CCA26B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Pulmira / Digital Twin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2D24E3-FD33-44EE-9591-9F4CCD9B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8617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617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C1CF4-132E-41ED-ADA1-E733D589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Upload the narrated 15-20 minute demo to YouTube as Unlisted.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7B4B6-E722-4E1E-95F8-9DD58B9E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Retain the dataset attribution and confirm inherited artwork rights.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E42AE-81F4-4FF8-BEAF-B8C5E5FF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Acquire event-linked observations with verified timing and surveillance.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1F595-5333-419A-8D06-FCC2A6B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332D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32D4F"/>
                </a:solidFill>
                <a:latin typeface="Arial"/>
                <a:ea typeface="Arial"/>
                <a:cs typeface="Arial"/>
              </a:rPr>
              <a:t>Predeclare a patient-separated study, then assess incident recall and calibration.</a:t>
            </a:r>
          </a:p>
        </p:txBody>
      </p:sp>
    </p:spTree>
    <p:extLst>
      <p:ext uri="{BB962C8B-B14F-4D97-AF65-F5344CB8AC3E}">
        <p14:creationId xmlns:p14="http://schemas.microsoft.com/office/powerpoint/2010/main" val="15167823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2026-10-19T04:34:06.8830000Z</dcterms:created>
  <dcterms:modified xsi:type="dcterms:W3CDTF">2026-10-19T04:34:06.8830000Z</dcterms:modified>
</coreProperties>
</file>